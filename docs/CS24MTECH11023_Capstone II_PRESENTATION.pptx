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  <p:sldMasterId id="214748367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  <p:embeddedFont>
      <p:font typeface="Quattrocento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9500F0-147E-4D33-A6F0-95865FD1A615}">
  <a:tblStyle styleId="{359500F0-147E-4D33-A6F0-95865FD1A6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5B0E68F-5885-4D9E-9EFF-0467A800ECC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827BE30-17C4-42FE-A1BD-F6E2A11F686D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3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5.xml"/><Relationship Id="rId44" Type="http://schemas.openxmlformats.org/officeDocument/2006/relationships/font" Target="fonts/QuattrocentoSans-regular.fntdata"/><Relationship Id="rId21" Type="http://schemas.openxmlformats.org/officeDocument/2006/relationships/slide" Target="slides/slide14.xml"/><Relationship Id="rId43" Type="http://schemas.openxmlformats.org/officeDocument/2006/relationships/font" Target="fonts/Lato-boldItalic.fntdata"/><Relationship Id="rId24" Type="http://schemas.openxmlformats.org/officeDocument/2006/relationships/slide" Target="slides/slide17.xml"/><Relationship Id="rId46" Type="http://schemas.openxmlformats.org/officeDocument/2006/relationships/font" Target="fonts/QuattrocentoSans-italic.fntdata"/><Relationship Id="rId23" Type="http://schemas.openxmlformats.org/officeDocument/2006/relationships/slide" Target="slides/slide16.xml"/><Relationship Id="rId45" Type="http://schemas.openxmlformats.org/officeDocument/2006/relationships/font" Target="fonts/Quattrocento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schemas.openxmlformats.org/officeDocument/2006/relationships/font" Target="fonts/QuattrocentoSans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Roboto-bold.fntdata"/><Relationship Id="rId14" Type="http://schemas.openxmlformats.org/officeDocument/2006/relationships/slide" Target="slides/slide7.xml"/><Relationship Id="rId36" Type="http://schemas.openxmlformats.org/officeDocument/2006/relationships/font" Target="fonts/Roboto-regular.fntdata"/><Relationship Id="rId17" Type="http://schemas.openxmlformats.org/officeDocument/2006/relationships/slide" Target="slides/slide10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9.xml"/><Relationship Id="rId38" Type="http://schemas.openxmlformats.org/officeDocument/2006/relationships/font" Target="fonts/Roboto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463fc0d85_2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e463fc0d85_2_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ID=d924773e-9a16-4d6d-9803-8cb819e99682</a:t>
            </a:r>
            <a:br>
              <a:rPr lang="en"/>
            </a:br>
            <a:r>
              <a:rPr lang="en"/>
              <a:t>Recipe=text_billboard</a:t>
            </a:r>
            <a:br>
              <a:rPr lang="en"/>
            </a:br>
            <a:r>
              <a:rPr lang="en"/>
              <a:t>Type=TextOnly</a:t>
            </a:r>
            <a:br>
              <a:rPr lang="en"/>
            </a:br>
            <a:r>
              <a:rPr lang="en"/>
              <a:t>Variant=0</a:t>
            </a:r>
            <a:br>
              <a:rPr lang="en"/>
            </a:br>
            <a:r>
              <a:rPr lang="en"/>
              <a:t>FamilyID=AccentBoxWalbaum_Zero</a:t>
            </a:r>
            <a:endParaRPr/>
          </a:p>
        </p:txBody>
      </p:sp>
      <p:sp>
        <p:nvSpPr>
          <p:cNvPr id="214" name="Google Shape;214;g3e463fc0d85_2_1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463fc0d85_2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463fc0d85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463fc0d85_2_1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e463fc0d85_2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463fc0d85_2_1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463fc0d85_2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463fc0d85_2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e463fc0d85_2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463fc0d85_2_1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463fc0d85_2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e463fc0d85_2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463fc0d85_2_2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463fc0d85_2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463fc0d85_2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463fc0d85_2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e463fc0d85_2_2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most important section. Show what you've </a:t>
            </a:r>
            <a:r>
              <a:rPr b="0" i="1" lang="en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r>
              <a:rPr b="0" i="0" lang="en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06" name="Google Shape;306;g3e463fc0d85_2_2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463fc0d85_2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e463fc0d85_2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463fc0d85_2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e463fc0d85_2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463fc0d85_2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463fc0d85_2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463fc0d85_2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463fc0d85_2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463fc0d85_2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e463fc0d85_2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463fc0d85_2_2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e463fc0d85_2_2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e463fc0d85_2_2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463fc0d85_2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e463fc0d85_2_2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e463fc0d85_2_2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e463fc0d85_2_2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e463fc0d85_2_2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e463fc0d85_2_2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463fc0d85_2_3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e463fc0d85_2_3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e463fc0d85_2_3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463fc0d85_2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e463fc0d85_2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463fc0d85_2_3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e463fc0d85_2_3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e463fc0d85_2_3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463fc0d85_2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e463fc0d85_2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463fc0d85_2_3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e463fc0d85_2_3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e463fc0d85_2_3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e463fc0d85_2_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e463fc0d85_2_3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lang="en"/>
            </a:br>
            <a:endParaRPr/>
          </a:p>
        </p:txBody>
      </p:sp>
      <p:sp>
        <p:nvSpPr>
          <p:cNvPr id="419" name="Google Shape;419;g3e463fc0d85_2_3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463fc0d85_2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e463fc0d85_2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463fc0d85_2_3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e463fc0d85_2_3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e463fc0d85_2_3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e463fc0d85_2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e463fc0d85_2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463fc0d85_2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e463fc0d85_2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e463fc0d85_2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e463fc0d85_2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e463fc0d85_2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e463fc0d85_2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1146571" y="1104932"/>
            <a:ext cx="6858000" cy="225558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1351026" y="1248156"/>
            <a:ext cx="6439662" cy="1632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venir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865376" y="3106674"/>
            <a:ext cx="5417820" cy="51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836676" y="411480"/>
            <a:ext cx="7626096" cy="884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6676" y="1858518"/>
            <a:ext cx="762609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2638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0537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pictures">
  <p:cSld name="Title and Content with picture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813048" y="809244"/>
            <a:ext cx="4704588" cy="115214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venir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813048" y="2516886"/>
            <a:ext cx="4704588" cy="21191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789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31236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0537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6"/>
          <p:cNvSpPr/>
          <p:nvPr/>
        </p:nvSpPr>
        <p:spPr>
          <a:xfrm rot="5400000">
            <a:off x="3988470" y="272542"/>
            <a:ext cx="54864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3824450" y="2201656"/>
            <a:ext cx="466344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>
            <p:ph idx="2" type="pic"/>
          </p:nvPr>
        </p:nvSpPr>
        <p:spPr>
          <a:xfrm>
            <a:off x="342900" y="452628"/>
            <a:ext cx="3038094" cy="41833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2 pictures">
  <p:cSld name="Title and Content with 2 picture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9486" y="809244"/>
            <a:ext cx="4704588" cy="115214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venir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9486" y="2516886"/>
            <a:ext cx="4704588" cy="21191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4203954" y="4767263"/>
            <a:ext cx="96012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7"/>
          <p:cNvSpPr/>
          <p:nvPr/>
        </p:nvSpPr>
        <p:spPr>
          <a:xfrm rot="5400000">
            <a:off x="637794" y="274320"/>
            <a:ext cx="54864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>
            <p:ph idx="2" type="pic"/>
          </p:nvPr>
        </p:nvSpPr>
        <p:spPr>
          <a:xfrm>
            <a:off x="5760720" y="3264408"/>
            <a:ext cx="3380994" cy="1879092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7"/>
          <p:cNvSpPr/>
          <p:nvPr>
            <p:ph idx="3" type="pic"/>
          </p:nvPr>
        </p:nvSpPr>
        <p:spPr>
          <a:xfrm>
            <a:off x="5760720" y="0"/>
            <a:ext cx="3380994" cy="3092958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7"/>
          <p:cNvSpPr/>
          <p:nvPr/>
        </p:nvSpPr>
        <p:spPr>
          <a:xfrm>
            <a:off x="466344" y="2201656"/>
            <a:ext cx="466344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499390" y="1150144"/>
            <a:ext cx="8187797" cy="284321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 txBox="1"/>
          <p:nvPr>
            <p:ph type="title"/>
          </p:nvPr>
        </p:nvSpPr>
        <p:spPr>
          <a:xfrm>
            <a:off x="809244" y="1453896"/>
            <a:ext cx="5260086" cy="2242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venir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6460236" y="1453896"/>
            <a:ext cx="2016252" cy="22425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18"/>
          <p:cNvSpPr/>
          <p:nvPr/>
        </p:nvSpPr>
        <p:spPr>
          <a:xfrm>
            <a:off x="456813" y="2223806"/>
            <a:ext cx="96012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 rot="5400000">
            <a:off x="5520404" y="2568321"/>
            <a:ext cx="1577340" cy="685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418338" y="480060"/>
            <a:ext cx="8167878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venir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/>
          <p:nvPr/>
        </p:nvSpPr>
        <p:spPr>
          <a:xfrm>
            <a:off x="418658" y="3736066"/>
            <a:ext cx="8351217" cy="617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374126" y="3838936"/>
            <a:ext cx="109728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630936" y="3826764"/>
            <a:ext cx="7955280" cy="438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idx="10" type="dt"/>
          </p:nvPr>
        </p:nvSpPr>
        <p:spPr>
          <a:xfrm>
            <a:off x="6789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640537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/>
          <p:nvPr>
            <p:ph idx="2" type="pic"/>
          </p:nvPr>
        </p:nvSpPr>
        <p:spPr>
          <a:xfrm>
            <a:off x="4066794" y="2098548"/>
            <a:ext cx="1097280" cy="1110996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3" type="pic"/>
          </p:nvPr>
        </p:nvSpPr>
        <p:spPr>
          <a:xfrm>
            <a:off x="432054" y="2098548"/>
            <a:ext cx="1097280" cy="1110996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4" type="pic"/>
          </p:nvPr>
        </p:nvSpPr>
        <p:spPr>
          <a:xfrm>
            <a:off x="5884164" y="2098548"/>
            <a:ext cx="1097280" cy="1110996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0"/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0"/>
          <p:cNvSpPr txBox="1"/>
          <p:nvPr>
            <p:ph type="title"/>
          </p:nvPr>
        </p:nvSpPr>
        <p:spPr>
          <a:xfrm>
            <a:off x="836676" y="411480"/>
            <a:ext cx="7626096" cy="884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0"/>
          <p:cNvSpPr/>
          <p:nvPr>
            <p:ph idx="5" type="pic"/>
          </p:nvPr>
        </p:nvSpPr>
        <p:spPr>
          <a:xfrm>
            <a:off x="2249424" y="2098548"/>
            <a:ext cx="1097280" cy="1110996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6" type="pic"/>
          </p:nvPr>
        </p:nvSpPr>
        <p:spPr>
          <a:xfrm>
            <a:off x="7701534" y="2098548"/>
            <a:ext cx="1097280" cy="1110996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6789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4073652" y="3367278"/>
            <a:ext cx="1096566" cy="4869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2385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7" type="body"/>
          </p:nvPr>
        </p:nvSpPr>
        <p:spPr>
          <a:xfrm>
            <a:off x="5884164" y="3367278"/>
            <a:ext cx="1096566" cy="4869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2385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8" type="body"/>
          </p:nvPr>
        </p:nvSpPr>
        <p:spPr>
          <a:xfrm>
            <a:off x="7701534" y="3367278"/>
            <a:ext cx="1096566" cy="4869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2385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9" type="body"/>
          </p:nvPr>
        </p:nvSpPr>
        <p:spPr>
          <a:xfrm>
            <a:off x="445770" y="3367278"/>
            <a:ext cx="1096566" cy="4869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2385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3" type="body"/>
          </p:nvPr>
        </p:nvSpPr>
        <p:spPr>
          <a:xfrm>
            <a:off x="2256282" y="3367278"/>
            <a:ext cx="1096566" cy="4869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32385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1"/>
          <p:cNvSpPr txBox="1"/>
          <p:nvPr>
            <p:ph type="title"/>
          </p:nvPr>
        </p:nvSpPr>
        <p:spPr>
          <a:xfrm>
            <a:off x="836676" y="411480"/>
            <a:ext cx="7626096" cy="884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836676" y="1779488"/>
            <a:ext cx="370332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 cap="none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1" name="Google Shape;121;p21"/>
          <p:cNvSpPr txBox="1"/>
          <p:nvPr>
            <p:ph idx="2" type="body"/>
          </p:nvPr>
        </p:nvSpPr>
        <p:spPr>
          <a:xfrm>
            <a:off x="836676" y="2402766"/>
            <a:ext cx="3703320" cy="22263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3" type="body"/>
          </p:nvPr>
        </p:nvSpPr>
        <p:spPr>
          <a:xfrm>
            <a:off x="4759452" y="1779488"/>
            <a:ext cx="370332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 cap="none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3" name="Google Shape;123;p21"/>
          <p:cNvSpPr txBox="1"/>
          <p:nvPr>
            <p:ph idx="4" type="body"/>
          </p:nvPr>
        </p:nvSpPr>
        <p:spPr>
          <a:xfrm>
            <a:off x="4759452" y="2402765"/>
            <a:ext cx="3703320" cy="22263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789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0537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3 column">
  <p:cSld name="Comparison 3 colum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2"/>
          <p:cNvSpPr txBox="1"/>
          <p:nvPr>
            <p:ph type="title"/>
          </p:nvPr>
        </p:nvSpPr>
        <p:spPr>
          <a:xfrm>
            <a:off x="836676" y="411480"/>
            <a:ext cx="7626096" cy="884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432054" y="1779488"/>
            <a:ext cx="246888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 cap="none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2" name="Google Shape;132;p22"/>
          <p:cNvSpPr txBox="1"/>
          <p:nvPr>
            <p:ph idx="2" type="body"/>
          </p:nvPr>
        </p:nvSpPr>
        <p:spPr>
          <a:xfrm>
            <a:off x="432054" y="2402766"/>
            <a:ext cx="2468880" cy="22263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3" type="body"/>
          </p:nvPr>
        </p:nvSpPr>
        <p:spPr>
          <a:xfrm>
            <a:off x="3380994" y="1779488"/>
            <a:ext cx="246888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 cap="none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4" name="Google Shape;134;p22"/>
          <p:cNvSpPr txBox="1"/>
          <p:nvPr>
            <p:ph idx="4" type="body"/>
          </p:nvPr>
        </p:nvSpPr>
        <p:spPr>
          <a:xfrm>
            <a:off x="3380994" y="2402765"/>
            <a:ext cx="2468880" cy="22263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0" type="dt"/>
          </p:nvPr>
        </p:nvSpPr>
        <p:spPr>
          <a:xfrm>
            <a:off x="6789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640537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2"/>
          <p:cNvSpPr txBox="1"/>
          <p:nvPr>
            <p:ph idx="5" type="body"/>
          </p:nvPr>
        </p:nvSpPr>
        <p:spPr>
          <a:xfrm>
            <a:off x="6329934" y="1779488"/>
            <a:ext cx="246888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 cap="none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9" name="Google Shape;139;p22"/>
          <p:cNvSpPr txBox="1"/>
          <p:nvPr>
            <p:ph idx="6" type="body"/>
          </p:nvPr>
        </p:nvSpPr>
        <p:spPr>
          <a:xfrm>
            <a:off x="6329934" y="2402765"/>
            <a:ext cx="2468880" cy="22263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3 pictures">
  <p:cSld name="Title and Content with 3 picture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/>
          <p:nvPr/>
        </p:nvSpPr>
        <p:spPr>
          <a:xfrm>
            <a:off x="307181" y="475214"/>
            <a:ext cx="3695560" cy="412194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630936" y="733806"/>
            <a:ext cx="3044952" cy="829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venir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630936" y="1769364"/>
            <a:ext cx="3044952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3"/>
          <p:cNvSpPr/>
          <p:nvPr>
            <p:ph idx="2" type="pic"/>
          </p:nvPr>
        </p:nvSpPr>
        <p:spPr>
          <a:xfrm>
            <a:off x="6720840" y="425196"/>
            <a:ext cx="2153412" cy="1755648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3"/>
          <p:cNvSpPr/>
          <p:nvPr>
            <p:ph idx="3" type="pic"/>
          </p:nvPr>
        </p:nvSpPr>
        <p:spPr>
          <a:xfrm>
            <a:off x="4382262" y="425196"/>
            <a:ext cx="2153412" cy="1755648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3"/>
          <p:cNvSpPr/>
          <p:nvPr/>
        </p:nvSpPr>
        <p:spPr>
          <a:xfrm>
            <a:off x="259175" y="87782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658094" y="1591056"/>
            <a:ext cx="2968987" cy="685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3"/>
          <p:cNvSpPr/>
          <p:nvPr>
            <p:ph idx="4" type="pic"/>
          </p:nvPr>
        </p:nvSpPr>
        <p:spPr>
          <a:xfrm>
            <a:off x="4382262" y="2331720"/>
            <a:ext cx="4491990" cy="2290572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23"/>
          <p:cNvSpPr txBox="1"/>
          <p:nvPr>
            <p:ph idx="10" type="dt"/>
          </p:nvPr>
        </p:nvSpPr>
        <p:spPr>
          <a:xfrm>
            <a:off x="6789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640537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4 pictures">
  <p:cSld name="Title and Content with 4 picture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/>
          <p:nvPr/>
        </p:nvSpPr>
        <p:spPr>
          <a:xfrm>
            <a:off x="5493258" y="473202"/>
            <a:ext cx="3387852" cy="412194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4"/>
          <p:cNvSpPr txBox="1"/>
          <p:nvPr>
            <p:ph type="title"/>
          </p:nvPr>
        </p:nvSpPr>
        <p:spPr>
          <a:xfrm>
            <a:off x="5829300" y="733806"/>
            <a:ext cx="2791206" cy="829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venir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4"/>
          <p:cNvSpPr/>
          <p:nvPr>
            <p:ph idx="2" type="pic"/>
          </p:nvPr>
        </p:nvSpPr>
        <p:spPr>
          <a:xfrm>
            <a:off x="2825496" y="473202"/>
            <a:ext cx="2434590" cy="2016252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24"/>
          <p:cNvSpPr/>
          <p:nvPr>
            <p:ph idx="3" type="pic"/>
          </p:nvPr>
        </p:nvSpPr>
        <p:spPr>
          <a:xfrm>
            <a:off x="308610" y="473202"/>
            <a:ext cx="2434590" cy="2016252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4"/>
          <p:cNvSpPr/>
          <p:nvPr/>
        </p:nvSpPr>
        <p:spPr>
          <a:xfrm>
            <a:off x="5445252" y="884682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4"/>
          <p:cNvSpPr/>
          <p:nvPr>
            <p:ph idx="4" type="pic"/>
          </p:nvPr>
        </p:nvSpPr>
        <p:spPr>
          <a:xfrm>
            <a:off x="308610" y="2578608"/>
            <a:ext cx="2434590" cy="2016252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24"/>
          <p:cNvSpPr txBox="1"/>
          <p:nvPr>
            <p:ph idx="10" type="dt"/>
          </p:nvPr>
        </p:nvSpPr>
        <p:spPr>
          <a:xfrm>
            <a:off x="6789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640537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5844162" y="1639062"/>
            <a:ext cx="2762390" cy="685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4"/>
          <p:cNvSpPr/>
          <p:nvPr>
            <p:ph idx="5" type="pic"/>
          </p:nvPr>
        </p:nvSpPr>
        <p:spPr>
          <a:xfrm>
            <a:off x="2825496" y="2578608"/>
            <a:ext cx="2434590" cy="2016252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5829300" y="2324862"/>
            <a:ext cx="2790825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6" type="body"/>
          </p:nvPr>
        </p:nvSpPr>
        <p:spPr>
          <a:xfrm>
            <a:off x="5829300" y="3161538"/>
            <a:ext cx="2790825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6" name="Google Shape;166;p24"/>
          <p:cNvSpPr txBox="1"/>
          <p:nvPr>
            <p:ph idx="7" type="body"/>
          </p:nvPr>
        </p:nvSpPr>
        <p:spPr>
          <a:xfrm>
            <a:off x="5829300" y="3991356"/>
            <a:ext cx="2790825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7" name="Google Shape;167;p24"/>
          <p:cNvSpPr/>
          <p:nvPr>
            <p:ph idx="8" type="pic"/>
          </p:nvPr>
        </p:nvSpPr>
        <p:spPr>
          <a:xfrm>
            <a:off x="5829300" y="1899666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4"/>
          <p:cNvSpPr/>
          <p:nvPr>
            <p:ph idx="9" type="pic"/>
          </p:nvPr>
        </p:nvSpPr>
        <p:spPr>
          <a:xfrm>
            <a:off x="5829300" y="2722626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4"/>
          <p:cNvSpPr/>
          <p:nvPr>
            <p:ph idx="13" type="pic"/>
          </p:nvPr>
        </p:nvSpPr>
        <p:spPr>
          <a:xfrm>
            <a:off x="5829300" y="3566160"/>
            <a:ext cx="342900" cy="34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/>
          <p:nvPr/>
        </p:nvSpPr>
        <p:spPr>
          <a:xfrm>
            <a:off x="499390" y="1150144"/>
            <a:ext cx="8187797" cy="284321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456813" y="2228849"/>
            <a:ext cx="96012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 txBox="1"/>
          <p:nvPr>
            <p:ph type="title"/>
          </p:nvPr>
        </p:nvSpPr>
        <p:spPr>
          <a:xfrm>
            <a:off x="809244" y="1453896"/>
            <a:ext cx="7632954" cy="2242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venir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/>
          <p:nvPr/>
        </p:nvSpPr>
        <p:spPr>
          <a:xfrm>
            <a:off x="418657" y="871525"/>
            <a:ext cx="2805555" cy="348250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74126" y="1213781"/>
            <a:ext cx="109728" cy="617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>
            <p:ph type="title"/>
          </p:nvPr>
        </p:nvSpPr>
        <p:spPr>
          <a:xfrm>
            <a:off x="651510" y="1282446"/>
            <a:ext cx="2324862" cy="12824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723894" y="1282446"/>
            <a:ext cx="5047488" cy="30723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2385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86" name="Google Shape;186;p27"/>
          <p:cNvSpPr txBox="1"/>
          <p:nvPr>
            <p:ph idx="2" type="body"/>
          </p:nvPr>
        </p:nvSpPr>
        <p:spPr>
          <a:xfrm>
            <a:off x="651510" y="2571750"/>
            <a:ext cx="2324862" cy="15499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7" name="Google Shape;187;p27"/>
          <p:cNvSpPr txBox="1"/>
          <p:nvPr>
            <p:ph idx="10" type="dt"/>
          </p:nvPr>
        </p:nvSpPr>
        <p:spPr>
          <a:xfrm>
            <a:off x="65151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/>
          <p:nvPr/>
        </p:nvSpPr>
        <p:spPr>
          <a:xfrm>
            <a:off x="418657" y="871525"/>
            <a:ext cx="2805555" cy="348250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374126" y="1213781"/>
            <a:ext cx="109728" cy="617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>
            <a:off x="651510" y="1282446"/>
            <a:ext cx="2324862" cy="12824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venir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28"/>
          <p:cNvSpPr/>
          <p:nvPr>
            <p:ph idx="2" type="pic"/>
          </p:nvPr>
        </p:nvSpPr>
        <p:spPr>
          <a:xfrm>
            <a:off x="3723894" y="870966"/>
            <a:ext cx="5047488" cy="3483864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8"/>
          <p:cNvSpPr txBox="1"/>
          <p:nvPr>
            <p:ph idx="1" type="body"/>
          </p:nvPr>
        </p:nvSpPr>
        <p:spPr>
          <a:xfrm>
            <a:off x="651510" y="2578608"/>
            <a:ext cx="2324862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6" name="Google Shape;196;p28"/>
          <p:cNvSpPr txBox="1"/>
          <p:nvPr>
            <p:ph idx="10" type="dt"/>
          </p:nvPr>
        </p:nvSpPr>
        <p:spPr>
          <a:xfrm>
            <a:off x="65151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(g3e4549a44a7_29_0)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836676" y="1858518"/>
            <a:ext cx="7626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2" name="Google Shape;202;p29"/>
          <p:cNvSpPr txBox="1"/>
          <p:nvPr>
            <p:ph idx="10" type="dt"/>
          </p:nvPr>
        </p:nvSpPr>
        <p:spPr>
          <a:xfrm>
            <a:off x="826389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3" name="Google Shape;203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p29"/>
          <p:cNvSpPr txBox="1"/>
          <p:nvPr>
            <p:ph idx="12" type="sldNum"/>
          </p:nvPr>
        </p:nvSpPr>
        <p:spPr>
          <a:xfrm>
            <a:off x="640537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 (g3e4549a44a7_37_0)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836676" y="1858518"/>
            <a:ext cx="7626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8" name="Google Shape;208;p30"/>
          <p:cNvSpPr txBox="1"/>
          <p:nvPr>
            <p:ph idx="10" type="dt"/>
          </p:nvPr>
        </p:nvSpPr>
        <p:spPr>
          <a:xfrm>
            <a:off x="826389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9" name="Google Shape;209;p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0" name="Google Shape;210;p30"/>
          <p:cNvSpPr txBox="1"/>
          <p:nvPr>
            <p:ph idx="12" type="sldNum"/>
          </p:nvPr>
        </p:nvSpPr>
        <p:spPr>
          <a:xfrm>
            <a:off x="640537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venir"/>
              <a:buNone/>
              <a:defRPr b="0" i="0" sz="33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23850" lvl="2" marL="13716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users.ugent.be/~jvdrhoof/dataset-4g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jDOs23SZ2KiQwuqmxZDI9BIrOOp9ca3I/view" TargetMode="External"/><Relationship Id="rId4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ctrTitle"/>
          </p:nvPr>
        </p:nvSpPr>
        <p:spPr>
          <a:xfrm>
            <a:off x="1351026" y="1248156"/>
            <a:ext cx="6439662" cy="16322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 sz="3000"/>
              <a:t>Analyzing the Impact of Transport Layer Protocols on QoE in bilateral Teleoperation</a:t>
            </a:r>
            <a:br>
              <a:rPr lang="en"/>
            </a:br>
            <a:r>
              <a:rPr lang="en" sz="1800">
                <a:highlight>
                  <a:srgbClr val="FFFF00"/>
                </a:highlight>
              </a:rPr>
              <a:t>Capstone II </a:t>
            </a:r>
            <a:endParaRPr/>
          </a:p>
        </p:txBody>
      </p:sp>
      <p:sp>
        <p:nvSpPr>
          <p:cNvPr id="217" name="Google Shape;217;p31"/>
          <p:cNvSpPr txBox="1"/>
          <p:nvPr>
            <p:ph idx="1" type="subTitle"/>
          </p:nvPr>
        </p:nvSpPr>
        <p:spPr>
          <a:xfrm>
            <a:off x="1865376" y="3106674"/>
            <a:ext cx="5417820" cy="51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"/>
              <a:t>Chalasani Vineeth ,CS24MTECH11023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"/>
              <a:t>Guide: Prof. Bheemarjuna Reddy Tamma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3600">
                <a:latin typeface="Roboto"/>
                <a:ea typeface="Roboto"/>
                <a:cs typeface="Roboto"/>
                <a:sym typeface="Roboto"/>
              </a:rPr>
              <a:t>Introduction to Teleoperation</a:t>
            </a:r>
            <a:endParaRPr/>
          </a:p>
        </p:txBody>
      </p:sp>
      <p:sp>
        <p:nvSpPr>
          <p:cNvPr id="223" name="Google Shape;223;p32"/>
          <p:cNvSpPr txBox="1"/>
          <p:nvPr>
            <p:ph idx="1" type="body"/>
          </p:nvPr>
        </p:nvSpPr>
        <p:spPr>
          <a:xfrm>
            <a:off x="501375" y="1778075"/>
            <a:ext cx="4419000" cy="277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Teleoperation:</a:t>
            </a:r>
            <a:r>
              <a:rPr lang="en" sz="15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Controlling a machine from a distance. You are here, the robot is there.</a:t>
            </a:r>
            <a:endParaRPr sz="15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Telepresence:</a:t>
            </a:r>
            <a:r>
              <a:rPr lang="en" sz="15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Feeling like you are actually at the remote location, even though you are miles away.</a:t>
            </a:r>
            <a:endParaRPr sz="15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" sz="1150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it allows us to do dangerous jobs safely without being there physically.</a:t>
            </a:r>
            <a:endParaRPr sz="13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224" name="Google Shape;2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7500" y="1943771"/>
            <a:ext cx="3187749" cy="2125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190500" rtl="0" algn="l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50">
                <a:latin typeface="Arial"/>
                <a:ea typeface="Arial"/>
                <a:cs typeface="Arial"/>
                <a:sym typeface="Arial"/>
              </a:rPr>
              <a:t>What is Bilateral Teleoperation?</a:t>
            </a:r>
            <a:endParaRPr/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836676" y="1858518"/>
            <a:ext cx="762609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Definition:</a:t>
            </a:r>
            <a:r>
              <a:rPr lang="en" sz="1350"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Operating a complex system from a significant distance using a sensor-actuator feedback loop.</a:t>
            </a:r>
            <a:endParaRPr sz="1350"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Bilateral Mechanism:</a:t>
            </a:r>
            <a:endParaRPr b="1" sz="1350"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Lato"/>
              <a:buChar char="●"/>
            </a:pPr>
            <a:r>
              <a:rPr b="1" lang="en" sz="1350"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Forward Link:</a:t>
            </a:r>
            <a:r>
              <a:rPr lang="en" sz="1350"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Operator sends motion/force commands to the remote robot.</a:t>
            </a:r>
            <a:endParaRPr sz="1350"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31432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Lato"/>
              <a:buChar char="●"/>
            </a:pPr>
            <a:r>
              <a:rPr b="1" lang="en" sz="1350"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Reverse Link:</a:t>
            </a:r>
            <a:r>
              <a:rPr lang="en" sz="1350"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Robot sends visual, state, and haptic feedback back to the operator.</a:t>
            </a:r>
            <a:endParaRPr sz="1350"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60000"/>
              </a:lnSpc>
              <a:spcBef>
                <a:spcPts val="1200"/>
              </a:spcBef>
              <a:spcAft>
                <a:spcPts val="900"/>
              </a:spcAft>
              <a:buNone/>
            </a:pPr>
            <a:r>
              <a:rPr b="1" lang="en" sz="1350"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Use Cases:</a:t>
            </a:r>
            <a:r>
              <a:rPr lang="en" sz="1350"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Telesurgery, Space exploration, Hazardous environments, and Rescue robotics.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31" name="Google Shape;231;p33"/>
          <p:cNvSpPr txBox="1"/>
          <p:nvPr>
            <p:ph idx="12" type="sldNum"/>
          </p:nvPr>
        </p:nvSpPr>
        <p:spPr>
          <a:xfrm>
            <a:off x="640537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The Challenge of Latency &amp; Protocol Choice</a:t>
            </a:r>
            <a:endParaRPr sz="4400">
              <a:highlight>
                <a:schemeClr val="lt1"/>
              </a:highlight>
            </a:endParaRPr>
          </a:p>
        </p:txBody>
      </p:sp>
      <p:sp>
        <p:nvSpPr>
          <p:cNvPr id="237" name="Google Shape;237;p34"/>
          <p:cNvSpPr txBox="1"/>
          <p:nvPr>
            <p:ph idx="1" type="body"/>
          </p:nvPr>
        </p:nvSpPr>
        <p:spPr>
          <a:xfrm>
            <a:off x="836676" y="1858518"/>
            <a:ext cx="762609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Why Low Latency is Critical:</a:t>
            </a:r>
            <a:endParaRPr sz="13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High latency disrupts the operator's perception and control loop, leading to "move-and-wait" behavior.</a:t>
            </a:r>
            <a:endParaRPr sz="13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Delays cause motion sickness in immersive setups (VR/AR) and reduce task precision.</a:t>
            </a:r>
            <a:endParaRPr sz="13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The Role of Transport Layer Protocols:</a:t>
            </a:r>
            <a:endParaRPr sz="13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Networks are imperfect (jitter, packet loss, bandwidth fluctuations).</a:t>
            </a:r>
            <a:endParaRPr sz="13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TCP (Transmission Control Protocol): Reliable, ordered delivery, but introduces delays due to retransmissions and congestion control</a:t>
            </a:r>
            <a:endParaRPr sz="13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UDP (User Datagram Protocol): Fast, low overhead, no retransmissions. Prone to packet loss but prevents old, stale data from delaying new data.</a:t>
            </a:r>
            <a:endParaRPr sz="13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lang="en" sz="13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To determine which protocol offers an optimal balance for a seamless Quality of Experience (QoE).</a:t>
            </a:r>
            <a:endParaRPr sz="24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244" name="Google Shape;244;p35"/>
          <p:cNvSpPr txBox="1"/>
          <p:nvPr>
            <p:ph idx="12" type="sldNum"/>
          </p:nvPr>
        </p:nvSpPr>
        <p:spPr>
          <a:xfrm>
            <a:off x="640537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ptop vector, Electronic device filled icon editable stroke (Provided by Getty Images)" id="245" name="Google Shape;24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425" y="1976800"/>
            <a:ext cx="984023" cy="98402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5"/>
          <p:cNvSpPr txBox="1"/>
          <p:nvPr/>
        </p:nvSpPr>
        <p:spPr>
          <a:xfrm>
            <a:off x="-46213" y="2960825"/>
            <a:ext cx="357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NVIDIA Isaac Sim (GPU)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47" name="Google Shape;247;p35"/>
          <p:cNvSpPr txBox="1"/>
          <p:nvPr/>
        </p:nvSpPr>
        <p:spPr>
          <a:xfrm>
            <a:off x="3824100" y="2793050"/>
            <a:ext cx="201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Switch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48" name="Google Shape;248;p35"/>
          <p:cNvSpPr txBox="1"/>
          <p:nvPr/>
        </p:nvSpPr>
        <p:spPr>
          <a:xfrm>
            <a:off x="5584200" y="2960825"/>
            <a:ext cx="352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Unity engine (Ubuntu Machine)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49" name="Google Shape;249;p35"/>
          <p:cNvSpPr txBox="1"/>
          <p:nvPr/>
        </p:nvSpPr>
        <p:spPr>
          <a:xfrm>
            <a:off x="688035" y="3330125"/>
            <a:ext cx="21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Server: Robot arm simulator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50" name="Google Shape;250;p35"/>
          <p:cNvSpPr txBox="1"/>
          <p:nvPr/>
        </p:nvSpPr>
        <p:spPr>
          <a:xfrm>
            <a:off x="5901740" y="3330125"/>
            <a:ext cx="288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Client: DT version of Isaac Simulator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descr="23634757 (Provided by Getty Images)" id="251" name="Google Shape;25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8063" y="2144587"/>
            <a:ext cx="1227377" cy="648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 vector, Electronic device filled icon editable stroke (Provided by Getty Images)" id="252" name="Google Shape;25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3938" y="1976800"/>
            <a:ext cx="984023" cy="9840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35"/>
          <p:cNvCxnSpPr>
            <a:stCxn id="245" idx="3"/>
            <a:endCxn id="251" idx="1"/>
          </p:cNvCxnSpPr>
          <p:nvPr/>
        </p:nvCxnSpPr>
        <p:spPr>
          <a:xfrm>
            <a:off x="2235448" y="2468812"/>
            <a:ext cx="16326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35"/>
          <p:cNvCxnSpPr>
            <a:stCxn id="251" idx="3"/>
            <a:endCxn id="252" idx="1"/>
          </p:cNvCxnSpPr>
          <p:nvPr/>
        </p:nvCxnSpPr>
        <p:spPr>
          <a:xfrm>
            <a:off x="5095439" y="2468813"/>
            <a:ext cx="1758600" cy="6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35"/>
          <p:cNvSpPr txBox="1"/>
          <p:nvPr/>
        </p:nvSpPr>
        <p:spPr>
          <a:xfrm>
            <a:off x="2375725" y="2100100"/>
            <a:ext cx="133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</a:rPr>
              <a:t>LAN as medium</a:t>
            </a:r>
            <a:endParaRPr sz="1200">
              <a:solidFill>
                <a:srgbClr val="999999"/>
              </a:solidFill>
            </a:endParaRPr>
          </a:p>
        </p:txBody>
      </p:sp>
      <p:sp>
        <p:nvSpPr>
          <p:cNvPr id="256" name="Google Shape;256;p35"/>
          <p:cNvSpPr txBox="1"/>
          <p:nvPr/>
        </p:nvSpPr>
        <p:spPr>
          <a:xfrm>
            <a:off x="5306900" y="2100100"/>
            <a:ext cx="133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</a:rPr>
              <a:t>LAN as medium</a:t>
            </a:r>
            <a:endParaRPr sz="12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Flow Diagram</a:t>
            </a:r>
            <a:endParaRPr/>
          </a:p>
        </p:txBody>
      </p:sp>
      <p:sp>
        <p:nvSpPr>
          <p:cNvPr id="263" name="Google Shape;263;p36"/>
          <p:cNvSpPr txBox="1"/>
          <p:nvPr>
            <p:ph idx="12" type="sldNum"/>
          </p:nvPr>
        </p:nvSpPr>
        <p:spPr>
          <a:xfrm>
            <a:off x="640537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aptop vector, Electronic device filled icon editable stroke (Provided by Getty Images)" id="264" name="Google Shape;26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675" y="2196600"/>
            <a:ext cx="984023" cy="98402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6"/>
          <p:cNvSpPr txBox="1"/>
          <p:nvPr/>
        </p:nvSpPr>
        <p:spPr>
          <a:xfrm>
            <a:off x="273298" y="3330125"/>
            <a:ext cx="21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Server: Robot arm simulator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5989865" y="3330125"/>
            <a:ext cx="288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Client: DT version of Isaac Simulator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descr="Laptop vector, Electronic device filled icon editable stroke (Provided by Getty Images)" id="267" name="Google Shape;26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2063" y="2251550"/>
            <a:ext cx="984023" cy="9840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36"/>
          <p:cNvCxnSpPr/>
          <p:nvPr/>
        </p:nvCxnSpPr>
        <p:spPr>
          <a:xfrm>
            <a:off x="1991450" y="2367325"/>
            <a:ext cx="48579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36"/>
          <p:cNvCxnSpPr/>
          <p:nvPr/>
        </p:nvCxnSpPr>
        <p:spPr>
          <a:xfrm rot="10800000">
            <a:off x="2002575" y="2444350"/>
            <a:ext cx="4769700" cy="219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36"/>
          <p:cNvCxnSpPr/>
          <p:nvPr/>
        </p:nvCxnSpPr>
        <p:spPr>
          <a:xfrm rot="10800000">
            <a:off x="1952438" y="2798538"/>
            <a:ext cx="47697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36"/>
          <p:cNvCxnSpPr/>
          <p:nvPr/>
        </p:nvCxnSpPr>
        <p:spPr>
          <a:xfrm>
            <a:off x="1952438" y="2887238"/>
            <a:ext cx="4857900" cy="219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2" name="Google Shape;272;p36"/>
          <p:cNvSpPr txBox="1"/>
          <p:nvPr/>
        </p:nvSpPr>
        <p:spPr>
          <a:xfrm>
            <a:off x="2788626" y="2019925"/>
            <a:ext cx="340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Flow 1: State Packets from Robot simulator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73" name="Google Shape;273;p36"/>
          <p:cNvSpPr txBox="1"/>
          <p:nvPr/>
        </p:nvSpPr>
        <p:spPr>
          <a:xfrm>
            <a:off x="2788626" y="2492100"/>
            <a:ext cx="340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Flow 2: Control Commands from DT</a:t>
            </a:r>
            <a:endParaRPr sz="1200">
              <a:solidFill>
                <a:srgbClr val="000000"/>
              </a:solidFill>
            </a:endParaRPr>
          </a:p>
        </p:txBody>
      </p:sp>
      <p:cxnSp>
        <p:nvCxnSpPr>
          <p:cNvPr id="274" name="Google Shape;274;p36"/>
          <p:cNvCxnSpPr/>
          <p:nvPr/>
        </p:nvCxnSpPr>
        <p:spPr>
          <a:xfrm flipH="1" rot="10800000">
            <a:off x="6849200" y="4125675"/>
            <a:ext cx="10332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36"/>
          <p:cNvCxnSpPr/>
          <p:nvPr/>
        </p:nvCxnSpPr>
        <p:spPr>
          <a:xfrm flipH="1" rot="10800000">
            <a:off x="6849200" y="4333025"/>
            <a:ext cx="1033200" cy="111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36"/>
          <p:cNvSpPr txBox="1"/>
          <p:nvPr/>
        </p:nvSpPr>
        <p:spPr>
          <a:xfrm>
            <a:off x="4063571" y="3946575"/>
            <a:ext cx="340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Flow of Packets in all the protocols</a:t>
            </a:r>
            <a:endParaRPr sz="1000">
              <a:solidFill>
                <a:srgbClr val="000000"/>
              </a:solidFill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3865886" y="4150790"/>
            <a:ext cx="340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06666"/>
                </a:solidFill>
              </a:rPr>
              <a:t>Acks in case of TCP as underline Protocol</a:t>
            </a:r>
            <a:endParaRPr sz="1000">
              <a:solidFill>
                <a:srgbClr val="E06666"/>
              </a:solidFill>
            </a:endParaRPr>
          </a:p>
        </p:txBody>
      </p:sp>
      <p:sp>
        <p:nvSpPr>
          <p:cNvPr id="278" name="Google Shape;278;p36"/>
          <p:cNvSpPr txBox="1"/>
          <p:nvPr/>
        </p:nvSpPr>
        <p:spPr>
          <a:xfrm>
            <a:off x="381723" y="3042900"/>
            <a:ext cx="21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IP: 10.9.71.137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6310398" y="3021763"/>
            <a:ext cx="21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IP:10.9.68.25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220277" y="3781500"/>
            <a:ext cx="399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Port numbers for different flows 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Flow1:server:11020,Client: by OS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Flow2:server:11021,Client:11020</a:t>
            </a:r>
            <a:endParaRPr sz="1200"/>
          </a:p>
        </p:txBody>
      </p:sp>
      <p:sp>
        <p:nvSpPr>
          <p:cNvPr id="281" name="Google Shape;281;p36"/>
          <p:cNvSpPr/>
          <p:nvPr/>
        </p:nvSpPr>
        <p:spPr>
          <a:xfrm>
            <a:off x="1266102" y="1962688"/>
            <a:ext cx="12420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Network </a:t>
            </a:r>
            <a:r>
              <a:rPr lang="en" sz="11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Emulator</a:t>
            </a:r>
            <a:endParaRPr sz="1100">
              <a:solidFill>
                <a:srgbClr val="888888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2" name="Google Shape;282;p36"/>
          <p:cNvSpPr/>
          <p:nvPr/>
        </p:nvSpPr>
        <p:spPr>
          <a:xfrm>
            <a:off x="6036050" y="2950288"/>
            <a:ext cx="813300" cy="33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rPr>
              <a:t>Network Emulator</a:t>
            </a:r>
            <a:endParaRPr sz="1100">
              <a:solidFill>
                <a:srgbClr val="888888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275" y="3119488"/>
            <a:ext cx="1350750" cy="12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0426" y="232150"/>
            <a:ext cx="2788975" cy="196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7"/>
          <p:cNvPicPr preferRelativeResize="0"/>
          <p:nvPr/>
        </p:nvPicPr>
        <p:blipFill rotWithShape="1">
          <a:blip r:embed="rId5">
            <a:alphaModFix/>
          </a:blip>
          <a:srcRect b="0" l="0" r="0" t="1816"/>
          <a:stretch/>
        </p:blipFill>
        <p:spPr>
          <a:xfrm>
            <a:off x="6093475" y="2829275"/>
            <a:ext cx="2695525" cy="178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7"/>
          <p:cNvSpPr txBox="1"/>
          <p:nvPr/>
        </p:nvSpPr>
        <p:spPr>
          <a:xfrm>
            <a:off x="482700" y="4301625"/>
            <a:ext cx="194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Client side: Joystick Panel</a:t>
            </a:r>
            <a:endParaRPr sz="11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1" name="Google Shape;291;p37"/>
          <p:cNvSpPr txBox="1"/>
          <p:nvPr/>
        </p:nvSpPr>
        <p:spPr>
          <a:xfrm>
            <a:off x="3072300" y="2198150"/>
            <a:ext cx="299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Server: Robot simulator</a:t>
            </a:r>
            <a:endParaRPr sz="11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2" name="Google Shape;292;p37"/>
          <p:cNvSpPr txBox="1"/>
          <p:nvPr/>
        </p:nvSpPr>
        <p:spPr>
          <a:xfrm>
            <a:off x="6144588" y="4613625"/>
            <a:ext cx="299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Client: DT of the robot simulator</a:t>
            </a:r>
            <a:endParaRPr sz="11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293" name="Google Shape;293;p37"/>
          <p:cNvCxnSpPr/>
          <p:nvPr/>
        </p:nvCxnSpPr>
        <p:spPr>
          <a:xfrm flipH="1" rot="10800000">
            <a:off x="1245025" y="1610875"/>
            <a:ext cx="1494000" cy="133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37"/>
          <p:cNvCxnSpPr/>
          <p:nvPr/>
        </p:nvCxnSpPr>
        <p:spPr>
          <a:xfrm>
            <a:off x="5750450" y="1727475"/>
            <a:ext cx="1198200" cy="9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5" name="Google Shape;295;p37"/>
          <p:cNvSpPr txBox="1"/>
          <p:nvPr/>
        </p:nvSpPr>
        <p:spPr>
          <a:xfrm>
            <a:off x="831775" y="2205800"/>
            <a:ext cx="194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Avenir"/>
                <a:ea typeface="Avenir"/>
                <a:cs typeface="Avenir"/>
                <a:sym typeface="Avenir"/>
              </a:rPr>
              <a:t>Command sent</a:t>
            </a:r>
            <a:endParaRPr sz="1000">
              <a:solidFill>
                <a:srgbClr val="6AA84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6533850" y="2205800"/>
            <a:ext cx="194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State packet </a:t>
            </a:r>
            <a:r>
              <a:rPr lang="en" sz="10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received</a:t>
            </a:r>
            <a:endParaRPr sz="10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5659400" y="812000"/>
            <a:ext cx="222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Corresponding action Updated</a:t>
            </a:r>
            <a:endParaRPr sz="10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4745300" y="4059500"/>
            <a:ext cx="194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The action seen in DT</a:t>
            </a:r>
            <a:endParaRPr sz="10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9" name="Google Shape;299;p37"/>
          <p:cNvSpPr txBox="1"/>
          <p:nvPr/>
        </p:nvSpPr>
        <p:spPr>
          <a:xfrm>
            <a:off x="1886300" y="4059500"/>
            <a:ext cx="194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A button is pressed</a:t>
            </a:r>
            <a:endParaRPr sz="10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00" name="Google Shape;300;p37"/>
          <p:cNvCxnSpPr/>
          <p:nvPr/>
        </p:nvCxnSpPr>
        <p:spPr>
          <a:xfrm flipH="1">
            <a:off x="3310650" y="4274388"/>
            <a:ext cx="1438200" cy="171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37"/>
          <p:cNvSpPr txBox="1"/>
          <p:nvPr/>
        </p:nvSpPr>
        <p:spPr>
          <a:xfrm>
            <a:off x="3397025" y="4359263"/>
            <a:ext cx="194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0000"/>
                </a:solidFill>
                <a:latin typeface="Avenir"/>
                <a:ea typeface="Avenir"/>
                <a:cs typeface="Avenir"/>
                <a:sym typeface="Avenir"/>
              </a:rPr>
              <a:t>An RTT is required</a:t>
            </a:r>
            <a:endParaRPr sz="1000">
              <a:solidFill>
                <a:srgbClr val="CC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02" name="Google Shape;302;p37"/>
          <p:cNvCxnSpPr/>
          <p:nvPr/>
        </p:nvCxnSpPr>
        <p:spPr>
          <a:xfrm flipH="1" rot="10800000">
            <a:off x="3324450" y="4155375"/>
            <a:ext cx="1406700" cy="123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type="title"/>
          </p:nvPr>
        </p:nvSpPr>
        <p:spPr>
          <a:xfrm>
            <a:off x="836676" y="411480"/>
            <a:ext cx="7626096" cy="884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Experiment Configuration &amp; Parameters</a:t>
            </a:r>
            <a:endParaRPr sz="4600">
              <a:highlight>
                <a:schemeClr val="lt1"/>
              </a:highlight>
            </a:endParaRPr>
          </a:p>
        </p:txBody>
      </p:sp>
      <p:sp>
        <p:nvSpPr>
          <p:cNvPr id="309" name="Google Shape;309;p38"/>
          <p:cNvSpPr txBox="1"/>
          <p:nvPr>
            <p:ph idx="1" type="body"/>
          </p:nvPr>
        </p:nvSpPr>
        <p:spPr>
          <a:xfrm>
            <a:off x="836676" y="1584674"/>
            <a:ext cx="8137845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Rates: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Robot State Packets (Server to Client): ~50 ms (20 Hz)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Command Packets (Client to Server): ~40 ms (25 Hz)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Duration: </a:t>
            </a:r>
            <a:r>
              <a:rPr lang="en" sz="1800"/>
              <a:t>1 minute 30 seconds per trial.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Trials: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Conducted 3 separate experimental runs for each protocol (TCP and UDP) to ensure statistical reliability.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Sizes: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State Packet Size: [Insert actual size, e.g., ~240 Bytes]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Command Packet Size: [Insert actual size, e.g., ~150 Bytes]</a:t>
            </a:r>
            <a:endParaRPr sz="1900"/>
          </a:p>
        </p:txBody>
      </p:sp>
      <p:sp>
        <p:nvSpPr>
          <p:cNvPr id="310" name="Google Shape;310;p38"/>
          <p:cNvSpPr txBox="1"/>
          <p:nvPr>
            <p:ph idx="12" type="sldNum"/>
          </p:nvPr>
        </p:nvSpPr>
        <p:spPr>
          <a:xfrm>
            <a:off x="640537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900"/>
              </a:spcAft>
              <a:buNone/>
            </a:pPr>
            <a:r>
              <a:rPr b="1" lang="en" sz="28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Network Setup &amp; Emulation</a:t>
            </a:r>
            <a:endParaRPr b="1" sz="4800">
              <a:highlight>
                <a:schemeClr val="lt1"/>
              </a:highlight>
            </a:endParaRPr>
          </a:p>
        </p:txBody>
      </p:sp>
      <p:sp>
        <p:nvSpPr>
          <p:cNvPr id="316" name="Google Shape;316;p39"/>
          <p:cNvSpPr txBox="1"/>
          <p:nvPr>
            <p:ph idx="1" type="body"/>
          </p:nvPr>
        </p:nvSpPr>
        <p:spPr>
          <a:xfrm>
            <a:off x="836676" y="1858518"/>
            <a:ext cx="7626000" cy="277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Dataset: Utilized a validated 4G/LTE network dataset.</a:t>
            </a:r>
            <a:endParaRPr sz="14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u="sng">
                <a:solidFill>
                  <a:schemeClr val="hlink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J. van der Hooft et al., Ghent University</a:t>
            </a: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(IEEE 2016).</a:t>
            </a:r>
            <a:endParaRPr sz="14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Emulation Tool: Linux Traffic Control (</a:t>
            </a:r>
            <a:r>
              <a:rPr lang="en" sz="12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tc</a:t>
            </a: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) / </a:t>
            </a:r>
            <a:r>
              <a:rPr lang="en" sz="12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netem</a:t>
            </a: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Application: Symmetrical network impairment applied at both the Client and Server endpoints to accurately emulate the specific bandwidth, packet loss, and jitter profiles observed in the LTE dataset.</a:t>
            </a:r>
            <a:endParaRPr sz="25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713" y="2814775"/>
            <a:ext cx="8422574" cy="195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375" y="311950"/>
            <a:ext cx="8226626" cy="220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Timestamp flow diagram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329" name="Google Shape;32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025" y="1063925"/>
            <a:ext cx="7007950" cy="400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Metric</a:t>
            </a:r>
            <a:endParaRPr/>
          </a:p>
        </p:txBody>
      </p:sp>
      <p:graphicFrame>
        <p:nvGraphicFramePr>
          <p:cNvPr id="335" name="Google Shape;335;p42"/>
          <p:cNvGraphicFramePr/>
          <p:nvPr/>
        </p:nvGraphicFramePr>
        <p:xfrm>
          <a:off x="836675" y="158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{359500F0-147E-4D33-A6F0-95865FD1A615}</a:tableStyleId>
              </a:tblPr>
              <a:tblGrid>
                <a:gridCol w="2656650"/>
                <a:gridCol w="1983275"/>
                <a:gridCol w="2671450"/>
              </a:tblGrid>
              <a:tr h="36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Metric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Formula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Description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Control Loop Latency (CLL)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(T6-T1)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Command to feedback latency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AppBuffer Delay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(TQ-T3)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Server application queue wait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Processing Delay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(T4-TQ)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Simulator robot processing (Server)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Network RTT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(CLL-(AppBuffer+dProcessing))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 way propagation delay and TCP/IP network stack delay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Rendering Delay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(T7-T6)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Client rendering latency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Motion-to-Photon Delay (MTP)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(CLL + dRendering)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Total user-perceived latency</a:t>
                      </a:r>
                      <a:endParaRPr sz="1100"/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341" name="Google Shape;341;p43"/>
          <p:cNvSpPr txBox="1"/>
          <p:nvPr>
            <p:ph idx="1" type="body"/>
          </p:nvPr>
        </p:nvSpPr>
        <p:spPr>
          <a:xfrm>
            <a:off x="836676" y="1858518"/>
            <a:ext cx="7626000" cy="277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62500"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b="1" lang="en"/>
              <a:t>Application Stalls:</a:t>
            </a:r>
            <a:endParaRPr b="1"/>
          </a:p>
          <a:p>
            <a:pPr indent="-284163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•"/>
            </a:pPr>
            <a:r>
              <a:rPr lang="en"/>
              <a:t>Definition: Occurs when the client-side buffer is completely empty, causing the simulation to freeze or stutter.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b="1" lang="en"/>
              <a:t>Positional Drift:</a:t>
            </a:r>
            <a:endParaRPr b="1"/>
          </a:p>
          <a:p>
            <a:pPr indent="-284163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•"/>
            </a:pPr>
            <a:r>
              <a:rPr lang="en"/>
              <a:t>Definition: The spatial error between where the client expects the robot to be (based on commands sent) and where the robot actually is (based on received state).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Packet Loss Evaluation:</a:t>
            </a:r>
            <a:endParaRPr b="1"/>
          </a:p>
          <a:p>
            <a:pPr indent="-284163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•"/>
            </a:pPr>
            <a:r>
              <a:rPr lang="en"/>
              <a:t>Calculated bi-directionally by tracking missing sequence numbers relative to the highest received sequence number at both the server and client.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 txBox="1"/>
          <p:nvPr>
            <p:ph type="title"/>
          </p:nvPr>
        </p:nvSpPr>
        <p:spPr>
          <a:xfrm>
            <a:off x="836776" y="40605"/>
            <a:ext cx="76260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348" name="Google Shape;348;p44"/>
          <p:cNvSpPr txBox="1"/>
          <p:nvPr>
            <p:ph idx="12" type="sldNum"/>
          </p:nvPr>
        </p:nvSpPr>
        <p:spPr>
          <a:xfrm>
            <a:off x="640537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49" name="Google Shape;349;p44"/>
          <p:cNvGraphicFramePr/>
          <p:nvPr/>
        </p:nvGraphicFramePr>
        <p:xfrm>
          <a:off x="715375" y="75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{F5B0E68F-5885-4D9E-9EFF-0467A800ECC7}</a:tableStyleId>
              </a:tblPr>
              <a:tblGrid>
                <a:gridCol w="1014850"/>
                <a:gridCol w="1181750"/>
                <a:gridCol w="751775"/>
                <a:gridCol w="1062950"/>
                <a:gridCol w="1062950"/>
                <a:gridCol w="829975"/>
                <a:gridCol w="1048400"/>
                <a:gridCol w="1048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UDP</a:t>
                      </a:r>
                      <a:endParaRPr b="1" sz="1100"/>
                    </a:p>
                  </a:txBody>
                  <a:tcPr marT="63500" marB="63500" marR="63500" marL="6350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TCP</a:t>
                      </a:r>
                      <a:endParaRPr b="1" sz="11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34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BaseLine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Network variant 1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Network variant 2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BaseLine</a:t>
                      </a:r>
                      <a:endParaRPr b="1" sz="1100"/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Network variant 1</a:t>
                      </a:r>
                      <a:endParaRPr b="1" sz="1100"/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Network variant 2</a:t>
                      </a:r>
                      <a:endParaRPr b="1" sz="1100"/>
                    </a:p>
                  </a:txBody>
                  <a:tcPr marT="63500" marB="63500" marR="63500" marL="6350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3600"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Latency 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Control Loop Latency (CLL)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20.77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24.31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25.71</a:t>
                      </a:r>
                      <a:endParaRPr sz="1100"/>
                    </a:p>
                  </a:txBody>
                  <a:tcPr marT="63500" marB="63500" marR="63500" marL="6350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17.835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17.751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23.513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AppBuffer Delay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17.31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18.77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17.35</a:t>
                      </a:r>
                      <a:endParaRPr sz="1100"/>
                    </a:p>
                  </a:txBody>
                  <a:tcPr marT="63500" marB="63500" marR="63500" marL="6350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16.896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16.791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16.791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Rendering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17.76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18.67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17.55</a:t>
                      </a:r>
                      <a:endParaRPr sz="1100"/>
                    </a:p>
                  </a:txBody>
                  <a:tcPr marT="63500" marB="63500" marR="63500" marL="6350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17.239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17.161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16.966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Processing Delay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2.35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4.41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7.22</a:t>
                      </a:r>
                      <a:endParaRPr sz="1100"/>
                    </a:p>
                  </a:txBody>
                  <a:tcPr marT="63500" marB="63500" marR="63500" marL="6350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0.049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0.042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0.052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1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Network RTT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1.12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1.14</a:t>
                      </a:r>
                      <a:endParaRPr b="1" sz="1100"/>
                    </a:p>
                  </a:txBody>
                  <a:tcPr marT="63500" marB="63500" marR="63500" marL="6350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0.939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0.961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6.777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1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MTP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38.53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42.97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43.26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17.835</a:t>
                      </a:r>
                      <a:endParaRPr sz="1100"/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17.751</a:t>
                      </a:r>
                      <a:endParaRPr sz="1100"/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23.513</a:t>
                      </a:r>
                      <a:endParaRPr sz="1100"/>
                    </a:p>
                  </a:txBody>
                  <a:tcPr marT="63500" marB="63500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41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Jitter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12.77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14.71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12.35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16.896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16.791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16.791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841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Packet Loss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Server to Client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273.67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841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Client to server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305.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5"/>
          <p:cNvSpPr txBox="1"/>
          <p:nvPr>
            <p:ph type="title"/>
          </p:nvPr>
        </p:nvSpPr>
        <p:spPr>
          <a:xfrm>
            <a:off x="836676" y="411480"/>
            <a:ext cx="7626096" cy="884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356" name="Google Shape;356;p45"/>
          <p:cNvSpPr txBox="1"/>
          <p:nvPr>
            <p:ph idx="12" type="sldNum"/>
          </p:nvPr>
        </p:nvSpPr>
        <p:spPr>
          <a:xfrm>
            <a:off x="640537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p45"/>
          <p:cNvSpPr txBox="1"/>
          <p:nvPr/>
        </p:nvSpPr>
        <p:spPr>
          <a:xfrm>
            <a:off x="536500" y="1987813"/>
            <a:ext cx="305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UDP MTP_Plot</a:t>
            </a:r>
            <a:endParaRPr sz="1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58" name="Google Shape;358;p45"/>
          <p:cNvSpPr txBox="1"/>
          <p:nvPr/>
        </p:nvSpPr>
        <p:spPr>
          <a:xfrm>
            <a:off x="536500" y="3525450"/>
            <a:ext cx="305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TCP MTP_plot</a:t>
            </a:r>
            <a:endParaRPr sz="1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59" name="Google Shape;35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700" y="1155813"/>
            <a:ext cx="5695143" cy="20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5475" y="3081809"/>
            <a:ext cx="5705601" cy="2066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6"/>
          <p:cNvSpPr txBox="1"/>
          <p:nvPr>
            <p:ph idx="12" type="sldNum"/>
          </p:nvPr>
        </p:nvSpPr>
        <p:spPr>
          <a:xfrm>
            <a:off x="640537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7" name="Google Shape;367;p46"/>
          <p:cNvSpPr txBox="1"/>
          <p:nvPr/>
        </p:nvSpPr>
        <p:spPr>
          <a:xfrm>
            <a:off x="6696150" y="764350"/>
            <a:ext cx="23541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UDP network variant 2</a:t>
            </a:r>
            <a:endParaRPr sz="1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Network_RTT</a:t>
            </a:r>
            <a:endParaRPr sz="1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8" name="Google Shape;368;p46"/>
          <p:cNvSpPr txBox="1"/>
          <p:nvPr/>
        </p:nvSpPr>
        <p:spPr>
          <a:xfrm>
            <a:off x="6696150" y="2620975"/>
            <a:ext cx="221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TCP_network variant 2</a:t>
            </a:r>
            <a:b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Network RTT</a:t>
            </a:r>
            <a:endParaRPr sz="1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9" name="Google Shape;369;p46"/>
          <p:cNvSpPr txBox="1"/>
          <p:nvPr/>
        </p:nvSpPr>
        <p:spPr>
          <a:xfrm>
            <a:off x="438075" y="4493044"/>
            <a:ext cx="802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5">
                <a:solidFill>
                  <a:schemeClr val="dk1"/>
                </a:solidFill>
              </a:rPr>
              <a:t>Key takeaway: </a:t>
            </a:r>
            <a:r>
              <a:rPr lang="en" sz="1015">
                <a:solidFill>
                  <a:schemeClr val="dk1"/>
                </a:solidFill>
              </a:rPr>
              <a:t>UDP maintains significantly </a:t>
            </a:r>
            <a:r>
              <a:rPr b="1" lang="en" sz="1015">
                <a:solidFill>
                  <a:schemeClr val="dk1"/>
                </a:solidFill>
              </a:rPr>
              <a:t>lower average latency</a:t>
            </a:r>
            <a:r>
              <a:rPr lang="en" sz="1015">
                <a:solidFill>
                  <a:schemeClr val="dk1"/>
                </a:solidFill>
              </a:rPr>
              <a:t> compared to TCP under adverse network conditions, as it avoids the retransmission delays inherent in TCP's congestion control.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70" name="Google Shape;37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25" y="2241925"/>
            <a:ext cx="5907973" cy="2139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575" y="114250"/>
            <a:ext cx="6219476" cy="22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Drift Analysis</a:t>
            </a:r>
            <a:endParaRPr/>
          </a:p>
        </p:txBody>
      </p:sp>
      <p:sp>
        <p:nvSpPr>
          <p:cNvPr id="378" name="Google Shape;378;p47"/>
          <p:cNvSpPr txBox="1"/>
          <p:nvPr>
            <p:ph idx="12" type="sldNum"/>
          </p:nvPr>
        </p:nvSpPr>
        <p:spPr>
          <a:xfrm>
            <a:off x="640537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9" name="Google Shape;37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436" y="2274088"/>
            <a:ext cx="4399600" cy="225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14" y="2297037"/>
            <a:ext cx="4700800" cy="22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7"/>
          <p:cNvSpPr txBox="1"/>
          <p:nvPr/>
        </p:nvSpPr>
        <p:spPr>
          <a:xfrm>
            <a:off x="949325" y="4449400"/>
            <a:ext cx="78453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UDP exhibits significant position drift due to packet loss, making it unsuitable for teleoperations requiring high reliability. In contrast, TCP maintains </a:t>
            </a:r>
            <a:r>
              <a:rPr b="1" lang="en" sz="1200">
                <a:solidFill>
                  <a:schemeClr val="dk1"/>
                </a:solidFill>
              </a:rPr>
              <a:t>zero drift</a:t>
            </a:r>
            <a:r>
              <a:rPr lang="en" sz="1200">
                <a:solidFill>
                  <a:schemeClr val="dk1"/>
                </a:solidFill>
              </a:rPr>
              <a:t>, ensuring precise trajectory tracking.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2" name="Google Shape;382;p47"/>
          <p:cNvSpPr txBox="1"/>
          <p:nvPr/>
        </p:nvSpPr>
        <p:spPr>
          <a:xfrm>
            <a:off x="1280450" y="1677425"/>
            <a:ext cx="305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UDP_network variant 2</a:t>
            </a:r>
            <a:endParaRPr sz="1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3" name="Google Shape;383;p47"/>
          <p:cNvSpPr txBox="1"/>
          <p:nvPr/>
        </p:nvSpPr>
        <p:spPr>
          <a:xfrm>
            <a:off x="5642050" y="1629875"/>
            <a:ext cx="305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TCP</a:t>
            </a: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_network variant 2</a:t>
            </a:r>
            <a:endParaRPr sz="1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8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Stalls</a:t>
            </a:r>
            <a:endParaRPr/>
          </a:p>
        </p:txBody>
      </p:sp>
      <p:pic>
        <p:nvPicPr>
          <p:cNvPr id="389" name="Google Shape;38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547" y="2524138"/>
            <a:ext cx="4561053" cy="179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879" y="2645863"/>
            <a:ext cx="3935596" cy="15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8"/>
          <p:cNvSpPr txBox="1"/>
          <p:nvPr/>
        </p:nvSpPr>
        <p:spPr>
          <a:xfrm>
            <a:off x="864525" y="1924325"/>
            <a:ext cx="305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</a:t>
            </a: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etwork variant 1</a:t>
            </a:r>
            <a:endParaRPr sz="1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92" name="Google Shape;392;p48"/>
          <p:cNvSpPr txBox="1"/>
          <p:nvPr/>
        </p:nvSpPr>
        <p:spPr>
          <a:xfrm>
            <a:off x="4948975" y="1924325"/>
            <a:ext cx="305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</a:t>
            </a:r>
            <a:r>
              <a:rPr lang="en" sz="1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etwork variant 2</a:t>
            </a:r>
            <a:endParaRPr sz="1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399" name="Google Shape;399;p49"/>
          <p:cNvSpPr txBox="1"/>
          <p:nvPr>
            <p:ph idx="1" type="body"/>
          </p:nvPr>
        </p:nvSpPr>
        <p:spPr>
          <a:xfrm>
            <a:off x="836676" y="1858518"/>
            <a:ext cx="7626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3429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00" name="Google Shape;400;p49"/>
          <p:cNvSpPr txBox="1"/>
          <p:nvPr>
            <p:ph idx="12" type="sldNum"/>
          </p:nvPr>
        </p:nvSpPr>
        <p:spPr>
          <a:xfrm>
            <a:off x="640537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1" name="Google Shape;401;p49" title="Capstone2_live.webm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0375" y="1448150"/>
            <a:ext cx="6848299" cy="35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900"/>
              </a:spcAft>
              <a:buNone/>
            </a:pPr>
            <a:r>
              <a:rPr lang="en" sz="2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Observations: The TCP vs. UDP Trade-off</a:t>
            </a:r>
            <a:endParaRPr sz="4400">
              <a:highlight>
                <a:schemeClr val="lt1"/>
              </a:highlight>
            </a:endParaRPr>
          </a:p>
        </p:txBody>
      </p:sp>
      <p:sp>
        <p:nvSpPr>
          <p:cNvPr id="407" name="Google Shape;407;p50"/>
          <p:cNvSpPr txBox="1"/>
          <p:nvPr>
            <p:ph idx="1" type="body"/>
          </p:nvPr>
        </p:nvSpPr>
        <p:spPr>
          <a:xfrm>
            <a:off x="561625" y="1576301"/>
            <a:ext cx="7901100" cy="3052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b="1" lang="en"/>
              <a:t>TCP (The Reliable Choice):</a:t>
            </a:r>
            <a:endParaRPr b="1"/>
          </a:p>
          <a:p>
            <a:pPr indent="-290830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•"/>
            </a:pPr>
            <a:r>
              <a:rPr lang="en"/>
              <a:t>Strength: Guaranteed delivery ensured that every command reached the robot, resulting in minimal positional drift.</a:t>
            </a:r>
            <a:endParaRPr/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SzPct val="66667"/>
              <a:buChar char="•"/>
            </a:pPr>
            <a:r>
              <a:rPr lang="en"/>
              <a:t>Weakness: Under network impairments, retransmissions caused Head-of-Line blocking, leading to compounded latency spikes and frequent application stalls.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UDP (The Fast Choice):</a:t>
            </a:r>
            <a:endParaRPr b="1"/>
          </a:p>
          <a:p>
            <a:pPr indent="-290830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•"/>
            </a:pPr>
            <a:r>
              <a:rPr lang="en"/>
              <a:t>Strength: Continuous stream of data without waiting for acknowledgements resulted in consistently lower latency and minimal stalls.</a:t>
            </a:r>
            <a:endParaRPr/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SzPct val="66667"/>
              <a:buChar char="•"/>
            </a:pPr>
            <a:r>
              <a:rPr lang="en"/>
              <a:t>Weakness: Packet loss meant dropped movement commands. This caused significant positional drift, breaking the synchronization between the operator's expectation and the robot's actual state.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Takeaway:</a:t>
            </a:r>
            <a:r>
              <a:rPr lang="en"/>
              <a:t> Neither protocol alone provides an ideal Quality of Experience (QoE).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1"/>
          <p:cNvSpPr txBox="1"/>
          <p:nvPr>
            <p:ph type="title"/>
          </p:nvPr>
        </p:nvSpPr>
        <p:spPr>
          <a:xfrm>
            <a:off x="836676" y="411480"/>
            <a:ext cx="7626096" cy="884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 sz="2400"/>
              <a:t> Proposed Solution: A Hybrid Transport Architecture</a:t>
            </a:r>
            <a:r>
              <a:rPr lang="en"/>
              <a:t> </a:t>
            </a:r>
            <a:endParaRPr/>
          </a:p>
        </p:txBody>
      </p:sp>
      <p:sp>
        <p:nvSpPr>
          <p:cNvPr id="414" name="Google Shape;414;p51"/>
          <p:cNvSpPr txBox="1"/>
          <p:nvPr>
            <p:ph idx="1" type="body"/>
          </p:nvPr>
        </p:nvSpPr>
        <p:spPr>
          <a:xfrm>
            <a:off x="836676" y="1858518"/>
            <a:ext cx="762609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b="1" lang="en"/>
              <a:t>Commands (Client-&gt;Server) via TCP: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Why: Operator actions must be executed exactly as intended. TCP prevents dropped commands, effectively eliminating positional drift and ensuring safety.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b="1" lang="en"/>
              <a:t>State Updates (Server-&gt;Client) via UDP: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Why: Feedback (visual/haptic) must be real-time. If a state packet is lost, it is better to immediately render the newest state rather than waiting for a delayed retransmission of stale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Conclusion: This hybrid approach maintains the structural integrity of the teleoperation (no drift) while preserving the high responsiveness required for a seamless QoE.</a:t>
            </a:r>
            <a:endParaRPr/>
          </a:p>
          <a:p>
            <a:pPr indent="0" lvl="1" marL="3429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 </a:t>
            </a:r>
            <a:endParaRPr/>
          </a:p>
        </p:txBody>
      </p:sp>
      <p:sp>
        <p:nvSpPr>
          <p:cNvPr id="415" name="Google Shape;415;p51"/>
          <p:cNvSpPr txBox="1"/>
          <p:nvPr>
            <p:ph idx="12" type="sldNum"/>
          </p:nvPr>
        </p:nvSpPr>
        <p:spPr>
          <a:xfrm>
            <a:off x="640537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2"/>
          <p:cNvSpPr txBox="1"/>
          <p:nvPr>
            <p:ph type="title"/>
          </p:nvPr>
        </p:nvSpPr>
        <p:spPr>
          <a:xfrm>
            <a:off x="836676" y="411480"/>
            <a:ext cx="7626096" cy="884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22" name="Google Shape;422;p52"/>
          <p:cNvSpPr txBox="1"/>
          <p:nvPr>
            <p:ph idx="1" type="body"/>
          </p:nvPr>
        </p:nvSpPr>
        <p:spPr>
          <a:xfrm>
            <a:off x="1557050" y="1582638"/>
            <a:ext cx="74343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177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/>
              <a:t>J. I. Lipton, F. Alibaig, and D. Rus, "Baxter’s Homunculus: Virtual Reality Spaces for Teleoperation in Manufacturing," MIT CSAIL, Oct. 2017. [Online]. Available: https://thenewstack.io/human-workers-can-control-robots-virtual-reality-ho</a:t>
            </a:r>
            <a:r>
              <a:rPr lang="en" sz="1500"/>
              <a:t>me</a:t>
            </a:r>
            <a:endParaRPr/>
          </a:p>
        </p:txBody>
      </p:sp>
      <p:sp>
        <p:nvSpPr>
          <p:cNvPr id="423" name="Google Shape;423;p52"/>
          <p:cNvSpPr txBox="1"/>
          <p:nvPr>
            <p:ph idx="12" type="sldNum"/>
          </p:nvPr>
        </p:nvSpPr>
        <p:spPr>
          <a:xfrm>
            <a:off x="640537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image.png" id="424" name="Google Shape;42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200" y="1658287"/>
            <a:ext cx="1081625" cy="56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647326" y="1520500"/>
            <a:ext cx="7626000" cy="333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Thank You!</a:t>
            </a:r>
            <a:endParaRPr b="1" i="0" sz="480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4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en"/>
              <a:t>Packet Loss</a:t>
            </a:r>
            <a:endParaRPr/>
          </a:p>
        </p:txBody>
      </p:sp>
      <p:sp>
        <p:nvSpPr>
          <p:cNvPr id="436" name="Google Shape;436;p54"/>
          <p:cNvSpPr txBox="1"/>
          <p:nvPr>
            <p:ph idx="12" type="sldNum"/>
          </p:nvPr>
        </p:nvSpPr>
        <p:spPr>
          <a:xfrm>
            <a:off x="6405372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37" name="Google Shape;437;p54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{6827BE30-17C4-42FE-A1BD-F6E2A11F686D}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UDP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TCP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Expected Count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Observed Count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Missing Count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Packet Loss Percentage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10.1256%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5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3" name="Google Shape;44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2350" y="1477605"/>
            <a:ext cx="6443482" cy="3542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9" name="Google Shape;449;p56"/>
          <p:cNvPicPr preferRelativeResize="0"/>
          <p:nvPr/>
        </p:nvPicPr>
        <p:blipFill rotWithShape="1">
          <a:blip r:embed="rId3">
            <a:alphaModFix/>
          </a:blip>
          <a:srcRect b="0" l="22976" r="0" t="0"/>
          <a:stretch/>
        </p:blipFill>
        <p:spPr>
          <a:xfrm>
            <a:off x="1610498" y="1651700"/>
            <a:ext cx="6299200" cy="354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7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455" name="Google Shape;455;p57"/>
          <p:cNvSpPr txBox="1"/>
          <p:nvPr>
            <p:ph idx="1" type="body"/>
          </p:nvPr>
        </p:nvSpPr>
        <p:spPr>
          <a:xfrm>
            <a:off x="836676" y="1858518"/>
            <a:ext cx="7626000" cy="277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55000"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2273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Command-to-State Latency</a:t>
            </a:r>
            <a:r>
              <a:rPr lang="en" sz="2258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(</a:t>
            </a:r>
            <a:r>
              <a:rPr lang="en" sz="2458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T6−T1)</a:t>
            </a:r>
            <a:endParaRPr sz="2458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7451" lvl="0" marL="45720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" sz="2258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Total time from command dispatch to receiving the updated state reflecting that command.</a:t>
            </a:r>
            <a:endParaRPr sz="2258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2258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Application Queuing Delay (Server): </a:t>
            </a:r>
            <a:r>
              <a:rPr lang="en" sz="2458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TQ−T3</a:t>
            </a:r>
            <a:endParaRPr sz="1358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7451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" sz="2258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Time a command waits in the server's application buffer before processing.</a:t>
            </a:r>
            <a:endParaRPr sz="2258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258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Network Delay: </a:t>
            </a:r>
            <a:r>
              <a:rPr lang="en" sz="2458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RTT−(Queuing+Processing)</a:t>
            </a:r>
            <a:endParaRPr sz="2458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7451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" sz="2258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The actual time spent in transit across the emulated 4G network.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8"/>
          <p:cNvSpPr txBox="1"/>
          <p:nvPr>
            <p:ph type="title"/>
          </p:nvPr>
        </p:nvSpPr>
        <p:spPr>
          <a:xfrm>
            <a:off x="836676" y="411480"/>
            <a:ext cx="7626000" cy="884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</a:t>
            </a:r>
            <a:endParaRPr/>
          </a:p>
        </p:txBody>
      </p:sp>
      <p:sp>
        <p:nvSpPr>
          <p:cNvPr id="461" name="Google Shape;461;p58"/>
          <p:cNvSpPr txBox="1"/>
          <p:nvPr>
            <p:ph idx="1" type="body"/>
          </p:nvPr>
        </p:nvSpPr>
        <p:spPr>
          <a:xfrm>
            <a:off x="507975" y="1562901"/>
            <a:ext cx="7954800" cy="3066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b="1" lang="en"/>
              <a:t>Processing Delay (Server): </a:t>
            </a:r>
            <a:r>
              <a:rPr lang="en"/>
              <a:t>T4−TQ </a:t>
            </a:r>
            <a:endParaRPr/>
          </a:p>
          <a:p>
            <a:pPr indent="-297498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•"/>
            </a:pPr>
            <a:r>
              <a:rPr lang="en"/>
              <a:t>Time taken to execute the command on the UR3 and serialize the return state.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b="1" lang="en"/>
              <a:t>Rendering Delay (Client): </a:t>
            </a:r>
            <a:r>
              <a:rPr lang="en"/>
              <a:t>T7−T6 </a:t>
            </a:r>
            <a:endParaRPr/>
          </a:p>
          <a:p>
            <a:pPr indent="-297498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•"/>
            </a:pPr>
            <a:r>
              <a:rPr lang="en"/>
              <a:t>Time from receiving the state packet to actively rendering it on the UI.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b="1" lang="en"/>
              <a:t>Motion-to-Photon Latency (MTP): </a:t>
            </a:r>
            <a:r>
              <a:rPr lang="en"/>
              <a:t>RTT+Rendering Delay</a:t>
            </a:r>
            <a:endParaRPr/>
          </a:p>
          <a:p>
            <a:pPr indent="-297498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•"/>
            </a:pPr>
            <a:r>
              <a:rPr lang="en"/>
              <a:t>The most critical metric for the user's perception of responsiveness.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b="1" lang="en"/>
              <a:t>Packet Loss Evaluation:</a:t>
            </a:r>
            <a:endParaRPr b="1"/>
          </a:p>
          <a:p>
            <a:pPr indent="-297498" lvl="0" marL="457200" rtl="0" algn="l">
              <a:spcBef>
                <a:spcPts val="800"/>
              </a:spcBef>
              <a:spcAft>
                <a:spcPts val="0"/>
              </a:spcAft>
              <a:buSzPct val="66667"/>
              <a:buChar char="•"/>
            </a:pPr>
            <a:r>
              <a:rPr lang="en"/>
              <a:t>Calculated bi-directionally by tracking missing sequence numbers relative to the highest received sequence number at both the server and client.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