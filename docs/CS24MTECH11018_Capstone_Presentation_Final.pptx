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24"/>
  </p:notesMasterIdLst>
  <p:sldIdLst>
    <p:sldId id="256" r:id="rId2"/>
    <p:sldId id="257" r:id="rId3"/>
    <p:sldId id="269" r:id="rId4"/>
    <p:sldId id="271" r:id="rId5"/>
    <p:sldId id="270" r:id="rId6"/>
    <p:sldId id="259" r:id="rId7"/>
    <p:sldId id="272" r:id="rId8"/>
    <p:sldId id="261" r:id="rId9"/>
    <p:sldId id="262" r:id="rId10"/>
    <p:sldId id="273" r:id="rId11"/>
    <p:sldId id="281" r:id="rId12"/>
    <p:sldId id="260" r:id="rId13"/>
    <p:sldId id="274" r:id="rId14"/>
    <p:sldId id="263" r:id="rId15"/>
    <p:sldId id="275" r:id="rId16"/>
    <p:sldId id="276" r:id="rId17"/>
    <p:sldId id="277" r:id="rId18"/>
    <p:sldId id="265" r:id="rId19"/>
    <p:sldId id="278" r:id="rId20"/>
    <p:sldId id="280" r:id="rId21"/>
    <p:sldId id="266" r:id="rId22"/>
    <p:sldId id="267" r:id="rId23"/>
  </p:sldIdLst>
  <p:sldSz cx="12192000" cy="6858000"/>
  <p:notesSz cx="6858000" cy="9144000"/>
  <p:embeddedFontLst>
    <p:embeddedFont>
      <p:font typeface="Quattrocento Sans" panose="020B0502050000020003"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60">
          <p15:clr>
            <a:srgbClr val="A4A3A4"/>
          </p15:clr>
        </p15:guide>
        <p15:guide id="2" pos="7392">
          <p15:clr>
            <a:srgbClr val="A4A3A4"/>
          </p15:clr>
        </p15:guide>
        <p15:guide id="3"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A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pos="360"/>
        <p:guide pos="7392"/>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AC2FFC-7D48-4756-9E3B-0E5E27135112}" type="doc">
      <dgm:prSet loTypeId="urn:microsoft.com/office/officeart/2005/8/layout/process1" loCatId="process" qsTypeId="urn:microsoft.com/office/officeart/2005/8/quickstyle/simple1" qsCatId="simple" csTypeId="urn:microsoft.com/office/officeart/2005/8/colors/colorful2" csCatId="colorful" phldr="1"/>
      <dgm:spPr/>
      <dgm:t>
        <a:bodyPr/>
        <a:lstStyle/>
        <a:p>
          <a:endParaRPr lang="en-IN"/>
        </a:p>
      </dgm:t>
    </dgm:pt>
    <dgm:pt modelId="{98E9704E-75C8-47AE-8B93-28D5496C5159}">
      <dgm:prSet phldrT="[Text]" custT="1"/>
      <dgm:spPr/>
      <dgm:t>
        <a:bodyPr/>
        <a:lstStyle/>
        <a:p>
          <a:r>
            <a:rPr lang="en-IN" sz="2000" b="1" i="1" dirty="0"/>
            <a:t>Connection Phase:</a:t>
          </a:r>
        </a:p>
        <a:p>
          <a:endParaRPr lang="en-IN" sz="1800" i="1" dirty="0"/>
        </a:p>
        <a:p>
          <a:r>
            <a:rPr lang="en-IN" sz="1800" dirty="0"/>
            <a:t>Establish P2P DTLS Association via </a:t>
          </a:r>
          <a:r>
            <a:rPr lang="en-IN" sz="1800" dirty="0" err="1"/>
            <a:t>Signaling</a:t>
          </a:r>
          <a:endParaRPr lang="en-IN" sz="1800" dirty="0"/>
        </a:p>
      </dgm:t>
    </dgm:pt>
    <dgm:pt modelId="{B158C7C8-A762-4112-BACF-7062DBEE39DE}" type="parTrans" cxnId="{EE7D271A-8545-4A34-8D4D-8567FEAFD104}">
      <dgm:prSet/>
      <dgm:spPr/>
      <dgm:t>
        <a:bodyPr/>
        <a:lstStyle/>
        <a:p>
          <a:endParaRPr lang="en-IN"/>
        </a:p>
      </dgm:t>
    </dgm:pt>
    <dgm:pt modelId="{5893D0BD-CC05-4FD8-8951-C7BE77C39C3B}" type="sibTrans" cxnId="{EE7D271A-8545-4A34-8D4D-8567FEAFD104}">
      <dgm:prSet/>
      <dgm:spPr/>
      <dgm:t>
        <a:bodyPr/>
        <a:lstStyle/>
        <a:p>
          <a:endParaRPr lang="en-IN"/>
        </a:p>
      </dgm:t>
    </dgm:pt>
    <dgm:pt modelId="{6B65CB35-1FFC-41B0-B2E5-501C91594118}">
      <dgm:prSet phldrT="[Text]" custT="1"/>
      <dgm:spPr/>
      <dgm:t>
        <a:bodyPr/>
        <a:lstStyle/>
        <a:p>
          <a:r>
            <a:rPr lang="en-IN" sz="2000" b="1" i="1" dirty="0"/>
            <a:t>Channel Initialization :</a:t>
          </a:r>
        </a:p>
        <a:p>
          <a:br>
            <a:rPr lang="en-IN" sz="2000" b="1" i="1" dirty="0"/>
          </a:br>
          <a:r>
            <a:rPr lang="en-IN" sz="1800" i="1" dirty="0"/>
            <a:t>1) Configure</a:t>
          </a:r>
          <a:r>
            <a:rPr lang="en-IN" sz="1800" dirty="0"/>
            <a:t> Command Data Channel (UDP or TCP behaviour )</a:t>
          </a:r>
        </a:p>
        <a:p>
          <a:r>
            <a:rPr lang="en-IN" sz="1800" dirty="0"/>
            <a:t>2) Configure State Data Channel (UDP or TCP behaviour )</a:t>
          </a:r>
        </a:p>
      </dgm:t>
    </dgm:pt>
    <dgm:pt modelId="{B4FAFB17-F4CA-4C7A-ABF4-042C21C05366}" type="parTrans" cxnId="{C93C7190-23E9-4A93-AA3A-C0B75BA2DF63}">
      <dgm:prSet/>
      <dgm:spPr/>
      <dgm:t>
        <a:bodyPr/>
        <a:lstStyle/>
        <a:p>
          <a:endParaRPr lang="en-IN"/>
        </a:p>
      </dgm:t>
    </dgm:pt>
    <dgm:pt modelId="{8F448D2E-5B71-41AD-BBC9-ACA9542E4F0F}" type="sibTrans" cxnId="{C93C7190-23E9-4A93-AA3A-C0B75BA2DF63}">
      <dgm:prSet/>
      <dgm:spPr/>
      <dgm:t>
        <a:bodyPr/>
        <a:lstStyle/>
        <a:p>
          <a:endParaRPr lang="en-IN"/>
        </a:p>
      </dgm:t>
    </dgm:pt>
    <dgm:pt modelId="{BA272C18-7D95-4360-AFDD-955D7A80F423}">
      <dgm:prSet phldrT="[Text]" custT="1"/>
      <dgm:spPr/>
      <dgm:t>
        <a:bodyPr/>
        <a:lstStyle/>
        <a:p>
          <a:r>
            <a:rPr lang="en-IN" sz="2000" b="1" i="1" dirty="0"/>
            <a:t>Execution Phase:</a:t>
          </a:r>
        </a:p>
        <a:p>
          <a:endParaRPr lang="en-IN" sz="1800" i="1" dirty="0"/>
        </a:p>
        <a:p>
          <a:r>
            <a:rPr lang="en-IN" sz="1800" dirty="0"/>
            <a:t>1) Send Commands through the Command Data Channel from the Digital Twin</a:t>
          </a:r>
        </a:p>
        <a:p>
          <a:r>
            <a:rPr lang="en-IN" sz="1800" dirty="0"/>
            <a:t>2) Issac Simulator sends  State data through the State Data Channel</a:t>
          </a:r>
        </a:p>
      </dgm:t>
    </dgm:pt>
    <dgm:pt modelId="{A88C528E-DB8E-420C-8DCD-797477832D89}" type="parTrans" cxnId="{C7712238-29D4-4C96-959C-F935C313DD60}">
      <dgm:prSet/>
      <dgm:spPr/>
      <dgm:t>
        <a:bodyPr/>
        <a:lstStyle/>
        <a:p>
          <a:endParaRPr lang="en-IN"/>
        </a:p>
      </dgm:t>
    </dgm:pt>
    <dgm:pt modelId="{B3751826-6CA4-4A44-907A-76459E4DE836}" type="sibTrans" cxnId="{C7712238-29D4-4C96-959C-F935C313DD60}">
      <dgm:prSet/>
      <dgm:spPr/>
      <dgm:t>
        <a:bodyPr/>
        <a:lstStyle/>
        <a:p>
          <a:endParaRPr lang="en-IN"/>
        </a:p>
      </dgm:t>
    </dgm:pt>
    <dgm:pt modelId="{9AADA688-8301-415C-B583-FAAF3CE8B2B2}" type="pres">
      <dgm:prSet presAssocID="{C4AC2FFC-7D48-4756-9E3B-0E5E27135112}" presName="Name0" presStyleCnt="0">
        <dgm:presLayoutVars>
          <dgm:dir/>
          <dgm:resizeHandles val="exact"/>
        </dgm:presLayoutVars>
      </dgm:prSet>
      <dgm:spPr/>
    </dgm:pt>
    <dgm:pt modelId="{B0BFEF87-A3EA-4B19-8AAA-C7926FC0A612}" type="pres">
      <dgm:prSet presAssocID="{98E9704E-75C8-47AE-8B93-28D5496C5159}" presName="node" presStyleLbl="node1" presStyleIdx="0" presStyleCnt="3">
        <dgm:presLayoutVars>
          <dgm:bulletEnabled val="1"/>
        </dgm:presLayoutVars>
      </dgm:prSet>
      <dgm:spPr/>
    </dgm:pt>
    <dgm:pt modelId="{BE5D3828-6A13-4046-80FE-DCE38DD8A880}" type="pres">
      <dgm:prSet presAssocID="{5893D0BD-CC05-4FD8-8951-C7BE77C39C3B}" presName="sibTrans" presStyleLbl="sibTrans2D1" presStyleIdx="0" presStyleCnt="2"/>
      <dgm:spPr/>
    </dgm:pt>
    <dgm:pt modelId="{CDA4277E-23DD-4413-8FE0-10411D9CFF8B}" type="pres">
      <dgm:prSet presAssocID="{5893D0BD-CC05-4FD8-8951-C7BE77C39C3B}" presName="connectorText" presStyleLbl="sibTrans2D1" presStyleIdx="0" presStyleCnt="2"/>
      <dgm:spPr/>
    </dgm:pt>
    <dgm:pt modelId="{3D768F42-6D87-4645-B31D-2B9B9D5A1D97}" type="pres">
      <dgm:prSet presAssocID="{6B65CB35-1FFC-41B0-B2E5-501C91594118}" presName="node" presStyleLbl="node1" presStyleIdx="1" presStyleCnt="3">
        <dgm:presLayoutVars>
          <dgm:bulletEnabled val="1"/>
        </dgm:presLayoutVars>
      </dgm:prSet>
      <dgm:spPr/>
    </dgm:pt>
    <dgm:pt modelId="{1EF71AD2-5E4B-4C5C-9BBE-21EBA906188C}" type="pres">
      <dgm:prSet presAssocID="{8F448D2E-5B71-41AD-BBC9-ACA9542E4F0F}" presName="sibTrans" presStyleLbl="sibTrans2D1" presStyleIdx="1" presStyleCnt="2"/>
      <dgm:spPr/>
    </dgm:pt>
    <dgm:pt modelId="{09480A70-5611-46C6-9950-7A172F5B26FE}" type="pres">
      <dgm:prSet presAssocID="{8F448D2E-5B71-41AD-BBC9-ACA9542E4F0F}" presName="connectorText" presStyleLbl="sibTrans2D1" presStyleIdx="1" presStyleCnt="2"/>
      <dgm:spPr/>
    </dgm:pt>
    <dgm:pt modelId="{790B7ABD-B948-422E-9307-DB2E03869604}" type="pres">
      <dgm:prSet presAssocID="{BA272C18-7D95-4360-AFDD-955D7A80F423}" presName="node" presStyleLbl="node1" presStyleIdx="2" presStyleCnt="3">
        <dgm:presLayoutVars>
          <dgm:bulletEnabled val="1"/>
        </dgm:presLayoutVars>
      </dgm:prSet>
      <dgm:spPr/>
    </dgm:pt>
  </dgm:ptLst>
  <dgm:cxnLst>
    <dgm:cxn modelId="{EE7D271A-8545-4A34-8D4D-8567FEAFD104}" srcId="{C4AC2FFC-7D48-4756-9E3B-0E5E27135112}" destId="{98E9704E-75C8-47AE-8B93-28D5496C5159}" srcOrd="0" destOrd="0" parTransId="{B158C7C8-A762-4112-BACF-7062DBEE39DE}" sibTransId="{5893D0BD-CC05-4FD8-8951-C7BE77C39C3B}"/>
    <dgm:cxn modelId="{535F1128-77AF-4325-87E1-304686ECCA5E}" type="presOf" srcId="{98E9704E-75C8-47AE-8B93-28D5496C5159}" destId="{B0BFEF87-A3EA-4B19-8AAA-C7926FC0A612}" srcOrd="0" destOrd="0" presId="urn:microsoft.com/office/officeart/2005/8/layout/process1"/>
    <dgm:cxn modelId="{C7712238-29D4-4C96-959C-F935C313DD60}" srcId="{C4AC2FFC-7D48-4756-9E3B-0E5E27135112}" destId="{BA272C18-7D95-4360-AFDD-955D7A80F423}" srcOrd="2" destOrd="0" parTransId="{A88C528E-DB8E-420C-8DCD-797477832D89}" sibTransId="{B3751826-6CA4-4A44-907A-76459E4DE836}"/>
    <dgm:cxn modelId="{81DB0A76-328E-4F11-9CB2-7A84BE67FB68}" type="presOf" srcId="{8F448D2E-5B71-41AD-BBC9-ACA9542E4F0F}" destId="{09480A70-5611-46C6-9950-7A172F5B26FE}" srcOrd="1" destOrd="0" presId="urn:microsoft.com/office/officeart/2005/8/layout/process1"/>
    <dgm:cxn modelId="{81B6578F-9E9B-4C54-83EC-6F911A090DC8}" type="presOf" srcId="{5893D0BD-CC05-4FD8-8951-C7BE77C39C3B}" destId="{CDA4277E-23DD-4413-8FE0-10411D9CFF8B}" srcOrd="1" destOrd="0" presId="urn:microsoft.com/office/officeart/2005/8/layout/process1"/>
    <dgm:cxn modelId="{C93C7190-23E9-4A93-AA3A-C0B75BA2DF63}" srcId="{C4AC2FFC-7D48-4756-9E3B-0E5E27135112}" destId="{6B65CB35-1FFC-41B0-B2E5-501C91594118}" srcOrd="1" destOrd="0" parTransId="{B4FAFB17-F4CA-4C7A-ABF4-042C21C05366}" sibTransId="{8F448D2E-5B71-41AD-BBC9-ACA9542E4F0F}"/>
    <dgm:cxn modelId="{CDA04993-EDA5-4087-A36E-F466B99C103B}" type="presOf" srcId="{5893D0BD-CC05-4FD8-8951-C7BE77C39C3B}" destId="{BE5D3828-6A13-4046-80FE-DCE38DD8A880}" srcOrd="0" destOrd="0" presId="urn:microsoft.com/office/officeart/2005/8/layout/process1"/>
    <dgm:cxn modelId="{42233494-3E8D-42F5-BD8A-83BAA1A5E056}" type="presOf" srcId="{C4AC2FFC-7D48-4756-9E3B-0E5E27135112}" destId="{9AADA688-8301-415C-B583-FAAF3CE8B2B2}" srcOrd="0" destOrd="0" presId="urn:microsoft.com/office/officeart/2005/8/layout/process1"/>
    <dgm:cxn modelId="{722FC1A6-7542-467E-80EE-E6CE7FE78B92}" type="presOf" srcId="{6B65CB35-1FFC-41B0-B2E5-501C91594118}" destId="{3D768F42-6D87-4645-B31D-2B9B9D5A1D97}" srcOrd="0" destOrd="0" presId="urn:microsoft.com/office/officeart/2005/8/layout/process1"/>
    <dgm:cxn modelId="{83DFC3EE-6140-40CA-89E2-30D42683B862}" type="presOf" srcId="{8F448D2E-5B71-41AD-BBC9-ACA9542E4F0F}" destId="{1EF71AD2-5E4B-4C5C-9BBE-21EBA906188C}" srcOrd="0" destOrd="0" presId="urn:microsoft.com/office/officeart/2005/8/layout/process1"/>
    <dgm:cxn modelId="{600723FA-A1A1-4A75-B6B4-8D62117A2B44}" type="presOf" srcId="{BA272C18-7D95-4360-AFDD-955D7A80F423}" destId="{790B7ABD-B948-422E-9307-DB2E03869604}" srcOrd="0" destOrd="0" presId="urn:microsoft.com/office/officeart/2005/8/layout/process1"/>
    <dgm:cxn modelId="{E9CA5950-0282-4925-9F18-C9454CCF8F95}" type="presParOf" srcId="{9AADA688-8301-415C-B583-FAAF3CE8B2B2}" destId="{B0BFEF87-A3EA-4B19-8AAA-C7926FC0A612}" srcOrd="0" destOrd="0" presId="urn:microsoft.com/office/officeart/2005/8/layout/process1"/>
    <dgm:cxn modelId="{A7291386-9897-47FB-9C4B-4005520C33F2}" type="presParOf" srcId="{9AADA688-8301-415C-B583-FAAF3CE8B2B2}" destId="{BE5D3828-6A13-4046-80FE-DCE38DD8A880}" srcOrd="1" destOrd="0" presId="urn:microsoft.com/office/officeart/2005/8/layout/process1"/>
    <dgm:cxn modelId="{1BFA5531-8E66-4339-90A8-D1C7DAA67F47}" type="presParOf" srcId="{BE5D3828-6A13-4046-80FE-DCE38DD8A880}" destId="{CDA4277E-23DD-4413-8FE0-10411D9CFF8B}" srcOrd="0" destOrd="0" presId="urn:microsoft.com/office/officeart/2005/8/layout/process1"/>
    <dgm:cxn modelId="{E67C6616-E536-4DB8-BDC4-62AFAA85CAFB}" type="presParOf" srcId="{9AADA688-8301-415C-B583-FAAF3CE8B2B2}" destId="{3D768F42-6D87-4645-B31D-2B9B9D5A1D97}" srcOrd="2" destOrd="0" presId="urn:microsoft.com/office/officeart/2005/8/layout/process1"/>
    <dgm:cxn modelId="{6D9E7303-3705-44BC-8044-D2749FF6A9C6}" type="presParOf" srcId="{9AADA688-8301-415C-B583-FAAF3CE8B2B2}" destId="{1EF71AD2-5E4B-4C5C-9BBE-21EBA906188C}" srcOrd="3" destOrd="0" presId="urn:microsoft.com/office/officeart/2005/8/layout/process1"/>
    <dgm:cxn modelId="{1F321417-A41E-4D0B-92F9-A3FBC9BAEE96}" type="presParOf" srcId="{1EF71AD2-5E4B-4C5C-9BBE-21EBA906188C}" destId="{09480A70-5611-46C6-9950-7A172F5B26FE}" srcOrd="0" destOrd="0" presId="urn:microsoft.com/office/officeart/2005/8/layout/process1"/>
    <dgm:cxn modelId="{4AB938B2-C77A-4B16-96C5-461F6523C375}" type="presParOf" srcId="{9AADA688-8301-415C-B583-FAAF3CE8B2B2}" destId="{790B7ABD-B948-422E-9307-DB2E03869604}"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BFEF87-A3EA-4B19-8AAA-C7926FC0A612}">
      <dsp:nvSpPr>
        <dsp:cNvPr id="0" name=""/>
        <dsp:cNvSpPr/>
      </dsp:nvSpPr>
      <dsp:spPr>
        <a:xfrm>
          <a:off x="8851" y="2021752"/>
          <a:ext cx="2645738" cy="2990940"/>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i="1" kern="1200" dirty="0"/>
            <a:t>Connection Phase:</a:t>
          </a:r>
        </a:p>
        <a:p>
          <a:pPr marL="0" lvl="0" indent="0" algn="ctr" defTabSz="889000">
            <a:lnSpc>
              <a:spcPct val="90000"/>
            </a:lnSpc>
            <a:spcBef>
              <a:spcPct val="0"/>
            </a:spcBef>
            <a:spcAft>
              <a:spcPct val="35000"/>
            </a:spcAft>
            <a:buNone/>
          </a:pPr>
          <a:endParaRPr lang="en-IN" sz="1800" i="1" kern="1200" dirty="0"/>
        </a:p>
        <a:p>
          <a:pPr marL="0" lvl="0" indent="0" algn="ctr" defTabSz="889000">
            <a:lnSpc>
              <a:spcPct val="90000"/>
            </a:lnSpc>
            <a:spcBef>
              <a:spcPct val="0"/>
            </a:spcBef>
            <a:spcAft>
              <a:spcPct val="35000"/>
            </a:spcAft>
            <a:buNone/>
          </a:pPr>
          <a:r>
            <a:rPr lang="en-IN" sz="1800" kern="1200" dirty="0"/>
            <a:t>Establish P2P DTLS Association via </a:t>
          </a:r>
          <a:r>
            <a:rPr lang="en-IN" sz="1800" kern="1200" dirty="0" err="1"/>
            <a:t>Signaling</a:t>
          </a:r>
          <a:endParaRPr lang="en-IN" sz="1800" kern="1200" dirty="0"/>
        </a:p>
      </dsp:txBody>
      <dsp:txXfrm>
        <a:off x="86342" y="2099243"/>
        <a:ext cx="2490756" cy="2835958"/>
      </dsp:txXfrm>
    </dsp:sp>
    <dsp:sp modelId="{BE5D3828-6A13-4046-80FE-DCE38DD8A880}">
      <dsp:nvSpPr>
        <dsp:cNvPr id="0" name=""/>
        <dsp:cNvSpPr/>
      </dsp:nvSpPr>
      <dsp:spPr>
        <a:xfrm>
          <a:off x="2919164" y="3189150"/>
          <a:ext cx="560896" cy="656143"/>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IN" sz="2900" kern="1200"/>
        </a:p>
      </dsp:txBody>
      <dsp:txXfrm>
        <a:off x="2919164" y="3320379"/>
        <a:ext cx="392627" cy="393685"/>
      </dsp:txXfrm>
    </dsp:sp>
    <dsp:sp modelId="{3D768F42-6D87-4645-B31D-2B9B9D5A1D97}">
      <dsp:nvSpPr>
        <dsp:cNvPr id="0" name=""/>
        <dsp:cNvSpPr/>
      </dsp:nvSpPr>
      <dsp:spPr>
        <a:xfrm>
          <a:off x="3712885" y="2021752"/>
          <a:ext cx="2645738" cy="2990940"/>
        </a:xfrm>
        <a:prstGeom prst="roundRect">
          <a:avLst>
            <a:gd name="adj" fmla="val 10000"/>
          </a:avLst>
        </a:prstGeom>
        <a:solidFill>
          <a:schemeClr val="accent2">
            <a:hueOff val="-1224775"/>
            <a:satOff val="-5657"/>
            <a:lumOff val="-1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i="1" kern="1200" dirty="0"/>
            <a:t>Channel Initialization :</a:t>
          </a:r>
        </a:p>
        <a:p>
          <a:pPr marL="0" lvl="0" indent="0" algn="ctr" defTabSz="889000">
            <a:lnSpc>
              <a:spcPct val="90000"/>
            </a:lnSpc>
            <a:spcBef>
              <a:spcPct val="0"/>
            </a:spcBef>
            <a:spcAft>
              <a:spcPct val="35000"/>
            </a:spcAft>
            <a:buNone/>
          </a:pPr>
          <a:br>
            <a:rPr lang="en-IN" sz="2000" b="1" i="1" kern="1200" dirty="0"/>
          </a:br>
          <a:r>
            <a:rPr lang="en-IN" sz="1800" i="1" kern="1200" dirty="0"/>
            <a:t>1) Configure</a:t>
          </a:r>
          <a:r>
            <a:rPr lang="en-IN" sz="1800" kern="1200" dirty="0"/>
            <a:t> Command Data Channel (UDP or TCP behaviour )</a:t>
          </a:r>
        </a:p>
        <a:p>
          <a:pPr marL="0" lvl="0" indent="0" algn="ctr" defTabSz="889000">
            <a:lnSpc>
              <a:spcPct val="90000"/>
            </a:lnSpc>
            <a:spcBef>
              <a:spcPct val="0"/>
            </a:spcBef>
            <a:spcAft>
              <a:spcPct val="35000"/>
            </a:spcAft>
            <a:buNone/>
          </a:pPr>
          <a:r>
            <a:rPr lang="en-IN" sz="1800" kern="1200" dirty="0"/>
            <a:t>2) Configure State Data Channel (UDP or TCP behaviour )</a:t>
          </a:r>
        </a:p>
      </dsp:txBody>
      <dsp:txXfrm>
        <a:off x="3790376" y="2099243"/>
        <a:ext cx="2490756" cy="2835958"/>
      </dsp:txXfrm>
    </dsp:sp>
    <dsp:sp modelId="{1EF71AD2-5E4B-4C5C-9BBE-21EBA906188C}">
      <dsp:nvSpPr>
        <dsp:cNvPr id="0" name=""/>
        <dsp:cNvSpPr/>
      </dsp:nvSpPr>
      <dsp:spPr>
        <a:xfrm>
          <a:off x="6623198" y="3189150"/>
          <a:ext cx="560896" cy="656143"/>
        </a:xfrm>
        <a:prstGeom prst="rightArrow">
          <a:avLst>
            <a:gd name="adj1" fmla="val 60000"/>
            <a:gd name="adj2" fmla="val 50000"/>
          </a:avLst>
        </a:prstGeom>
        <a:solidFill>
          <a:schemeClr val="accent2">
            <a:hueOff val="-2449550"/>
            <a:satOff val="-11314"/>
            <a:lumOff val="-23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IN" sz="2900" kern="1200"/>
        </a:p>
      </dsp:txBody>
      <dsp:txXfrm>
        <a:off x="6623198" y="3320379"/>
        <a:ext cx="392627" cy="393685"/>
      </dsp:txXfrm>
    </dsp:sp>
    <dsp:sp modelId="{790B7ABD-B948-422E-9307-DB2E03869604}">
      <dsp:nvSpPr>
        <dsp:cNvPr id="0" name=""/>
        <dsp:cNvSpPr/>
      </dsp:nvSpPr>
      <dsp:spPr>
        <a:xfrm>
          <a:off x="7416919" y="2021752"/>
          <a:ext cx="2645738" cy="2990940"/>
        </a:xfrm>
        <a:prstGeom prst="roundRect">
          <a:avLst>
            <a:gd name="adj" fmla="val 10000"/>
          </a:avLst>
        </a:prstGeom>
        <a:solidFill>
          <a:schemeClr val="accent2">
            <a:hueOff val="-2449550"/>
            <a:satOff val="-11314"/>
            <a:lumOff val="-235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i="1" kern="1200" dirty="0"/>
            <a:t>Execution Phase:</a:t>
          </a:r>
        </a:p>
        <a:p>
          <a:pPr marL="0" lvl="0" indent="0" algn="ctr" defTabSz="889000">
            <a:lnSpc>
              <a:spcPct val="90000"/>
            </a:lnSpc>
            <a:spcBef>
              <a:spcPct val="0"/>
            </a:spcBef>
            <a:spcAft>
              <a:spcPct val="35000"/>
            </a:spcAft>
            <a:buNone/>
          </a:pPr>
          <a:endParaRPr lang="en-IN" sz="1800" i="1" kern="1200" dirty="0"/>
        </a:p>
        <a:p>
          <a:pPr marL="0" lvl="0" indent="0" algn="ctr" defTabSz="889000">
            <a:lnSpc>
              <a:spcPct val="90000"/>
            </a:lnSpc>
            <a:spcBef>
              <a:spcPct val="0"/>
            </a:spcBef>
            <a:spcAft>
              <a:spcPct val="35000"/>
            </a:spcAft>
            <a:buNone/>
          </a:pPr>
          <a:r>
            <a:rPr lang="en-IN" sz="1800" kern="1200" dirty="0"/>
            <a:t>1) Send Commands through the Command Data Channel from the Digital Twin</a:t>
          </a:r>
        </a:p>
        <a:p>
          <a:pPr marL="0" lvl="0" indent="0" algn="ctr" defTabSz="889000">
            <a:lnSpc>
              <a:spcPct val="90000"/>
            </a:lnSpc>
            <a:spcBef>
              <a:spcPct val="0"/>
            </a:spcBef>
            <a:spcAft>
              <a:spcPct val="35000"/>
            </a:spcAft>
            <a:buNone/>
          </a:pPr>
          <a:r>
            <a:rPr lang="en-IN" sz="1800" kern="1200" dirty="0"/>
            <a:t>2) Issac Simulator sends  State data through the State Data Channel</a:t>
          </a:r>
        </a:p>
      </dsp:txBody>
      <dsp:txXfrm>
        <a:off x="7494410" y="2099243"/>
        <a:ext cx="2490756" cy="2835958"/>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b="0" i="0">
              <a:latin typeface="Quattrocento Sans"/>
              <a:ea typeface="Quattrocento Sans"/>
              <a:cs typeface="Quattrocento Sans"/>
              <a:sym typeface="Quattrocento Sans"/>
            </a:endParaRPr>
          </a:p>
          <a:p>
            <a:pPr marL="0" lvl="0" indent="0" algn="l" rtl="0">
              <a:spcBef>
                <a:spcPts val="0"/>
              </a:spcBef>
              <a:spcAft>
                <a:spcPts val="0"/>
              </a:spcAft>
              <a:buNone/>
            </a:pPr>
            <a:r>
              <a:rPr lang="en-US"/>
              <a:t>ID=d924773e-9a16-4d6d-9803-8cb819e99682</a:t>
            </a:r>
            <a:br>
              <a:rPr lang="en-US"/>
            </a:br>
            <a:r>
              <a:rPr lang="en-US"/>
              <a:t>Recipe=text_billboard</a:t>
            </a:r>
            <a:br>
              <a:rPr lang="en-US"/>
            </a:br>
            <a:r>
              <a:rPr lang="en-US"/>
              <a:t>Type=TextOnly</a:t>
            </a:r>
            <a:br>
              <a:rPr lang="en-US"/>
            </a:br>
            <a:r>
              <a:rPr lang="en-US"/>
              <a:t>Variant=0</a:t>
            </a:r>
            <a:br>
              <a:rPr lang="en-US"/>
            </a:br>
            <a:r>
              <a:rPr lang="en-US"/>
              <a:t>FamilyID=AccentBoxWalbaum_Zero</a:t>
            </a:r>
            <a:endParaRPr/>
          </a:p>
        </p:txBody>
      </p:sp>
      <p:sp>
        <p:nvSpPr>
          <p:cNvPr id="161" name="Google Shape;16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33B8219A-2640-E403-7958-46026A5F4250}"/>
            </a:ext>
          </a:extLst>
        </p:cNvPr>
        <p:cNvGrpSpPr/>
        <p:nvPr/>
      </p:nvGrpSpPr>
      <p:grpSpPr>
        <a:xfrm>
          <a:off x="0" y="0"/>
          <a:ext cx="0" cy="0"/>
          <a:chOff x="0" y="0"/>
          <a:chExt cx="0" cy="0"/>
        </a:xfrm>
      </p:grpSpPr>
      <p:sp>
        <p:nvSpPr>
          <p:cNvPr id="166" name="Google Shape;166;p2:notes">
            <a:extLst>
              <a:ext uri="{FF2B5EF4-FFF2-40B4-BE49-F238E27FC236}">
                <a16:creationId xmlns:a16="http://schemas.microsoft.com/office/drawing/2014/main" id="{646477D2-0F6F-C576-44BA-E777D6CA5E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2:notes">
            <a:extLst>
              <a:ext uri="{FF2B5EF4-FFF2-40B4-BE49-F238E27FC236}">
                <a16:creationId xmlns:a16="http://schemas.microsoft.com/office/drawing/2014/main" id="{A4FB0DBF-EC5F-5CF9-78CB-BFE880B9B5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3854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E87E944D-612E-4F19-273F-D0A8B953F220}"/>
            </a:ext>
          </a:extLst>
        </p:cNvPr>
        <p:cNvGrpSpPr/>
        <p:nvPr/>
      </p:nvGrpSpPr>
      <p:grpSpPr>
        <a:xfrm>
          <a:off x="0" y="0"/>
          <a:ext cx="0" cy="0"/>
          <a:chOff x="0" y="0"/>
          <a:chExt cx="0" cy="0"/>
        </a:xfrm>
      </p:grpSpPr>
      <p:sp>
        <p:nvSpPr>
          <p:cNvPr id="166" name="Google Shape;166;p2:notes">
            <a:extLst>
              <a:ext uri="{FF2B5EF4-FFF2-40B4-BE49-F238E27FC236}">
                <a16:creationId xmlns:a16="http://schemas.microsoft.com/office/drawing/2014/main" id="{B4556DD2-F8A3-9030-15A2-22F88F0F3C7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2:notes">
            <a:extLst>
              <a:ext uri="{FF2B5EF4-FFF2-40B4-BE49-F238E27FC236}">
                <a16:creationId xmlns:a16="http://schemas.microsoft.com/office/drawing/2014/main" id="{880922FB-FB7C-3285-532E-B2D0C5CE30B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41978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182AB0B4-4DEB-DA4F-6F9D-1D8976DAB4F8}"/>
            </a:ext>
          </a:extLst>
        </p:cNvPr>
        <p:cNvGrpSpPr/>
        <p:nvPr/>
      </p:nvGrpSpPr>
      <p:grpSpPr>
        <a:xfrm>
          <a:off x="0" y="0"/>
          <a:ext cx="0" cy="0"/>
          <a:chOff x="0" y="0"/>
          <a:chExt cx="0" cy="0"/>
        </a:xfrm>
      </p:grpSpPr>
      <p:sp>
        <p:nvSpPr>
          <p:cNvPr id="166" name="Google Shape;166;p2:notes">
            <a:extLst>
              <a:ext uri="{FF2B5EF4-FFF2-40B4-BE49-F238E27FC236}">
                <a16:creationId xmlns:a16="http://schemas.microsoft.com/office/drawing/2014/main" id="{D57F36E2-7372-F17B-2098-0DB302ED518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2:notes">
            <a:extLst>
              <a:ext uri="{FF2B5EF4-FFF2-40B4-BE49-F238E27FC236}">
                <a16:creationId xmlns:a16="http://schemas.microsoft.com/office/drawing/2014/main" id="{34D60686-A3DD-97F8-1F60-65AF11DD67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5396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B403FFE4-A57E-1F96-AF3E-693CC7C871A4}"/>
            </a:ext>
          </a:extLst>
        </p:cNvPr>
        <p:cNvGrpSpPr/>
        <p:nvPr/>
      </p:nvGrpSpPr>
      <p:grpSpPr>
        <a:xfrm>
          <a:off x="0" y="0"/>
          <a:ext cx="0" cy="0"/>
          <a:chOff x="0" y="0"/>
          <a:chExt cx="0" cy="0"/>
        </a:xfrm>
      </p:grpSpPr>
      <p:sp>
        <p:nvSpPr>
          <p:cNvPr id="179" name="Google Shape;179;p4:notes">
            <a:extLst>
              <a:ext uri="{FF2B5EF4-FFF2-40B4-BE49-F238E27FC236}">
                <a16:creationId xmlns:a16="http://schemas.microsoft.com/office/drawing/2014/main" id="{CAFC33E7-6A42-1EB9-2047-FD571191A1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p4:notes">
            <a:extLst>
              <a:ext uri="{FF2B5EF4-FFF2-40B4-BE49-F238E27FC236}">
                <a16:creationId xmlns:a16="http://schemas.microsoft.com/office/drawing/2014/main" id="{D35347DF-4899-6F89-823B-41CD736FEF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4:notes">
            <a:extLst>
              <a:ext uri="{FF2B5EF4-FFF2-40B4-BE49-F238E27FC236}">
                <a16:creationId xmlns:a16="http://schemas.microsoft.com/office/drawing/2014/main" id="{0E592707-4A85-B7C2-4937-FAA6F86D709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776641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This is the most important section. Show what you've </a:t>
            </a:r>
            <a:r>
              <a:rPr lang="en-US" sz="1200" b="0" i="1" u="none" strike="noStrike">
                <a:solidFill>
                  <a:schemeClr val="dk1"/>
                </a:solidFill>
                <a:latin typeface="Calibri"/>
                <a:ea typeface="Calibri"/>
                <a:cs typeface="Calibri"/>
                <a:sym typeface="Calibri"/>
              </a:rPr>
              <a:t>done</a:t>
            </a:r>
            <a:r>
              <a:rPr lang="en-US" sz="1200" b="0" i="0" u="none" strike="noStrike">
                <a:solidFill>
                  <a:schemeClr val="dk1"/>
                </a:solidFill>
                <a:latin typeface="Calibri"/>
                <a:ea typeface="Calibri"/>
                <a:cs typeface="Calibri"/>
                <a:sym typeface="Calibri"/>
              </a:rPr>
              <a:t>.</a:t>
            </a:r>
            <a:endParaRPr/>
          </a:p>
        </p:txBody>
      </p:sp>
      <p:sp>
        <p:nvSpPr>
          <p:cNvPr id="197" name="Google Shape;19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a:extLst>
            <a:ext uri="{FF2B5EF4-FFF2-40B4-BE49-F238E27FC236}">
              <a16:creationId xmlns:a16="http://schemas.microsoft.com/office/drawing/2014/main" id="{CFEEDFA8-E32B-27AD-FF6E-09A86BF05B75}"/>
            </a:ext>
          </a:extLst>
        </p:cNvPr>
        <p:cNvGrpSpPr/>
        <p:nvPr/>
      </p:nvGrpSpPr>
      <p:grpSpPr>
        <a:xfrm>
          <a:off x="0" y="0"/>
          <a:ext cx="0" cy="0"/>
          <a:chOff x="0" y="0"/>
          <a:chExt cx="0" cy="0"/>
        </a:xfrm>
      </p:grpSpPr>
      <p:sp>
        <p:nvSpPr>
          <p:cNvPr id="203" name="Google Shape;203;p7:notes">
            <a:extLst>
              <a:ext uri="{FF2B5EF4-FFF2-40B4-BE49-F238E27FC236}">
                <a16:creationId xmlns:a16="http://schemas.microsoft.com/office/drawing/2014/main" id="{7A47106B-D56D-E304-8550-90A9425B09E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7:notes">
            <a:extLst>
              <a:ext uri="{FF2B5EF4-FFF2-40B4-BE49-F238E27FC236}">
                <a16:creationId xmlns:a16="http://schemas.microsoft.com/office/drawing/2014/main" id="{FCFEECB8-B6A4-FB93-E7CA-6EE2CC30A1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4105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a:extLst>
            <a:ext uri="{FF2B5EF4-FFF2-40B4-BE49-F238E27FC236}">
              <a16:creationId xmlns:a16="http://schemas.microsoft.com/office/drawing/2014/main" id="{C8D16221-C8BC-EF9C-933E-AA234835512D}"/>
            </a:ext>
          </a:extLst>
        </p:cNvPr>
        <p:cNvGrpSpPr/>
        <p:nvPr/>
      </p:nvGrpSpPr>
      <p:grpSpPr>
        <a:xfrm>
          <a:off x="0" y="0"/>
          <a:ext cx="0" cy="0"/>
          <a:chOff x="0" y="0"/>
          <a:chExt cx="0" cy="0"/>
        </a:xfrm>
      </p:grpSpPr>
      <p:sp>
        <p:nvSpPr>
          <p:cNvPr id="203" name="Google Shape;203;p7:notes">
            <a:extLst>
              <a:ext uri="{FF2B5EF4-FFF2-40B4-BE49-F238E27FC236}">
                <a16:creationId xmlns:a16="http://schemas.microsoft.com/office/drawing/2014/main" id="{F291E392-080B-8508-9CAB-8C6F4B58126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7:notes">
            <a:extLst>
              <a:ext uri="{FF2B5EF4-FFF2-40B4-BE49-F238E27FC236}">
                <a16:creationId xmlns:a16="http://schemas.microsoft.com/office/drawing/2014/main" id="{BE8ACCCB-F5DC-B343-7EB2-2AA4D2BAAF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07940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p:txBody>
      </p:sp>
      <p:sp>
        <p:nvSpPr>
          <p:cNvPr id="189" name="Google Shape;18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a:extLst>
            <a:ext uri="{FF2B5EF4-FFF2-40B4-BE49-F238E27FC236}">
              <a16:creationId xmlns:a16="http://schemas.microsoft.com/office/drawing/2014/main" id="{CA61B7D3-2262-610D-30F9-57E7E3B57483}"/>
            </a:ext>
          </a:extLst>
        </p:cNvPr>
        <p:cNvGrpSpPr/>
        <p:nvPr/>
      </p:nvGrpSpPr>
      <p:grpSpPr>
        <a:xfrm>
          <a:off x="0" y="0"/>
          <a:ext cx="0" cy="0"/>
          <a:chOff x="0" y="0"/>
          <a:chExt cx="0" cy="0"/>
        </a:xfrm>
      </p:grpSpPr>
      <p:sp>
        <p:nvSpPr>
          <p:cNvPr id="187" name="Google Shape;187;p5:notes">
            <a:extLst>
              <a:ext uri="{FF2B5EF4-FFF2-40B4-BE49-F238E27FC236}">
                <a16:creationId xmlns:a16="http://schemas.microsoft.com/office/drawing/2014/main" id="{14F233D4-7A3C-7D5D-64EE-FE3480A14F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5:notes">
            <a:extLst>
              <a:ext uri="{FF2B5EF4-FFF2-40B4-BE49-F238E27FC236}">
                <a16:creationId xmlns:a16="http://schemas.microsoft.com/office/drawing/2014/main" id="{BD1203B0-8F41-704B-D9F7-5F212259168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p:txBody>
      </p:sp>
      <p:sp>
        <p:nvSpPr>
          <p:cNvPr id="189" name="Google Shape;189;p5:notes">
            <a:extLst>
              <a:ext uri="{FF2B5EF4-FFF2-40B4-BE49-F238E27FC236}">
                <a16:creationId xmlns:a16="http://schemas.microsoft.com/office/drawing/2014/main" id="{9DC75EA4-470F-BBD9-76CB-7ADE98D9628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7549677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1C8A37C4-07C2-F69A-8988-6FF2201CF84B}"/>
            </a:ext>
          </a:extLst>
        </p:cNvPr>
        <p:cNvGrpSpPr/>
        <p:nvPr/>
      </p:nvGrpSpPr>
      <p:grpSpPr>
        <a:xfrm>
          <a:off x="0" y="0"/>
          <a:ext cx="0" cy="0"/>
          <a:chOff x="0" y="0"/>
          <a:chExt cx="0" cy="0"/>
        </a:xfrm>
      </p:grpSpPr>
      <p:sp>
        <p:nvSpPr>
          <p:cNvPr id="224" name="Google Shape;224;p10:notes">
            <a:extLst>
              <a:ext uri="{FF2B5EF4-FFF2-40B4-BE49-F238E27FC236}">
                <a16:creationId xmlns:a16="http://schemas.microsoft.com/office/drawing/2014/main" id="{726CD914-E32B-2406-3543-8CE9E237C2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0:notes">
            <a:extLst>
              <a:ext uri="{FF2B5EF4-FFF2-40B4-BE49-F238E27FC236}">
                <a16:creationId xmlns:a16="http://schemas.microsoft.com/office/drawing/2014/main" id="{80C592A7-E6DE-8F4F-745F-C980AF0011D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0:notes">
            <a:extLst>
              <a:ext uri="{FF2B5EF4-FFF2-40B4-BE49-F238E27FC236}">
                <a16:creationId xmlns:a16="http://schemas.microsoft.com/office/drawing/2014/main" id="{ADD14442-E957-84E9-8A8A-EB857907861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068948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9D846DD1-05A5-7950-786B-538F96D9EF64}"/>
            </a:ext>
          </a:extLst>
        </p:cNvPr>
        <p:cNvGrpSpPr/>
        <p:nvPr/>
      </p:nvGrpSpPr>
      <p:grpSpPr>
        <a:xfrm>
          <a:off x="0" y="0"/>
          <a:ext cx="0" cy="0"/>
          <a:chOff x="0" y="0"/>
          <a:chExt cx="0" cy="0"/>
        </a:xfrm>
      </p:grpSpPr>
      <p:sp>
        <p:nvSpPr>
          <p:cNvPr id="224" name="Google Shape;224;p10:notes">
            <a:extLst>
              <a:ext uri="{FF2B5EF4-FFF2-40B4-BE49-F238E27FC236}">
                <a16:creationId xmlns:a16="http://schemas.microsoft.com/office/drawing/2014/main" id="{742F24FF-7EA7-AA63-131D-03BDBBD0B7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0:notes">
            <a:extLst>
              <a:ext uri="{FF2B5EF4-FFF2-40B4-BE49-F238E27FC236}">
                <a16:creationId xmlns:a16="http://schemas.microsoft.com/office/drawing/2014/main" id="{C8B4C039-040F-1FB3-8E20-6E593885BE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0:notes">
            <a:extLst>
              <a:ext uri="{FF2B5EF4-FFF2-40B4-BE49-F238E27FC236}">
                <a16:creationId xmlns:a16="http://schemas.microsoft.com/office/drawing/2014/main" id="{7F5AE270-6640-2493-C271-2291591C2FB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969022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87718266-3FFD-42D2-6C2D-6BF0EF6D9729}"/>
            </a:ext>
          </a:extLst>
        </p:cNvPr>
        <p:cNvGrpSpPr/>
        <p:nvPr/>
      </p:nvGrpSpPr>
      <p:grpSpPr>
        <a:xfrm>
          <a:off x="0" y="0"/>
          <a:ext cx="0" cy="0"/>
          <a:chOff x="0" y="0"/>
          <a:chExt cx="0" cy="0"/>
        </a:xfrm>
      </p:grpSpPr>
      <p:sp>
        <p:nvSpPr>
          <p:cNvPr id="224" name="Google Shape;224;p10:notes">
            <a:extLst>
              <a:ext uri="{FF2B5EF4-FFF2-40B4-BE49-F238E27FC236}">
                <a16:creationId xmlns:a16="http://schemas.microsoft.com/office/drawing/2014/main" id="{D2C36475-3CA6-1A72-6502-F03D06AE26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0:notes">
            <a:extLst>
              <a:ext uri="{FF2B5EF4-FFF2-40B4-BE49-F238E27FC236}">
                <a16:creationId xmlns:a16="http://schemas.microsoft.com/office/drawing/2014/main" id="{C47F094B-1FED-18C7-68A7-EF6D72F53B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0:notes">
            <a:extLst>
              <a:ext uri="{FF2B5EF4-FFF2-40B4-BE49-F238E27FC236}">
                <a16:creationId xmlns:a16="http://schemas.microsoft.com/office/drawing/2014/main" id="{E331A7A6-39AB-F45A-8680-BF4BCAFA71E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809471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08FE5A34-4ACF-B4ED-6E28-ABE625F38BF1}"/>
            </a:ext>
          </a:extLst>
        </p:cNvPr>
        <p:cNvGrpSpPr/>
        <p:nvPr/>
      </p:nvGrpSpPr>
      <p:grpSpPr>
        <a:xfrm>
          <a:off x="0" y="0"/>
          <a:ext cx="0" cy="0"/>
          <a:chOff x="0" y="0"/>
          <a:chExt cx="0" cy="0"/>
        </a:xfrm>
      </p:grpSpPr>
      <p:sp>
        <p:nvSpPr>
          <p:cNvPr id="224" name="Google Shape;224;p10:notes">
            <a:extLst>
              <a:ext uri="{FF2B5EF4-FFF2-40B4-BE49-F238E27FC236}">
                <a16:creationId xmlns:a16="http://schemas.microsoft.com/office/drawing/2014/main" id="{DD310369-64F0-0498-C1ED-355C0989E04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0:notes">
            <a:extLst>
              <a:ext uri="{FF2B5EF4-FFF2-40B4-BE49-F238E27FC236}">
                <a16:creationId xmlns:a16="http://schemas.microsoft.com/office/drawing/2014/main" id="{EA6CF7EC-B51E-A773-8709-A1428538828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0:notes">
            <a:extLst>
              <a:ext uri="{FF2B5EF4-FFF2-40B4-BE49-F238E27FC236}">
                <a16:creationId xmlns:a16="http://schemas.microsoft.com/office/drawing/2014/main" id="{79608934-3879-E58C-6813-1F86963EDFE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214805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92053C71-A367-6FE0-162C-25D0D74F6FF6}"/>
            </a:ext>
          </a:extLst>
        </p:cNvPr>
        <p:cNvGrpSpPr/>
        <p:nvPr/>
      </p:nvGrpSpPr>
      <p:grpSpPr>
        <a:xfrm>
          <a:off x="0" y="0"/>
          <a:ext cx="0" cy="0"/>
          <a:chOff x="0" y="0"/>
          <a:chExt cx="0" cy="0"/>
        </a:xfrm>
      </p:grpSpPr>
      <p:sp>
        <p:nvSpPr>
          <p:cNvPr id="224" name="Google Shape;224;p10:notes">
            <a:extLst>
              <a:ext uri="{FF2B5EF4-FFF2-40B4-BE49-F238E27FC236}">
                <a16:creationId xmlns:a16="http://schemas.microsoft.com/office/drawing/2014/main" id="{A7A285C5-E9D2-9167-E609-F61072D0BA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0:notes">
            <a:extLst>
              <a:ext uri="{FF2B5EF4-FFF2-40B4-BE49-F238E27FC236}">
                <a16:creationId xmlns:a16="http://schemas.microsoft.com/office/drawing/2014/main" id="{AD2EDDF9-AA22-64F7-B23E-2DA5D830EE4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10:notes">
            <a:extLst>
              <a:ext uri="{FF2B5EF4-FFF2-40B4-BE49-F238E27FC236}">
                <a16:creationId xmlns:a16="http://schemas.microsoft.com/office/drawing/2014/main" id="{07FB948C-7B79-B226-3EE0-7140D908DAF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17494758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br>
              <a:rPr lang="en-US" dirty="0"/>
            </a:br>
            <a:endParaRPr dirty="0"/>
          </a:p>
        </p:txBody>
      </p:sp>
      <p:sp>
        <p:nvSpPr>
          <p:cNvPr id="242" name="Google Shape;24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p:nvPr/>
        </p:nvSpPr>
        <p:spPr>
          <a:xfrm>
            <a:off x="1528762" y="1473243"/>
            <a:ext cx="9144000" cy="3007447"/>
          </a:xfrm>
          <a:prstGeom prst="rect">
            <a:avLst/>
          </a:prstGeom>
          <a:solidFill>
            <a:schemeClr val="lt1"/>
          </a:solidFill>
          <a:ln w="12700" cap="flat" cmpd="sng">
            <a:solidFill>
              <a:srgbClr val="E8E8E8"/>
            </a:solidFill>
            <a:prstDash val="solid"/>
            <a:miter lim="800000"/>
            <a:headEnd type="none" w="sm" len="sm"/>
            <a:tailEnd type="none" w="sm" len="sm"/>
          </a:ln>
          <a:effectLst>
            <a:outerShdw blurRad="50800" dist="38100" dir="2700000" algn="tl" rotWithShape="0">
              <a:srgbClr val="D8D8D8">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7" name="Google Shape;17;p2"/>
          <p:cNvSpPr txBox="1">
            <a:spLocks noGrp="1"/>
          </p:cNvSpPr>
          <p:nvPr>
            <p:ph type="ctrTitle"/>
          </p:nvPr>
        </p:nvSpPr>
        <p:spPr>
          <a:xfrm>
            <a:off x="1801368" y="1664208"/>
            <a:ext cx="8586216" cy="2176272"/>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6600"/>
              <a:buFont typeface="Avenir"/>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2487168" y="4142232"/>
            <a:ext cx="7223760" cy="685800"/>
          </a:xfrm>
          <a:prstGeom prst="rect">
            <a:avLst/>
          </a:prstGeom>
          <a:solidFill>
            <a:schemeClr val="accent1"/>
          </a:solidFill>
          <a:ln>
            <a:noFill/>
          </a:ln>
        </p:spPr>
        <p:txBody>
          <a:bodyPr spcFirstLastPara="1" wrap="square" lIns="91425" tIns="45700" rIns="91425" bIns="45700" anchor="ctr" anchorCtr="0">
            <a:normAutofit/>
          </a:bodyPr>
          <a:lstStyle>
            <a:lvl1pPr lvl="0" algn="ctr">
              <a:lnSpc>
                <a:spcPct val="110000"/>
              </a:lnSpc>
              <a:spcBef>
                <a:spcPts val="1000"/>
              </a:spcBef>
              <a:spcAft>
                <a:spcPts val="0"/>
              </a:spcAft>
              <a:buClr>
                <a:schemeClr val="lt1"/>
              </a:buClr>
              <a:buSzPts val="2800"/>
              <a:buNone/>
              <a:defRPr sz="2800">
                <a:solidFill>
                  <a:schemeClr val="lt1"/>
                </a:solidFill>
              </a:defRPr>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p:nvPr/>
        </p:nvSpPr>
        <p:spPr>
          <a:xfrm>
            <a:off x="558209" y="0"/>
            <a:ext cx="11167447" cy="2018806"/>
          </a:xfrm>
          <a:prstGeom prst="rect">
            <a:avLst/>
          </a:prstGeom>
          <a:solidFill>
            <a:schemeClr val="lt1"/>
          </a:solidFill>
          <a:ln w="9525" cap="flat" cmpd="sng">
            <a:solidFill>
              <a:srgbClr val="E8E8E8"/>
            </a:solidFill>
            <a:prstDash val="solid"/>
            <a:miter lim="800000"/>
            <a:headEnd type="none" w="sm" len="sm"/>
            <a:tailEnd type="none" w="sm" len="sm"/>
          </a:ln>
          <a:effectLst>
            <a:outerShdw blurRad="50800" dist="38100" dir="2700000" algn="tl" rotWithShape="0">
              <a:srgbClr val="D8D8D8">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21" name="Google Shape;21;p3"/>
          <p:cNvSpPr/>
          <p:nvPr/>
        </p:nvSpPr>
        <p:spPr>
          <a:xfrm>
            <a:off x="498834" y="787352"/>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22" name="Google Shape;22;p3"/>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Avenir"/>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1115568" y="2478024"/>
            <a:ext cx="10168128" cy="3694176"/>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1101852"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with pictures">
  <p:cSld name="Title and Content with pictures">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5084064" y="1078992"/>
            <a:ext cx="6272784" cy="153619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5200"/>
              <a:buFont typeface="Avenir"/>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5084064" y="3355848"/>
            <a:ext cx="6272784" cy="2825496"/>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800"/>
              <a:buNone/>
              <a:defRPr sz="1800"/>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4"/>
          <p:cNvSpPr txBox="1">
            <a:spLocks noGrp="1"/>
          </p:cNvSpPr>
          <p:nvPr>
            <p:ph type="dt" idx="10"/>
          </p:nvPr>
        </p:nvSpPr>
        <p:spPr>
          <a:xfrm>
            <a:off x="905256"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41648"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3" name="Google Shape;33;p4"/>
          <p:cNvSpPr/>
          <p:nvPr/>
        </p:nvSpPr>
        <p:spPr>
          <a:xfrm rot="5400000">
            <a:off x="5317960" y="363389"/>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4" name="Google Shape;34;p4"/>
          <p:cNvSpPr/>
          <p:nvPr/>
        </p:nvSpPr>
        <p:spPr>
          <a:xfrm>
            <a:off x="5099266" y="2935541"/>
            <a:ext cx="6217920" cy="18288"/>
          </a:xfrm>
          <a:prstGeom prst="rect">
            <a:avLst/>
          </a:prstGeom>
          <a:solidFill>
            <a:srgbClr val="C8C8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35" name="Google Shape;35;p4"/>
          <p:cNvSpPr>
            <a:spLocks noGrp="1"/>
          </p:cNvSpPr>
          <p:nvPr>
            <p:ph type="pic" idx="2"/>
          </p:nvPr>
        </p:nvSpPr>
        <p:spPr>
          <a:xfrm>
            <a:off x="457200" y="603504"/>
            <a:ext cx="4050792" cy="557784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with 2 pictures">
  <p:cSld name="Title and Content with 2 pictures">
    <p:spTree>
      <p:nvGrpSpPr>
        <p:cNvPr id="1" name="Shape 36"/>
        <p:cNvGrpSpPr/>
        <p:nvPr/>
      </p:nvGrpSpPr>
      <p:grpSpPr>
        <a:xfrm>
          <a:off x="0" y="0"/>
          <a:ext cx="0" cy="0"/>
          <a:chOff x="0" y="0"/>
          <a:chExt cx="0" cy="0"/>
        </a:xfrm>
      </p:grpSpPr>
      <p:sp>
        <p:nvSpPr>
          <p:cNvPr id="37" name="Google Shape;37;p5"/>
          <p:cNvSpPr txBox="1">
            <a:spLocks noGrp="1"/>
          </p:cNvSpPr>
          <p:nvPr>
            <p:ph type="title"/>
          </p:nvPr>
        </p:nvSpPr>
        <p:spPr>
          <a:xfrm>
            <a:off x="612648" y="1078992"/>
            <a:ext cx="6272784" cy="153619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5200"/>
              <a:buFont typeface="Avenir"/>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5"/>
          <p:cNvSpPr txBox="1">
            <a:spLocks noGrp="1"/>
          </p:cNvSpPr>
          <p:nvPr>
            <p:ph type="body" idx="1"/>
          </p:nvPr>
        </p:nvSpPr>
        <p:spPr>
          <a:xfrm>
            <a:off x="612648" y="3355848"/>
            <a:ext cx="6272784" cy="2825496"/>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800"/>
              <a:buNone/>
              <a:defRPr sz="1800"/>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5605272" y="6356350"/>
            <a:ext cx="128016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0" name="Google Shape;40;p5"/>
          <p:cNvSpPr/>
          <p:nvPr/>
        </p:nvSpPr>
        <p:spPr>
          <a:xfrm rot="5400000">
            <a:off x="850392" y="365760"/>
            <a:ext cx="73152"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1" name="Google Shape;41;p5"/>
          <p:cNvSpPr>
            <a:spLocks noGrp="1"/>
          </p:cNvSpPr>
          <p:nvPr>
            <p:ph type="pic" idx="2"/>
          </p:nvPr>
        </p:nvSpPr>
        <p:spPr>
          <a:xfrm>
            <a:off x="7680960" y="4352544"/>
            <a:ext cx="4507992" cy="2505456"/>
          </a:xfrm>
          <a:prstGeom prst="rect">
            <a:avLst/>
          </a:prstGeom>
          <a:noFill/>
          <a:ln>
            <a:noFill/>
          </a:ln>
        </p:spPr>
      </p:sp>
      <p:sp>
        <p:nvSpPr>
          <p:cNvPr id="42" name="Google Shape;42;p5"/>
          <p:cNvSpPr>
            <a:spLocks noGrp="1"/>
          </p:cNvSpPr>
          <p:nvPr>
            <p:ph type="pic" idx="3"/>
          </p:nvPr>
        </p:nvSpPr>
        <p:spPr>
          <a:xfrm>
            <a:off x="7680960" y="0"/>
            <a:ext cx="4507992" cy="4123944"/>
          </a:xfrm>
          <a:prstGeom prst="rect">
            <a:avLst/>
          </a:prstGeom>
          <a:noFill/>
          <a:ln>
            <a:noFill/>
          </a:ln>
        </p:spPr>
      </p:sp>
      <p:sp>
        <p:nvSpPr>
          <p:cNvPr id="43" name="Google Shape;43;p5"/>
          <p:cNvSpPr/>
          <p:nvPr/>
        </p:nvSpPr>
        <p:spPr>
          <a:xfrm>
            <a:off x="621792" y="2935541"/>
            <a:ext cx="6217920" cy="18288"/>
          </a:xfrm>
          <a:prstGeom prst="rect">
            <a:avLst/>
          </a:prstGeom>
          <a:solidFill>
            <a:srgbClr val="C8C8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
        <p:cNvGrpSpPr/>
        <p:nvPr/>
      </p:nvGrpSpPr>
      <p:grpSpPr>
        <a:xfrm>
          <a:off x="0" y="0"/>
          <a:ext cx="0" cy="0"/>
          <a:chOff x="0" y="0"/>
          <a:chExt cx="0" cy="0"/>
        </a:xfrm>
      </p:grpSpPr>
      <p:sp>
        <p:nvSpPr>
          <p:cNvPr id="45" name="Google Shape;45;p6"/>
          <p:cNvSpPr/>
          <p:nvPr/>
        </p:nvSpPr>
        <p:spPr>
          <a:xfrm>
            <a:off x="665853" y="1533525"/>
            <a:ext cx="10917063" cy="3790950"/>
          </a:xfrm>
          <a:prstGeom prst="rect">
            <a:avLst/>
          </a:prstGeom>
          <a:solidFill>
            <a:schemeClr val="lt1"/>
          </a:solidFill>
          <a:ln w="12700" cap="flat" cmpd="sng">
            <a:solidFill>
              <a:srgbClr val="E8E8E8"/>
            </a:solidFill>
            <a:prstDash val="solid"/>
            <a:miter lim="800000"/>
            <a:headEnd type="none" w="sm" len="sm"/>
            <a:tailEnd type="none" w="sm" len="sm"/>
          </a:ln>
          <a:effectLst>
            <a:outerShdw blurRad="50800" dist="38100" dir="2700000" algn="tl" rotWithShape="0">
              <a:srgbClr val="D8D8D8">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6" name="Google Shape;46;p6"/>
          <p:cNvSpPr txBox="1">
            <a:spLocks noGrp="1"/>
          </p:cNvSpPr>
          <p:nvPr>
            <p:ph type="title"/>
          </p:nvPr>
        </p:nvSpPr>
        <p:spPr>
          <a:xfrm>
            <a:off x="1078992" y="1938528"/>
            <a:ext cx="7013448" cy="29900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5400"/>
              <a:buFont typeface="Avenir"/>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6"/>
          <p:cNvSpPr txBox="1">
            <a:spLocks noGrp="1"/>
          </p:cNvSpPr>
          <p:nvPr>
            <p:ph type="body" idx="1"/>
          </p:nvPr>
        </p:nvSpPr>
        <p:spPr>
          <a:xfrm>
            <a:off x="8613648" y="1938528"/>
            <a:ext cx="2688336" cy="2990088"/>
          </a:xfrm>
          <a:prstGeom prst="rect">
            <a:avLst/>
          </a:prstGeom>
          <a:solidFill>
            <a:schemeClr val="accent1"/>
          </a:solidFill>
          <a:ln>
            <a:noFill/>
          </a:ln>
        </p:spPr>
        <p:txBody>
          <a:bodyPr spcFirstLastPara="1" wrap="square" lIns="91425" tIns="45700" rIns="91425" bIns="45700" anchor="ctr" anchorCtr="0">
            <a:normAutofit/>
          </a:bodyPr>
          <a:lstStyle>
            <a:lvl1pPr marL="457200" lvl="0" indent="-228600" algn="l">
              <a:lnSpc>
                <a:spcPct val="110000"/>
              </a:lnSpc>
              <a:spcBef>
                <a:spcPts val="1000"/>
              </a:spcBef>
              <a:spcAft>
                <a:spcPts val="0"/>
              </a:spcAft>
              <a:buClr>
                <a:schemeClr val="lt1"/>
              </a:buClr>
              <a:buSzPts val="2800"/>
              <a:buNone/>
              <a:defRPr sz="2800">
                <a:solidFill>
                  <a:schemeClr val="lt1"/>
                </a:solidFill>
              </a:defRPr>
            </a:lvl1pPr>
            <a:lvl2pPr marL="914400" lvl="1" indent="-228600" algn="l">
              <a:lnSpc>
                <a:spcPct val="110000"/>
              </a:lnSpc>
              <a:spcBef>
                <a:spcPts val="500"/>
              </a:spcBef>
              <a:spcAft>
                <a:spcPts val="0"/>
              </a:spcAft>
              <a:buClr>
                <a:srgbClr val="888888"/>
              </a:buClr>
              <a:buSzPts val="2000"/>
              <a:buNone/>
              <a:defRPr sz="2000">
                <a:solidFill>
                  <a:srgbClr val="888888"/>
                </a:solidFill>
              </a:defRPr>
            </a:lvl2pPr>
            <a:lvl3pPr marL="1371600" lvl="2" indent="-228600" algn="l">
              <a:lnSpc>
                <a:spcPct val="110000"/>
              </a:lnSpc>
              <a:spcBef>
                <a:spcPts val="500"/>
              </a:spcBef>
              <a:spcAft>
                <a:spcPts val="0"/>
              </a:spcAft>
              <a:buClr>
                <a:srgbClr val="888888"/>
              </a:buClr>
              <a:buSzPts val="1800"/>
              <a:buNone/>
              <a:defRPr sz="1800">
                <a:solidFill>
                  <a:srgbClr val="888888"/>
                </a:solidFill>
              </a:defRPr>
            </a:lvl3pPr>
            <a:lvl4pPr marL="1828800" lvl="3" indent="-228600" algn="l">
              <a:lnSpc>
                <a:spcPct val="110000"/>
              </a:lnSpc>
              <a:spcBef>
                <a:spcPts val="500"/>
              </a:spcBef>
              <a:spcAft>
                <a:spcPts val="0"/>
              </a:spcAft>
              <a:buClr>
                <a:srgbClr val="888888"/>
              </a:buClr>
              <a:buSzPts val="1600"/>
              <a:buNone/>
              <a:defRPr sz="1600">
                <a:solidFill>
                  <a:srgbClr val="888888"/>
                </a:solidFill>
              </a:defRPr>
            </a:lvl4pPr>
            <a:lvl5pPr marL="2286000" lvl="4" indent="-228600" algn="l">
              <a:lnSpc>
                <a:spcPct val="11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8" name="Google Shape;48;p6"/>
          <p:cNvSpPr/>
          <p:nvPr/>
        </p:nvSpPr>
        <p:spPr>
          <a:xfrm>
            <a:off x="609084" y="2965074"/>
            <a:ext cx="128016" cy="914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49" name="Google Shape;49;p6"/>
          <p:cNvSpPr/>
          <p:nvPr/>
        </p:nvSpPr>
        <p:spPr>
          <a:xfrm rot="5400000">
            <a:off x="7360539" y="3424428"/>
            <a:ext cx="2103120" cy="9144"/>
          </a:xfrm>
          <a:prstGeom prst="rect">
            <a:avLst/>
          </a:prstGeom>
          <a:solidFill>
            <a:srgbClr val="C8C8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557784" y="640080"/>
            <a:ext cx="10890504" cy="41148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4800"/>
              <a:buFont typeface="Avenir"/>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
          <p:cNvSpPr/>
          <p:nvPr/>
        </p:nvSpPr>
        <p:spPr>
          <a:xfrm>
            <a:off x="558210" y="4981421"/>
            <a:ext cx="11134956" cy="822960"/>
          </a:xfrm>
          <a:prstGeom prst="rect">
            <a:avLst/>
          </a:prstGeom>
          <a:solidFill>
            <a:schemeClr val="lt1"/>
          </a:solidFill>
          <a:ln w="12700" cap="flat" cmpd="sng">
            <a:solidFill>
              <a:srgbClr val="E8E8E8"/>
            </a:solidFill>
            <a:prstDash val="solid"/>
            <a:miter lim="800000"/>
            <a:headEnd type="none" w="sm" len="sm"/>
            <a:tailEnd type="none" w="sm" len="sm"/>
          </a:ln>
          <a:effectLst>
            <a:outerShdw blurRad="50800" dist="38100" dir="2700000" algn="tl" rotWithShape="0">
              <a:srgbClr val="D8D8D8">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53" name="Google Shape;53;p7"/>
          <p:cNvSpPr/>
          <p:nvPr/>
        </p:nvSpPr>
        <p:spPr>
          <a:xfrm>
            <a:off x="498834" y="5118581"/>
            <a:ext cx="146304" cy="5486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54" name="Google Shape;54;p7"/>
          <p:cNvSpPr txBox="1">
            <a:spLocks noGrp="1"/>
          </p:cNvSpPr>
          <p:nvPr>
            <p:ph type="body" idx="1"/>
          </p:nvPr>
        </p:nvSpPr>
        <p:spPr>
          <a:xfrm>
            <a:off x="841248" y="5102352"/>
            <a:ext cx="10607040" cy="585216"/>
          </a:xfrm>
          <a:prstGeom prst="rect">
            <a:avLst/>
          </a:prstGeom>
          <a:solidFill>
            <a:schemeClr val="accent1"/>
          </a:solidFill>
          <a:ln>
            <a:noFill/>
          </a:ln>
        </p:spPr>
        <p:txBody>
          <a:bodyPr spcFirstLastPara="1" wrap="square" lIns="91425" tIns="45700" rIns="91425" bIns="45700" anchor="ctr" anchorCtr="0">
            <a:normAutofit/>
          </a:bodyPr>
          <a:lstStyle>
            <a:lvl1pPr marL="457200" lvl="0" indent="-228600" algn="l">
              <a:lnSpc>
                <a:spcPct val="110000"/>
              </a:lnSpc>
              <a:spcBef>
                <a:spcPts val="1000"/>
              </a:spcBef>
              <a:spcAft>
                <a:spcPts val="0"/>
              </a:spcAft>
              <a:buClr>
                <a:schemeClr val="lt1"/>
              </a:buClr>
              <a:buSzPts val="2000"/>
              <a:buNone/>
              <a:defRPr sz="2000">
                <a:solidFill>
                  <a:schemeClr val="lt1"/>
                </a:solidFill>
              </a:defRPr>
            </a:lvl1pPr>
            <a:lvl2pPr marL="914400" lvl="1" indent="-228600" algn="l">
              <a:lnSpc>
                <a:spcPct val="110000"/>
              </a:lnSpc>
              <a:spcBef>
                <a:spcPts val="500"/>
              </a:spcBef>
              <a:spcAft>
                <a:spcPts val="0"/>
              </a:spcAft>
              <a:buClr>
                <a:srgbClr val="888888"/>
              </a:buClr>
              <a:buSzPts val="2000"/>
              <a:buNone/>
              <a:defRPr sz="2000">
                <a:solidFill>
                  <a:srgbClr val="888888"/>
                </a:solidFill>
              </a:defRPr>
            </a:lvl2pPr>
            <a:lvl3pPr marL="1371600" lvl="2" indent="-228600" algn="l">
              <a:lnSpc>
                <a:spcPct val="110000"/>
              </a:lnSpc>
              <a:spcBef>
                <a:spcPts val="500"/>
              </a:spcBef>
              <a:spcAft>
                <a:spcPts val="0"/>
              </a:spcAft>
              <a:buClr>
                <a:srgbClr val="888888"/>
              </a:buClr>
              <a:buSzPts val="1800"/>
              <a:buNone/>
              <a:defRPr sz="1800">
                <a:solidFill>
                  <a:srgbClr val="888888"/>
                </a:solidFill>
              </a:defRPr>
            </a:lvl3pPr>
            <a:lvl4pPr marL="1828800" lvl="3" indent="-228600" algn="l">
              <a:lnSpc>
                <a:spcPct val="110000"/>
              </a:lnSpc>
              <a:spcBef>
                <a:spcPts val="500"/>
              </a:spcBef>
              <a:spcAft>
                <a:spcPts val="0"/>
              </a:spcAft>
              <a:buClr>
                <a:srgbClr val="888888"/>
              </a:buClr>
              <a:buSzPts val="1600"/>
              <a:buNone/>
              <a:defRPr sz="1600">
                <a:solidFill>
                  <a:srgbClr val="888888"/>
                </a:solidFill>
              </a:defRPr>
            </a:lvl4pPr>
            <a:lvl5pPr marL="2286000" lvl="4" indent="-228600" algn="l">
              <a:lnSpc>
                <a:spcPct val="11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5" name="Google Shape;55;p7"/>
          <p:cNvSpPr txBox="1">
            <a:spLocks noGrp="1"/>
          </p:cNvSpPr>
          <p:nvPr>
            <p:ph type="dt" idx="10"/>
          </p:nvPr>
        </p:nvSpPr>
        <p:spPr>
          <a:xfrm>
            <a:off x="905256"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58"/>
        <p:cNvGrpSpPr/>
        <p:nvPr/>
      </p:nvGrpSpPr>
      <p:grpSpPr>
        <a:xfrm>
          <a:off x="0" y="0"/>
          <a:ext cx="0" cy="0"/>
          <a:chOff x="0" y="0"/>
          <a:chExt cx="0" cy="0"/>
        </a:xfrm>
      </p:grpSpPr>
      <p:sp>
        <p:nvSpPr>
          <p:cNvPr id="59" name="Google Shape;59;p8"/>
          <p:cNvSpPr/>
          <p:nvPr/>
        </p:nvSpPr>
        <p:spPr>
          <a:xfrm>
            <a:off x="558209" y="0"/>
            <a:ext cx="11167447" cy="2018806"/>
          </a:xfrm>
          <a:prstGeom prst="rect">
            <a:avLst/>
          </a:prstGeom>
          <a:solidFill>
            <a:schemeClr val="lt1"/>
          </a:solidFill>
          <a:ln w="9525" cap="flat" cmpd="sng">
            <a:solidFill>
              <a:srgbClr val="E8E8E8"/>
            </a:solidFill>
            <a:prstDash val="solid"/>
            <a:miter lim="800000"/>
            <a:headEnd type="none" w="sm" len="sm"/>
            <a:tailEnd type="none" w="sm" len="sm"/>
          </a:ln>
          <a:effectLst>
            <a:outerShdw blurRad="50800" dist="38100" dir="2700000" algn="tl" rotWithShape="0">
              <a:srgbClr val="D8D8D8">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0" name="Google Shape;60;p8"/>
          <p:cNvSpPr>
            <a:spLocks noGrp="1"/>
          </p:cNvSpPr>
          <p:nvPr>
            <p:ph type="pic" idx="2"/>
          </p:nvPr>
        </p:nvSpPr>
        <p:spPr>
          <a:xfrm>
            <a:off x="5422392" y="2798064"/>
            <a:ext cx="1463040" cy="1481328"/>
          </a:xfrm>
          <a:prstGeom prst="rect">
            <a:avLst/>
          </a:prstGeom>
          <a:noFill/>
          <a:ln>
            <a:noFill/>
          </a:ln>
        </p:spPr>
      </p:sp>
      <p:sp>
        <p:nvSpPr>
          <p:cNvPr id="61" name="Google Shape;61;p8"/>
          <p:cNvSpPr>
            <a:spLocks noGrp="1"/>
          </p:cNvSpPr>
          <p:nvPr>
            <p:ph type="pic" idx="3"/>
          </p:nvPr>
        </p:nvSpPr>
        <p:spPr>
          <a:xfrm>
            <a:off x="576072" y="2798064"/>
            <a:ext cx="1463040" cy="1481328"/>
          </a:xfrm>
          <a:prstGeom prst="rect">
            <a:avLst/>
          </a:prstGeom>
          <a:noFill/>
          <a:ln>
            <a:noFill/>
          </a:ln>
        </p:spPr>
      </p:sp>
      <p:sp>
        <p:nvSpPr>
          <p:cNvPr id="62" name="Google Shape;62;p8"/>
          <p:cNvSpPr>
            <a:spLocks noGrp="1"/>
          </p:cNvSpPr>
          <p:nvPr>
            <p:ph type="pic" idx="4"/>
          </p:nvPr>
        </p:nvSpPr>
        <p:spPr>
          <a:xfrm>
            <a:off x="7845552" y="2798064"/>
            <a:ext cx="1463040" cy="1481328"/>
          </a:xfrm>
          <a:prstGeom prst="rect">
            <a:avLst/>
          </a:prstGeom>
          <a:noFill/>
          <a:ln>
            <a:noFill/>
          </a:ln>
        </p:spPr>
      </p:sp>
      <p:sp>
        <p:nvSpPr>
          <p:cNvPr id="63" name="Google Shape;63;p8"/>
          <p:cNvSpPr/>
          <p:nvPr/>
        </p:nvSpPr>
        <p:spPr>
          <a:xfrm>
            <a:off x="498834" y="787352"/>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64" name="Google Shape;64;p8"/>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Avenir"/>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8"/>
          <p:cNvSpPr>
            <a:spLocks noGrp="1"/>
          </p:cNvSpPr>
          <p:nvPr>
            <p:ph type="pic" idx="5"/>
          </p:nvPr>
        </p:nvSpPr>
        <p:spPr>
          <a:xfrm>
            <a:off x="2999232" y="2798064"/>
            <a:ext cx="1463040" cy="1481328"/>
          </a:xfrm>
          <a:prstGeom prst="rect">
            <a:avLst/>
          </a:prstGeom>
          <a:noFill/>
          <a:ln>
            <a:noFill/>
          </a:ln>
        </p:spPr>
      </p:sp>
      <p:sp>
        <p:nvSpPr>
          <p:cNvPr id="66" name="Google Shape;66;p8"/>
          <p:cNvSpPr>
            <a:spLocks noGrp="1"/>
          </p:cNvSpPr>
          <p:nvPr>
            <p:ph type="pic" idx="6"/>
          </p:nvPr>
        </p:nvSpPr>
        <p:spPr>
          <a:xfrm>
            <a:off x="10268712" y="2798064"/>
            <a:ext cx="1463040" cy="1481328"/>
          </a:xfrm>
          <a:prstGeom prst="rect">
            <a:avLst/>
          </a:prstGeom>
          <a:noFill/>
          <a:ln>
            <a:noFill/>
          </a:ln>
        </p:spPr>
      </p:sp>
      <p:sp>
        <p:nvSpPr>
          <p:cNvPr id="67" name="Google Shape;67;p8"/>
          <p:cNvSpPr txBox="1">
            <a:spLocks noGrp="1"/>
          </p:cNvSpPr>
          <p:nvPr>
            <p:ph type="dt" idx="10"/>
          </p:nvPr>
        </p:nvSpPr>
        <p:spPr>
          <a:xfrm>
            <a:off x="905256"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0" name="Google Shape;70;p8"/>
          <p:cNvSpPr txBox="1">
            <a:spLocks noGrp="1"/>
          </p:cNvSpPr>
          <p:nvPr>
            <p:ph type="body" idx="1"/>
          </p:nvPr>
        </p:nvSpPr>
        <p:spPr>
          <a:xfrm>
            <a:off x="5431536" y="4489704"/>
            <a:ext cx="1462088" cy="64928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0"/>
              </a:spcBef>
              <a:spcAft>
                <a:spcPts val="0"/>
              </a:spcAft>
              <a:buClr>
                <a:schemeClr val="dk1"/>
              </a:buClr>
              <a:buSzPts val="2000"/>
              <a:buNone/>
              <a:defRPr sz="2000"/>
            </a:lvl1pPr>
            <a:lvl2pPr marL="914400" lvl="1" indent="-228600" algn="ctr">
              <a:lnSpc>
                <a:spcPct val="100000"/>
              </a:lnSpc>
              <a:spcBef>
                <a:spcPts val="0"/>
              </a:spcBef>
              <a:spcAft>
                <a:spcPts val="0"/>
              </a:spcAft>
              <a:buClr>
                <a:schemeClr val="dk1"/>
              </a:buClr>
              <a:buSzPts val="1600"/>
              <a:buNone/>
              <a:defRPr sz="1600"/>
            </a:lvl2pPr>
            <a:lvl3pPr marL="1371600" lvl="2" indent="-355600" algn="l">
              <a:lnSpc>
                <a:spcPct val="110000"/>
              </a:lnSpc>
              <a:spcBef>
                <a:spcPts val="500"/>
              </a:spcBef>
              <a:spcAft>
                <a:spcPts val="0"/>
              </a:spcAft>
              <a:buClr>
                <a:schemeClr val="dk1"/>
              </a:buClr>
              <a:buSzPts val="2000"/>
              <a:buChar char="•"/>
              <a:defRPr sz="20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8"/>
          <p:cNvSpPr txBox="1">
            <a:spLocks noGrp="1"/>
          </p:cNvSpPr>
          <p:nvPr>
            <p:ph type="body" idx="7"/>
          </p:nvPr>
        </p:nvSpPr>
        <p:spPr>
          <a:xfrm>
            <a:off x="7845552" y="4489704"/>
            <a:ext cx="1462088" cy="64928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0"/>
              </a:spcBef>
              <a:spcAft>
                <a:spcPts val="0"/>
              </a:spcAft>
              <a:buClr>
                <a:schemeClr val="dk1"/>
              </a:buClr>
              <a:buSzPts val="2000"/>
              <a:buNone/>
              <a:defRPr sz="2000"/>
            </a:lvl1pPr>
            <a:lvl2pPr marL="914400" lvl="1" indent="-228600" algn="ctr">
              <a:lnSpc>
                <a:spcPct val="100000"/>
              </a:lnSpc>
              <a:spcBef>
                <a:spcPts val="0"/>
              </a:spcBef>
              <a:spcAft>
                <a:spcPts val="0"/>
              </a:spcAft>
              <a:buClr>
                <a:schemeClr val="dk1"/>
              </a:buClr>
              <a:buSzPts val="1600"/>
              <a:buNone/>
              <a:defRPr sz="1600"/>
            </a:lvl2pPr>
            <a:lvl3pPr marL="1371600" lvl="2" indent="-355600" algn="l">
              <a:lnSpc>
                <a:spcPct val="110000"/>
              </a:lnSpc>
              <a:spcBef>
                <a:spcPts val="500"/>
              </a:spcBef>
              <a:spcAft>
                <a:spcPts val="0"/>
              </a:spcAft>
              <a:buClr>
                <a:schemeClr val="dk1"/>
              </a:buClr>
              <a:buSzPts val="2000"/>
              <a:buChar char="•"/>
              <a:defRPr sz="20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8"/>
          <p:cNvSpPr txBox="1">
            <a:spLocks noGrp="1"/>
          </p:cNvSpPr>
          <p:nvPr>
            <p:ph type="body" idx="8"/>
          </p:nvPr>
        </p:nvSpPr>
        <p:spPr>
          <a:xfrm>
            <a:off x="10268712" y="4489704"/>
            <a:ext cx="1462088" cy="64928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0"/>
              </a:spcBef>
              <a:spcAft>
                <a:spcPts val="0"/>
              </a:spcAft>
              <a:buClr>
                <a:schemeClr val="dk1"/>
              </a:buClr>
              <a:buSzPts val="2000"/>
              <a:buNone/>
              <a:defRPr sz="2000"/>
            </a:lvl1pPr>
            <a:lvl2pPr marL="914400" lvl="1" indent="-228600" algn="ctr">
              <a:lnSpc>
                <a:spcPct val="100000"/>
              </a:lnSpc>
              <a:spcBef>
                <a:spcPts val="0"/>
              </a:spcBef>
              <a:spcAft>
                <a:spcPts val="0"/>
              </a:spcAft>
              <a:buClr>
                <a:schemeClr val="dk1"/>
              </a:buClr>
              <a:buSzPts val="1600"/>
              <a:buNone/>
              <a:defRPr sz="1600"/>
            </a:lvl2pPr>
            <a:lvl3pPr marL="1371600" lvl="2" indent="-355600" algn="l">
              <a:lnSpc>
                <a:spcPct val="110000"/>
              </a:lnSpc>
              <a:spcBef>
                <a:spcPts val="500"/>
              </a:spcBef>
              <a:spcAft>
                <a:spcPts val="0"/>
              </a:spcAft>
              <a:buClr>
                <a:schemeClr val="dk1"/>
              </a:buClr>
              <a:buSzPts val="2000"/>
              <a:buChar char="•"/>
              <a:defRPr sz="20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8"/>
          <p:cNvSpPr txBox="1">
            <a:spLocks noGrp="1"/>
          </p:cNvSpPr>
          <p:nvPr>
            <p:ph type="body" idx="9"/>
          </p:nvPr>
        </p:nvSpPr>
        <p:spPr>
          <a:xfrm>
            <a:off x="594360" y="4489704"/>
            <a:ext cx="1462088" cy="64928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0"/>
              </a:spcBef>
              <a:spcAft>
                <a:spcPts val="0"/>
              </a:spcAft>
              <a:buClr>
                <a:schemeClr val="dk1"/>
              </a:buClr>
              <a:buSzPts val="2000"/>
              <a:buNone/>
              <a:defRPr sz="2000"/>
            </a:lvl1pPr>
            <a:lvl2pPr marL="914400" lvl="1" indent="-228600" algn="ctr">
              <a:lnSpc>
                <a:spcPct val="100000"/>
              </a:lnSpc>
              <a:spcBef>
                <a:spcPts val="0"/>
              </a:spcBef>
              <a:spcAft>
                <a:spcPts val="0"/>
              </a:spcAft>
              <a:buClr>
                <a:schemeClr val="dk1"/>
              </a:buClr>
              <a:buSzPts val="1600"/>
              <a:buNone/>
              <a:defRPr sz="1600"/>
            </a:lvl2pPr>
            <a:lvl3pPr marL="1371600" lvl="2" indent="-355600" algn="l">
              <a:lnSpc>
                <a:spcPct val="110000"/>
              </a:lnSpc>
              <a:spcBef>
                <a:spcPts val="500"/>
              </a:spcBef>
              <a:spcAft>
                <a:spcPts val="0"/>
              </a:spcAft>
              <a:buClr>
                <a:schemeClr val="dk1"/>
              </a:buClr>
              <a:buSzPts val="2000"/>
              <a:buChar char="•"/>
              <a:defRPr sz="20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8"/>
          <p:cNvSpPr txBox="1">
            <a:spLocks noGrp="1"/>
          </p:cNvSpPr>
          <p:nvPr>
            <p:ph type="body" idx="13"/>
          </p:nvPr>
        </p:nvSpPr>
        <p:spPr>
          <a:xfrm>
            <a:off x="3008376" y="4489704"/>
            <a:ext cx="1462088" cy="64928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0"/>
              </a:spcBef>
              <a:spcAft>
                <a:spcPts val="0"/>
              </a:spcAft>
              <a:buClr>
                <a:schemeClr val="dk1"/>
              </a:buClr>
              <a:buSzPts val="2000"/>
              <a:buNone/>
              <a:defRPr sz="2000"/>
            </a:lvl1pPr>
            <a:lvl2pPr marL="914400" lvl="1" indent="-228600" algn="ctr">
              <a:lnSpc>
                <a:spcPct val="100000"/>
              </a:lnSpc>
              <a:spcBef>
                <a:spcPts val="0"/>
              </a:spcBef>
              <a:spcAft>
                <a:spcPts val="0"/>
              </a:spcAft>
              <a:buClr>
                <a:schemeClr val="dk1"/>
              </a:buClr>
              <a:buSzPts val="1600"/>
              <a:buNone/>
              <a:defRPr sz="1600"/>
            </a:lvl2pPr>
            <a:lvl3pPr marL="1371600" lvl="2" indent="-355600" algn="l">
              <a:lnSpc>
                <a:spcPct val="110000"/>
              </a:lnSpc>
              <a:spcBef>
                <a:spcPts val="500"/>
              </a:spcBef>
              <a:spcAft>
                <a:spcPts val="0"/>
              </a:spcAft>
              <a:buClr>
                <a:schemeClr val="dk1"/>
              </a:buClr>
              <a:buSzPts val="2000"/>
              <a:buChar char="•"/>
              <a:defRPr sz="20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5"/>
        <p:cNvGrpSpPr/>
        <p:nvPr/>
      </p:nvGrpSpPr>
      <p:grpSpPr>
        <a:xfrm>
          <a:off x="0" y="0"/>
          <a:ext cx="0" cy="0"/>
          <a:chOff x="0" y="0"/>
          <a:chExt cx="0" cy="0"/>
        </a:xfrm>
      </p:grpSpPr>
      <p:sp>
        <p:nvSpPr>
          <p:cNvPr id="76" name="Google Shape;76;p9"/>
          <p:cNvSpPr/>
          <p:nvPr/>
        </p:nvSpPr>
        <p:spPr>
          <a:xfrm>
            <a:off x="558209" y="0"/>
            <a:ext cx="11167447" cy="2018806"/>
          </a:xfrm>
          <a:prstGeom prst="rect">
            <a:avLst/>
          </a:prstGeom>
          <a:solidFill>
            <a:schemeClr val="lt1"/>
          </a:solidFill>
          <a:ln w="9525" cap="flat" cmpd="sng">
            <a:solidFill>
              <a:srgbClr val="E8E8E8"/>
            </a:solidFill>
            <a:prstDash val="solid"/>
            <a:miter lim="800000"/>
            <a:headEnd type="none" w="sm" len="sm"/>
            <a:tailEnd type="none" w="sm" len="sm"/>
          </a:ln>
          <a:effectLst>
            <a:outerShdw blurRad="50800" dist="38100" dir="2700000" algn="tl" rotWithShape="0">
              <a:srgbClr val="D8D8D8">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77" name="Google Shape;77;p9"/>
          <p:cNvSpPr/>
          <p:nvPr/>
        </p:nvSpPr>
        <p:spPr>
          <a:xfrm>
            <a:off x="498834" y="787352"/>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78" name="Google Shape;78;p9"/>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Avenir"/>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9"/>
          <p:cNvSpPr txBox="1">
            <a:spLocks noGrp="1"/>
          </p:cNvSpPr>
          <p:nvPr>
            <p:ph type="body" idx="1"/>
          </p:nvPr>
        </p:nvSpPr>
        <p:spPr>
          <a:xfrm>
            <a:off x="1115568" y="2372650"/>
            <a:ext cx="493776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2400"/>
              <a:buNone/>
              <a:defRPr sz="2400" b="1" cap="none"/>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0" name="Google Shape;80;p9"/>
          <p:cNvSpPr txBox="1">
            <a:spLocks noGrp="1"/>
          </p:cNvSpPr>
          <p:nvPr>
            <p:ph type="body" idx="2"/>
          </p:nvPr>
        </p:nvSpPr>
        <p:spPr>
          <a:xfrm>
            <a:off x="1115568" y="3203688"/>
            <a:ext cx="4937760" cy="2968512"/>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sz="1800"/>
            </a:lvl1pPr>
            <a:lvl2pPr marL="914400" lvl="1" indent="-342900" algn="l">
              <a:lnSpc>
                <a:spcPct val="110000"/>
              </a:lnSpc>
              <a:spcBef>
                <a:spcPts val="1000"/>
              </a:spcBef>
              <a:spcAft>
                <a:spcPts val="0"/>
              </a:spcAft>
              <a:buClr>
                <a:schemeClr val="dk1"/>
              </a:buClr>
              <a:buSzPts val="1800"/>
              <a:buChar char="•"/>
              <a:defRPr sz="1800"/>
            </a:lvl2pPr>
            <a:lvl3pPr marL="1371600" lvl="2" indent="-342900" algn="l">
              <a:lnSpc>
                <a:spcPct val="110000"/>
              </a:lnSpc>
              <a:spcBef>
                <a:spcPts val="1000"/>
              </a:spcBef>
              <a:spcAft>
                <a:spcPts val="0"/>
              </a:spcAft>
              <a:buClr>
                <a:schemeClr val="dk1"/>
              </a:buClr>
              <a:buSzPts val="1800"/>
              <a:buChar char="•"/>
              <a:defRPr sz="1800"/>
            </a:lvl3pPr>
            <a:lvl4pPr marL="1828800" lvl="3" indent="-342900" algn="l">
              <a:lnSpc>
                <a:spcPct val="110000"/>
              </a:lnSpc>
              <a:spcBef>
                <a:spcPts val="1000"/>
              </a:spcBef>
              <a:spcAft>
                <a:spcPts val="0"/>
              </a:spcAft>
              <a:buClr>
                <a:schemeClr val="dk1"/>
              </a:buClr>
              <a:buSzPts val="1800"/>
              <a:buChar char="•"/>
              <a:defRPr sz="1800"/>
            </a:lvl4pPr>
            <a:lvl5pPr marL="2286000" lvl="4" indent="-342900" algn="l">
              <a:lnSpc>
                <a:spcPct val="110000"/>
              </a:lnSpc>
              <a:spcBef>
                <a:spcPts val="1000"/>
              </a:spcBef>
              <a:spcAft>
                <a:spcPts val="0"/>
              </a:spcAft>
              <a:buClr>
                <a:schemeClr val="dk1"/>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9"/>
          <p:cNvSpPr txBox="1">
            <a:spLocks noGrp="1"/>
          </p:cNvSpPr>
          <p:nvPr>
            <p:ph type="body" idx="3"/>
          </p:nvPr>
        </p:nvSpPr>
        <p:spPr>
          <a:xfrm>
            <a:off x="6345936" y="2372650"/>
            <a:ext cx="493776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2400"/>
              <a:buNone/>
              <a:defRPr sz="2400" b="1" cap="none"/>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2" name="Google Shape;82;p9"/>
          <p:cNvSpPr txBox="1">
            <a:spLocks noGrp="1"/>
          </p:cNvSpPr>
          <p:nvPr>
            <p:ph type="body" idx="4"/>
          </p:nvPr>
        </p:nvSpPr>
        <p:spPr>
          <a:xfrm>
            <a:off x="6345936" y="3203687"/>
            <a:ext cx="4937760" cy="2968511"/>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sz="1800"/>
            </a:lvl1pPr>
            <a:lvl2pPr marL="914400" lvl="1" indent="-342900" algn="l">
              <a:lnSpc>
                <a:spcPct val="110000"/>
              </a:lnSpc>
              <a:spcBef>
                <a:spcPts val="1000"/>
              </a:spcBef>
              <a:spcAft>
                <a:spcPts val="0"/>
              </a:spcAft>
              <a:buClr>
                <a:schemeClr val="dk1"/>
              </a:buClr>
              <a:buSzPts val="1800"/>
              <a:buChar char="•"/>
              <a:defRPr sz="1800"/>
            </a:lvl2pPr>
            <a:lvl3pPr marL="1371600" lvl="2" indent="-342900" algn="l">
              <a:lnSpc>
                <a:spcPct val="110000"/>
              </a:lnSpc>
              <a:spcBef>
                <a:spcPts val="1000"/>
              </a:spcBef>
              <a:spcAft>
                <a:spcPts val="0"/>
              </a:spcAft>
              <a:buClr>
                <a:schemeClr val="dk1"/>
              </a:buClr>
              <a:buSzPts val="1800"/>
              <a:buChar char="•"/>
              <a:defRPr sz="1800"/>
            </a:lvl3pPr>
            <a:lvl4pPr marL="1828800" lvl="3" indent="-342900" algn="l">
              <a:lnSpc>
                <a:spcPct val="110000"/>
              </a:lnSpc>
              <a:spcBef>
                <a:spcPts val="1000"/>
              </a:spcBef>
              <a:spcAft>
                <a:spcPts val="0"/>
              </a:spcAft>
              <a:buClr>
                <a:schemeClr val="dk1"/>
              </a:buClr>
              <a:buSzPts val="1800"/>
              <a:buChar char="•"/>
              <a:defRPr sz="1800"/>
            </a:lvl4pPr>
            <a:lvl5pPr marL="2286000" lvl="4" indent="-342900" algn="l">
              <a:lnSpc>
                <a:spcPct val="110000"/>
              </a:lnSpc>
              <a:spcBef>
                <a:spcPts val="1000"/>
              </a:spcBef>
              <a:spcAft>
                <a:spcPts val="0"/>
              </a:spcAft>
              <a:buClr>
                <a:schemeClr val="dk1"/>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9"/>
          <p:cNvSpPr txBox="1">
            <a:spLocks noGrp="1"/>
          </p:cNvSpPr>
          <p:nvPr>
            <p:ph type="dt" idx="10"/>
          </p:nvPr>
        </p:nvSpPr>
        <p:spPr>
          <a:xfrm>
            <a:off x="905256"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9"/>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3 column">
  <p:cSld name="Comparison 3 column">
    <p:spTree>
      <p:nvGrpSpPr>
        <p:cNvPr id="1" name="Shape 86"/>
        <p:cNvGrpSpPr/>
        <p:nvPr/>
      </p:nvGrpSpPr>
      <p:grpSpPr>
        <a:xfrm>
          <a:off x="0" y="0"/>
          <a:ext cx="0" cy="0"/>
          <a:chOff x="0" y="0"/>
          <a:chExt cx="0" cy="0"/>
        </a:xfrm>
      </p:grpSpPr>
      <p:sp>
        <p:nvSpPr>
          <p:cNvPr id="87" name="Google Shape;87;p10"/>
          <p:cNvSpPr/>
          <p:nvPr/>
        </p:nvSpPr>
        <p:spPr>
          <a:xfrm>
            <a:off x="558209" y="0"/>
            <a:ext cx="11167447" cy="2018806"/>
          </a:xfrm>
          <a:prstGeom prst="rect">
            <a:avLst/>
          </a:prstGeom>
          <a:solidFill>
            <a:schemeClr val="lt1"/>
          </a:solidFill>
          <a:ln w="9525" cap="flat" cmpd="sng">
            <a:solidFill>
              <a:srgbClr val="E8E8E8"/>
            </a:solidFill>
            <a:prstDash val="solid"/>
            <a:miter lim="800000"/>
            <a:headEnd type="none" w="sm" len="sm"/>
            <a:tailEnd type="none" w="sm" len="sm"/>
          </a:ln>
          <a:effectLst>
            <a:outerShdw blurRad="50800" dist="38100" dir="2700000" algn="tl" rotWithShape="0">
              <a:srgbClr val="D8D8D8">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88" name="Google Shape;88;p10"/>
          <p:cNvSpPr/>
          <p:nvPr/>
        </p:nvSpPr>
        <p:spPr>
          <a:xfrm>
            <a:off x="498834" y="787352"/>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89" name="Google Shape;89;p10"/>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Avenir"/>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0"/>
          <p:cNvSpPr txBox="1">
            <a:spLocks noGrp="1"/>
          </p:cNvSpPr>
          <p:nvPr>
            <p:ph type="body" idx="1"/>
          </p:nvPr>
        </p:nvSpPr>
        <p:spPr>
          <a:xfrm>
            <a:off x="576072" y="2372650"/>
            <a:ext cx="32918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2400"/>
              <a:buNone/>
              <a:defRPr sz="2400" b="1" cap="none"/>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1" name="Google Shape;91;p10"/>
          <p:cNvSpPr txBox="1">
            <a:spLocks noGrp="1"/>
          </p:cNvSpPr>
          <p:nvPr>
            <p:ph type="body" idx="2"/>
          </p:nvPr>
        </p:nvSpPr>
        <p:spPr>
          <a:xfrm>
            <a:off x="576072" y="3203688"/>
            <a:ext cx="3291840" cy="2968512"/>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sz="1800"/>
            </a:lvl1pPr>
            <a:lvl2pPr marL="914400" lvl="1" indent="-342900" algn="l">
              <a:lnSpc>
                <a:spcPct val="110000"/>
              </a:lnSpc>
              <a:spcBef>
                <a:spcPts val="1000"/>
              </a:spcBef>
              <a:spcAft>
                <a:spcPts val="0"/>
              </a:spcAft>
              <a:buClr>
                <a:schemeClr val="dk1"/>
              </a:buClr>
              <a:buSzPts val="1800"/>
              <a:buChar char="•"/>
              <a:defRPr sz="1800"/>
            </a:lvl2pPr>
            <a:lvl3pPr marL="1371600" lvl="2" indent="-342900" algn="l">
              <a:lnSpc>
                <a:spcPct val="110000"/>
              </a:lnSpc>
              <a:spcBef>
                <a:spcPts val="1000"/>
              </a:spcBef>
              <a:spcAft>
                <a:spcPts val="0"/>
              </a:spcAft>
              <a:buClr>
                <a:schemeClr val="dk1"/>
              </a:buClr>
              <a:buSzPts val="1800"/>
              <a:buChar char="•"/>
              <a:defRPr sz="1800"/>
            </a:lvl3pPr>
            <a:lvl4pPr marL="1828800" lvl="3" indent="-342900" algn="l">
              <a:lnSpc>
                <a:spcPct val="110000"/>
              </a:lnSpc>
              <a:spcBef>
                <a:spcPts val="1000"/>
              </a:spcBef>
              <a:spcAft>
                <a:spcPts val="0"/>
              </a:spcAft>
              <a:buClr>
                <a:schemeClr val="dk1"/>
              </a:buClr>
              <a:buSzPts val="1800"/>
              <a:buChar char="•"/>
              <a:defRPr sz="1800"/>
            </a:lvl4pPr>
            <a:lvl5pPr marL="2286000" lvl="4" indent="-342900" algn="l">
              <a:lnSpc>
                <a:spcPct val="110000"/>
              </a:lnSpc>
              <a:spcBef>
                <a:spcPts val="1000"/>
              </a:spcBef>
              <a:spcAft>
                <a:spcPts val="0"/>
              </a:spcAft>
              <a:buClr>
                <a:schemeClr val="dk1"/>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10"/>
          <p:cNvSpPr txBox="1">
            <a:spLocks noGrp="1"/>
          </p:cNvSpPr>
          <p:nvPr>
            <p:ph type="body" idx="3"/>
          </p:nvPr>
        </p:nvSpPr>
        <p:spPr>
          <a:xfrm>
            <a:off x="4507992" y="2372650"/>
            <a:ext cx="32918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2400"/>
              <a:buNone/>
              <a:defRPr sz="2400" b="1" cap="none"/>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3" name="Google Shape;93;p10"/>
          <p:cNvSpPr txBox="1">
            <a:spLocks noGrp="1"/>
          </p:cNvSpPr>
          <p:nvPr>
            <p:ph type="body" idx="4"/>
          </p:nvPr>
        </p:nvSpPr>
        <p:spPr>
          <a:xfrm>
            <a:off x="4507992" y="3203687"/>
            <a:ext cx="3291840" cy="2968511"/>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sz="1800"/>
            </a:lvl1pPr>
            <a:lvl2pPr marL="914400" lvl="1" indent="-342900" algn="l">
              <a:lnSpc>
                <a:spcPct val="110000"/>
              </a:lnSpc>
              <a:spcBef>
                <a:spcPts val="1000"/>
              </a:spcBef>
              <a:spcAft>
                <a:spcPts val="0"/>
              </a:spcAft>
              <a:buClr>
                <a:schemeClr val="dk1"/>
              </a:buClr>
              <a:buSzPts val="1800"/>
              <a:buChar char="•"/>
              <a:defRPr sz="1800"/>
            </a:lvl2pPr>
            <a:lvl3pPr marL="1371600" lvl="2" indent="-342900" algn="l">
              <a:lnSpc>
                <a:spcPct val="110000"/>
              </a:lnSpc>
              <a:spcBef>
                <a:spcPts val="1000"/>
              </a:spcBef>
              <a:spcAft>
                <a:spcPts val="0"/>
              </a:spcAft>
              <a:buClr>
                <a:schemeClr val="dk1"/>
              </a:buClr>
              <a:buSzPts val="1800"/>
              <a:buChar char="•"/>
              <a:defRPr sz="1800"/>
            </a:lvl3pPr>
            <a:lvl4pPr marL="1828800" lvl="3" indent="-342900" algn="l">
              <a:lnSpc>
                <a:spcPct val="110000"/>
              </a:lnSpc>
              <a:spcBef>
                <a:spcPts val="1000"/>
              </a:spcBef>
              <a:spcAft>
                <a:spcPts val="0"/>
              </a:spcAft>
              <a:buClr>
                <a:schemeClr val="dk1"/>
              </a:buClr>
              <a:buSzPts val="1800"/>
              <a:buChar char="•"/>
              <a:defRPr sz="1800"/>
            </a:lvl4pPr>
            <a:lvl5pPr marL="2286000" lvl="4" indent="-342900" algn="l">
              <a:lnSpc>
                <a:spcPct val="110000"/>
              </a:lnSpc>
              <a:spcBef>
                <a:spcPts val="1000"/>
              </a:spcBef>
              <a:spcAft>
                <a:spcPts val="0"/>
              </a:spcAft>
              <a:buClr>
                <a:schemeClr val="dk1"/>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4" name="Google Shape;94;p10"/>
          <p:cNvSpPr txBox="1">
            <a:spLocks noGrp="1"/>
          </p:cNvSpPr>
          <p:nvPr>
            <p:ph type="dt" idx="10"/>
          </p:nvPr>
        </p:nvSpPr>
        <p:spPr>
          <a:xfrm>
            <a:off x="905256"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0"/>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0"/>
          <p:cNvSpPr txBox="1">
            <a:spLocks noGrp="1"/>
          </p:cNvSpPr>
          <p:nvPr>
            <p:ph type="body" idx="5"/>
          </p:nvPr>
        </p:nvSpPr>
        <p:spPr>
          <a:xfrm>
            <a:off x="8439912" y="2372650"/>
            <a:ext cx="32918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Clr>
                <a:schemeClr val="dk1"/>
              </a:buClr>
              <a:buSzPts val="2400"/>
              <a:buNone/>
              <a:defRPr sz="2400" b="1" cap="none"/>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8" name="Google Shape;98;p10"/>
          <p:cNvSpPr txBox="1">
            <a:spLocks noGrp="1"/>
          </p:cNvSpPr>
          <p:nvPr>
            <p:ph type="body" idx="6"/>
          </p:nvPr>
        </p:nvSpPr>
        <p:spPr>
          <a:xfrm>
            <a:off x="8439912" y="3203687"/>
            <a:ext cx="3291840" cy="2968511"/>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Clr>
                <a:schemeClr val="dk1"/>
              </a:buClr>
              <a:buSzPts val="1800"/>
              <a:buChar char="•"/>
              <a:defRPr sz="1800"/>
            </a:lvl1pPr>
            <a:lvl2pPr marL="914400" lvl="1" indent="-342900" algn="l">
              <a:lnSpc>
                <a:spcPct val="110000"/>
              </a:lnSpc>
              <a:spcBef>
                <a:spcPts val="1000"/>
              </a:spcBef>
              <a:spcAft>
                <a:spcPts val="0"/>
              </a:spcAft>
              <a:buClr>
                <a:schemeClr val="dk1"/>
              </a:buClr>
              <a:buSzPts val="1800"/>
              <a:buChar char="•"/>
              <a:defRPr sz="1800"/>
            </a:lvl2pPr>
            <a:lvl3pPr marL="1371600" lvl="2" indent="-342900" algn="l">
              <a:lnSpc>
                <a:spcPct val="110000"/>
              </a:lnSpc>
              <a:spcBef>
                <a:spcPts val="1000"/>
              </a:spcBef>
              <a:spcAft>
                <a:spcPts val="0"/>
              </a:spcAft>
              <a:buClr>
                <a:schemeClr val="dk1"/>
              </a:buClr>
              <a:buSzPts val="1800"/>
              <a:buChar char="•"/>
              <a:defRPr sz="1800"/>
            </a:lvl3pPr>
            <a:lvl4pPr marL="1828800" lvl="3" indent="-342900" algn="l">
              <a:lnSpc>
                <a:spcPct val="110000"/>
              </a:lnSpc>
              <a:spcBef>
                <a:spcPts val="1000"/>
              </a:spcBef>
              <a:spcAft>
                <a:spcPts val="0"/>
              </a:spcAft>
              <a:buClr>
                <a:schemeClr val="dk1"/>
              </a:buClr>
              <a:buSzPts val="1800"/>
              <a:buChar char="•"/>
              <a:defRPr sz="1800"/>
            </a:lvl4pPr>
            <a:lvl5pPr marL="2286000" lvl="4" indent="-342900" algn="l">
              <a:lnSpc>
                <a:spcPct val="110000"/>
              </a:lnSpc>
              <a:spcBef>
                <a:spcPts val="1000"/>
              </a:spcBef>
              <a:spcAft>
                <a:spcPts val="0"/>
              </a:spcAft>
              <a:buClr>
                <a:schemeClr val="dk1"/>
              </a:buClr>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with 3 pictures">
  <p:cSld name="Title and Content with 3 pictures">
    <p:spTree>
      <p:nvGrpSpPr>
        <p:cNvPr id="1" name="Shape 99"/>
        <p:cNvGrpSpPr/>
        <p:nvPr/>
      </p:nvGrpSpPr>
      <p:grpSpPr>
        <a:xfrm>
          <a:off x="0" y="0"/>
          <a:ext cx="0" cy="0"/>
          <a:chOff x="0" y="0"/>
          <a:chExt cx="0" cy="0"/>
        </a:xfrm>
      </p:grpSpPr>
      <p:sp>
        <p:nvSpPr>
          <p:cNvPr id="100" name="Google Shape;100;p11"/>
          <p:cNvSpPr/>
          <p:nvPr/>
        </p:nvSpPr>
        <p:spPr>
          <a:xfrm>
            <a:off x="409575" y="633619"/>
            <a:ext cx="4927413" cy="5495925"/>
          </a:xfrm>
          <a:prstGeom prst="rect">
            <a:avLst/>
          </a:prstGeom>
          <a:solidFill>
            <a:schemeClr val="lt1"/>
          </a:solidFill>
          <a:ln w="9525" cap="flat" cmpd="sng">
            <a:solidFill>
              <a:srgbClr val="E8E8E8"/>
            </a:solidFill>
            <a:prstDash val="solid"/>
            <a:miter lim="800000"/>
            <a:headEnd type="none" w="sm" len="sm"/>
            <a:tailEnd type="none" w="sm" len="sm"/>
          </a:ln>
          <a:effectLst>
            <a:outerShdw blurRad="50800" dist="38100" dir="2700000" algn="tl" rotWithShape="0">
              <a:srgbClr val="D8D8D8">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01" name="Google Shape;101;p11"/>
          <p:cNvSpPr txBox="1">
            <a:spLocks noGrp="1"/>
          </p:cNvSpPr>
          <p:nvPr>
            <p:ph type="title"/>
          </p:nvPr>
        </p:nvSpPr>
        <p:spPr>
          <a:xfrm>
            <a:off x="841248" y="978408"/>
            <a:ext cx="4059936" cy="11064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800"/>
              <a:buFont typeface="Avenir"/>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1"/>
          <p:cNvSpPr txBox="1">
            <a:spLocks noGrp="1"/>
          </p:cNvSpPr>
          <p:nvPr>
            <p:ph type="body" idx="1"/>
          </p:nvPr>
        </p:nvSpPr>
        <p:spPr>
          <a:xfrm>
            <a:off x="841248" y="2359152"/>
            <a:ext cx="4059936" cy="342900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800"/>
              <a:buNone/>
              <a:defRPr sz="1800"/>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11"/>
          <p:cNvSpPr>
            <a:spLocks noGrp="1"/>
          </p:cNvSpPr>
          <p:nvPr>
            <p:ph type="pic" idx="2"/>
          </p:nvPr>
        </p:nvSpPr>
        <p:spPr>
          <a:xfrm>
            <a:off x="8961120" y="566928"/>
            <a:ext cx="2871216" cy="2340864"/>
          </a:xfrm>
          <a:prstGeom prst="rect">
            <a:avLst/>
          </a:prstGeom>
          <a:noFill/>
          <a:ln>
            <a:noFill/>
          </a:ln>
        </p:spPr>
      </p:sp>
      <p:sp>
        <p:nvSpPr>
          <p:cNvPr id="104" name="Google Shape;104;p11"/>
          <p:cNvSpPr>
            <a:spLocks noGrp="1"/>
          </p:cNvSpPr>
          <p:nvPr>
            <p:ph type="pic" idx="3"/>
          </p:nvPr>
        </p:nvSpPr>
        <p:spPr>
          <a:xfrm>
            <a:off x="5843016" y="566928"/>
            <a:ext cx="2871216" cy="2340864"/>
          </a:xfrm>
          <a:prstGeom prst="rect">
            <a:avLst/>
          </a:prstGeom>
          <a:noFill/>
          <a:ln>
            <a:noFill/>
          </a:ln>
        </p:spPr>
      </p:sp>
      <p:sp>
        <p:nvSpPr>
          <p:cNvPr id="105" name="Google Shape;105;p11"/>
          <p:cNvSpPr/>
          <p:nvPr/>
        </p:nvSpPr>
        <p:spPr>
          <a:xfrm>
            <a:off x="345567" y="1170432"/>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06" name="Google Shape;106;p11"/>
          <p:cNvSpPr/>
          <p:nvPr/>
        </p:nvSpPr>
        <p:spPr>
          <a:xfrm>
            <a:off x="877459" y="2121408"/>
            <a:ext cx="3958650" cy="9144"/>
          </a:xfrm>
          <a:prstGeom prst="rect">
            <a:avLst/>
          </a:prstGeom>
          <a:solidFill>
            <a:srgbClr val="C8C8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07" name="Google Shape;107;p11"/>
          <p:cNvSpPr>
            <a:spLocks noGrp="1"/>
          </p:cNvSpPr>
          <p:nvPr>
            <p:ph type="pic" idx="4"/>
          </p:nvPr>
        </p:nvSpPr>
        <p:spPr>
          <a:xfrm>
            <a:off x="5843016" y="3108960"/>
            <a:ext cx="5989320" cy="3054096"/>
          </a:xfrm>
          <a:prstGeom prst="rect">
            <a:avLst/>
          </a:prstGeom>
          <a:noFill/>
          <a:ln>
            <a:noFill/>
          </a:ln>
        </p:spPr>
      </p:sp>
      <p:sp>
        <p:nvSpPr>
          <p:cNvPr id="108" name="Google Shape;108;p11"/>
          <p:cNvSpPr txBox="1">
            <a:spLocks noGrp="1"/>
          </p:cNvSpPr>
          <p:nvPr>
            <p:ph type="dt" idx="10"/>
          </p:nvPr>
        </p:nvSpPr>
        <p:spPr>
          <a:xfrm>
            <a:off x="905256"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1"/>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with 4 pictures">
  <p:cSld name="Title and Content with 4 pictures">
    <p:spTree>
      <p:nvGrpSpPr>
        <p:cNvPr id="1" name="Shape 111"/>
        <p:cNvGrpSpPr/>
        <p:nvPr/>
      </p:nvGrpSpPr>
      <p:grpSpPr>
        <a:xfrm>
          <a:off x="0" y="0"/>
          <a:ext cx="0" cy="0"/>
          <a:chOff x="0" y="0"/>
          <a:chExt cx="0" cy="0"/>
        </a:xfrm>
      </p:grpSpPr>
      <p:sp>
        <p:nvSpPr>
          <p:cNvPr id="112" name="Google Shape;112;p12"/>
          <p:cNvSpPr/>
          <p:nvPr/>
        </p:nvSpPr>
        <p:spPr>
          <a:xfrm>
            <a:off x="7324344" y="630936"/>
            <a:ext cx="4517136" cy="5495925"/>
          </a:xfrm>
          <a:prstGeom prst="rect">
            <a:avLst/>
          </a:prstGeom>
          <a:solidFill>
            <a:schemeClr val="lt1"/>
          </a:solidFill>
          <a:ln w="9525" cap="flat" cmpd="sng">
            <a:solidFill>
              <a:srgbClr val="E8E8E8"/>
            </a:solidFill>
            <a:prstDash val="solid"/>
            <a:miter lim="800000"/>
            <a:headEnd type="none" w="sm" len="sm"/>
            <a:tailEnd type="none" w="sm" len="sm"/>
          </a:ln>
          <a:effectLst>
            <a:outerShdw blurRad="50800" dist="38100" dir="2700000" algn="tl" rotWithShape="0">
              <a:srgbClr val="D8D8D8">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13" name="Google Shape;113;p12"/>
          <p:cNvSpPr txBox="1">
            <a:spLocks noGrp="1"/>
          </p:cNvSpPr>
          <p:nvPr>
            <p:ph type="title"/>
          </p:nvPr>
        </p:nvSpPr>
        <p:spPr>
          <a:xfrm>
            <a:off x="7772400" y="978408"/>
            <a:ext cx="3721608" cy="110642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2800"/>
              <a:buFont typeface="Avenir"/>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12"/>
          <p:cNvSpPr>
            <a:spLocks noGrp="1"/>
          </p:cNvSpPr>
          <p:nvPr>
            <p:ph type="pic" idx="2"/>
          </p:nvPr>
        </p:nvSpPr>
        <p:spPr>
          <a:xfrm>
            <a:off x="3767328" y="630936"/>
            <a:ext cx="3246120" cy="2688336"/>
          </a:xfrm>
          <a:prstGeom prst="rect">
            <a:avLst/>
          </a:prstGeom>
          <a:noFill/>
          <a:ln>
            <a:noFill/>
          </a:ln>
        </p:spPr>
      </p:sp>
      <p:sp>
        <p:nvSpPr>
          <p:cNvPr id="115" name="Google Shape;115;p12"/>
          <p:cNvSpPr>
            <a:spLocks noGrp="1"/>
          </p:cNvSpPr>
          <p:nvPr>
            <p:ph type="pic" idx="3"/>
          </p:nvPr>
        </p:nvSpPr>
        <p:spPr>
          <a:xfrm>
            <a:off x="411480" y="630936"/>
            <a:ext cx="3246120" cy="2688336"/>
          </a:xfrm>
          <a:prstGeom prst="rect">
            <a:avLst/>
          </a:prstGeom>
          <a:noFill/>
          <a:ln>
            <a:noFill/>
          </a:ln>
        </p:spPr>
      </p:sp>
      <p:sp>
        <p:nvSpPr>
          <p:cNvPr id="116" name="Google Shape;116;p12"/>
          <p:cNvSpPr/>
          <p:nvPr/>
        </p:nvSpPr>
        <p:spPr>
          <a:xfrm>
            <a:off x="7260336" y="1179576"/>
            <a:ext cx="128016" cy="7040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17" name="Google Shape;117;p12"/>
          <p:cNvSpPr>
            <a:spLocks noGrp="1"/>
          </p:cNvSpPr>
          <p:nvPr>
            <p:ph type="pic" idx="4"/>
          </p:nvPr>
        </p:nvSpPr>
        <p:spPr>
          <a:xfrm>
            <a:off x="411480" y="3438144"/>
            <a:ext cx="3246120" cy="2688336"/>
          </a:xfrm>
          <a:prstGeom prst="rect">
            <a:avLst/>
          </a:prstGeom>
          <a:noFill/>
          <a:ln>
            <a:noFill/>
          </a:ln>
        </p:spPr>
      </p:sp>
      <p:sp>
        <p:nvSpPr>
          <p:cNvPr id="118" name="Google Shape;118;p12"/>
          <p:cNvSpPr txBox="1">
            <a:spLocks noGrp="1"/>
          </p:cNvSpPr>
          <p:nvPr>
            <p:ph type="dt" idx="10"/>
          </p:nvPr>
        </p:nvSpPr>
        <p:spPr>
          <a:xfrm>
            <a:off x="905256"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2"/>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1" name="Google Shape;121;p12"/>
          <p:cNvSpPr/>
          <p:nvPr/>
        </p:nvSpPr>
        <p:spPr>
          <a:xfrm>
            <a:off x="7792216" y="2185416"/>
            <a:ext cx="3683187" cy="9144"/>
          </a:xfrm>
          <a:prstGeom prst="rect">
            <a:avLst/>
          </a:prstGeom>
          <a:solidFill>
            <a:srgbClr val="C8C8C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22" name="Google Shape;122;p12"/>
          <p:cNvSpPr>
            <a:spLocks noGrp="1"/>
          </p:cNvSpPr>
          <p:nvPr>
            <p:ph type="pic" idx="5"/>
          </p:nvPr>
        </p:nvSpPr>
        <p:spPr>
          <a:xfrm>
            <a:off x="3767328" y="3438144"/>
            <a:ext cx="3246120" cy="2688336"/>
          </a:xfrm>
          <a:prstGeom prst="rect">
            <a:avLst/>
          </a:prstGeom>
          <a:noFill/>
          <a:ln>
            <a:noFill/>
          </a:ln>
        </p:spPr>
      </p:sp>
      <p:sp>
        <p:nvSpPr>
          <p:cNvPr id="123" name="Google Shape;123;p12"/>
          <p:cNvSpPr txBox="1">
            <a:spLocks noGrp="1"/>
          </p:cNvSpPr>
          <p:nvPr>
            <p:ph type="body" idx="1"/>
          </p:nvPr>
        </p:nvSpPr>
        <p:spPr>
          <a:xfrm>
            <a:off x="7772400" y="3099816"/>
            <a:ext cx="3721100" cy="447675"/>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600"/>
              <a:buNone/>
              <a:defRPr sz="1600"/>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4" name="Google Shape;124;p12"/>
          <p:cNvSpPr txBox="1">
            <a:spLocks noGrp="1"/>
          </p:cNvSpPr>
          <p:nvPr>
            <p:ph type="body" idx="6"/>
          </p:nvPr>
        </p:nvSpPr>
        <p:spPr>
          <a:xfrm>
            <a:off x="7772400" y="4215384"/>
            <a:ext cx="3721100" cy="447675"/>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600"/>
              <a:buNone/>
              <a:defRPr sz="1600"/>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5" name="Google Shape;125;p12"/>
          <p:cNvSpPr txBox="1">
            <a:spLocks noGrp="1"/>
          </p:cNvSpPr>
          <p:nvPr>
            <p:ph type="body" idx="7"/>
          </p:nvPr>
        </p:nvSpPr>
        <p:spPr>
          <a:xfrm>
            <a:off x="7772400" y="5321808"/>
            <a:ext cx="3721100" cy="447675"/>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600"/>
              <a:buNone/>
              <a:defRPr sz="1600"/>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p12"/>
          <p:cNvSpPr>
            <a:spLocks noGrp="1"/>
          </p:cNvSpPr>
          <p:nvPr>
            <p:ph type="pic" idx="8"/>
          </p:nvPr>
        </p:nvSpPr>
        <p:spPr>
          <a:xfrm>
            <a:off x="7772400" y="2532888"/>
            <a:ext cx="457200" cy="457200"/>
          </a:xfrm>
          <a:prstGeom prst="rect">
            <a:avLst/>
          </a:prstGeom>
          <a:noFill/>
          <a:ln>
            <a:noFill/>
          </a:ln>
        </p:spPr>
      </p:sp>
      <p:sp>
        <p:nvSpPr>
          <p:cNvPr id="127" name="Google Shape;127;p12"/>
          <p:cNvSpPr>
            <a:spLocks noGrp="1"/>
          </p:cNvSpPr>
          <p:nvPr>
            <p:ph type="pic" idx="9"/>
          </p:nvPr>
        </p:nvSpPr>
        <p:spPr>
          <a:xfrm>
            <a:off x="7772400" y="3630168"/>
            <a:ext cx="457200" cy="457200"/>
          </a:xfrm>
          <a:prstGeom prst="rect">
            <a:avLst/>
          </a:prstGeom>
          <a:noFill/>
          <a:ln>
            <a:noFill/>
          </a:ln>
        </p:spPr>
      </p:sp>
      <p:sp>
        <p:nvSpPr>
          <p:cNvPr id="128" name="Google Shape;128;p12"/>
          <p:cNvSpPr>
            <a:spLocks noGrp="1"/>
          </p:cNvSpPr>
          <p:nvPr>
            <p:ph type="pic" idx="13"/>
          </p:nvPr>
        </p:nvSpPr>
        <p:spPr>
          <a:xfrm>
            <a:off x="7772400" y="4754880"/>
            <a:ext cx="457200" cy="4572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9"/>
        <p:cNvGrpSpPr/>
        <p:nvPr/>
      </p:nvGrpSpPr>
      <p:grpSpPr>
        <a:xfrm>
          <a:off x="0" y="0"/>
          <a:ext cx="0" cy="0"/>
          <a:chOff x="0" y="0"/>
          <a:chExt cx="0" cy="0"/>
        </a:xfrm>
      </p:grpSpPr>
      <p:sp>
        <p:nvSpPr>
          <p:cNvPr id="130" name="Google Shape;130;p13"/>
          <p:cNvSpPr/>
          <p:nvPr/>
        </p:nvSpPr>
        <p:spPr>
          <a:xfrm>
            <a:off x="665853" y="1533525"/>
            <a:ext cx="10917063" cy="3790950"/>
          </a:xfrm>
          <a:prstGeom prst="rect">
            <a:avLst/>
          </a:prstGeom>
          <a:solidFill>
            <a:schemeClr val="lt1"/>
          </a:solidFill>
          <a:ln w="12700" cap="flat" cmpd="sng">
            <a:solidFill>
              <a:srgbClr val="E8E8E8"/>
            </a:solidFill>
            <a:prstDash val="solid"/>
            <a:miter lim="800000"/>
            <a:headEnd type="none" w="sm" len="sm"/>
            <a:tailEnd type="none" w="sm" len="sm"/>
          </a:ln>
          <a:effectLst>
            <a:outerShdw blurRad="50800" dist="38100" dir="2700000" algn="tl" rotWithShape="0">
              <a:srgbClr val="D8D8D8">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31" name="Google Shape;131;p13"/>
          <p:cNvSpPr/>
          <p:nvPr/>
        </p:nvSpPr>
        <p:spPr>
          <a:xfrm>
            <a:off x="609084" y="2971798"/>
            <a:ext cx="128016" cy="914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32" name="Google Shape;132;p13"/>
          <p:cNvSpPr txBox="1">
            <a:spLocks noGrp="1"/>
          </p:cNvSpPr>
          <p:nvPr>
            <p:ph type="title"/>
          </p:nvPr>
        </p:nvSpPr>
        <p:spPr>
          <a:xfrm>
            <a:off x="1078992" y="1938528"/>
            <a:ext cx="10177272" cy="29900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5400"/>
              <a:buFont typeface="Avenir"/>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6"/>
        <p:cNvGrpSpPr/>
        <p:nvPr/>
      </p:nvGrpSpPr>
      <p:grpSpPr>
        <a:xfrm>
          <a:off x="0" y="0"/>
          <a:ext cx="0" cy="0"/>
          <a:chOff x="0" y="0"/>
          <a:chExt cx="0" cy="0"/>
        </a:xfrm>
      </p:grpSpPr>
      <p:sp>
        <p:nvSpPr>
          <p:cNvPr id="137" name="Google Shape;137;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0"/>
        <p:cNvGrpSpPr/>
        <p:nvPr/>
      </p:nvGrpSpPr>
      <p:grpSpPr>
        <a:xfrm>
          <a:off x="0" y="0"/>
          <a:ext cx="0" cy="0"/>
          <a:chOff x="0" y="0"/>
          <a:chExt cx="0" cy="0"/>
        </a:xfrm>
      </p:grpSpPr>
      <p:sp>
        <p:nvSpPr>
          <p:cNvPr id="141" name="Google Shape;141;p15"/>
          <p:cNvSpPr/>
          <p:nvPr/>
        </p:nvSpPr>
        <p:spPr>
          <a:xfrm>
            <a:off x="558210" y="1162033"/>
            <a:ext cx="3740740" cy="4643344"/>
          </a:xfrm>
          <a:prstGeom prst="rect">
            <a:avLst/>
          </a:prstGeom>
          <a:solidFill>
            <a:schemeClr val="lt1"/>
          </a:solidFill>
          <a:ln w="12700" cap="flat" cmpd="sng">
            <a:solidFill>
              <a:srgbClr val="E8E8E8"/>
            </a:solidFill>
            <a:prstDash val="solid"/>
            <a:miter lim="800000"/>
            <a:headEnd type="none" w="sm" len="sm"/>
            <a:tailEnd type="none" w="sm" len="sm"/>
          </a:ln>
          <a:effectLst>
            <a:outerShdw blurRad="50800" dist="38100" dir="2700000" algn="tl" rotWithShape="0">
              <a:srgbClr val="D8D8D8">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42" name="Google Shape;142;p15"/>
          <p:cNvSpPr/>
          <p:nvPr/>
        </p:nvSpPr>
        <p:spPr>
          <a:xfrm>
            <a:off x="498834" y="1618375"/>
            <a:ext cx="146304" cy="8229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43" name="Google Shape;143;p15"/>
          <p:cNvSpPr txBox="1">
            <a:spLocks noGrp="1"/>
          </p:cNvSpPr>
          <p:nvPr>
            <p:ph type="title"/>
          </p:nvPr>
        </p:nvSpPr>
        <p:spPr>
          <a:xfrm>
            <a:off x="868680" y="1709928"/>
            <a:ext cx="3099816" cy="170992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3400"/>
              <a:buFont typeface="Avenir"/>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4" name="Google Shape;144;p15"/>
          <p:cNvSpPr txBox="1">
            <a:spLocks noGrp="1"/>
          </p:cNvSpPr>
          <p:nvPr>
            <p:ph type="body" idx="1"/>
          </p:nvPr>
        </p:nvSpPr>
        <p:spPr>
          <a:xfrm>
            <a:off x="4965192" y="1709928"/>
            <a:ext cx="6729984" cy="4096512"/>
          </a:xfrm>
          <a:prstGeom prst="rect">
            <a:avLst/>
          </a:prstGeom>
          <a:noFill/>
          <a:ln>
            <a:noFill/>
          </a:ln>
        </p:spPr>
        <p:txBody>
          <a:bodyPr spcFirstLastPara="1" wrap="square" lIns="91425" tIns="45700" rIns="91425" bIns="45700" anchor="t" anchorCtr="0">
            <a:normAutofit/>
          </a:bodyPr>
          <a:lstStyle>
            <a:lvl1pPr marL="457200" lvl="0" indent="-406400" algn="l">
              <a:lnSpc>
                <a:spcPct val="110000"/>
              </a:lnSpc>
              <a:spcBef>
                <a:spcPts val="1000"/>
              </a:spcBef>
              <a:spcAft>
                <a:spcPts val="0"/>
              </a:spcAft>
              <a:buClr>
                <a:schemeClr val="dk1"/>
              </a:buClr>
              <a:buSzPts val="2800"/>
              <a:buChar char="•"/>
              <a:defRPr sz="2800"/>
            </a:lvl1pPr>
            <a:lvl2pPr marL="914400" lvl="1" indent="-381000" algn="l">
              <a:lnSpc>
                <a:spcPct val="110000"/>
              </a:lnSpc>
              <a:spcBef>
                <a:spcPts val="500"/>
              </a:spcBef>
              <a:spcAft>
                <a:spcPts val="0"/>
              </a:spcAft>
              <a:buClr>
                <a:schemeClr val="dk1"/>
              </a:buClr>
              <a:buSzPts val="2400"/>
              <a:buChar char="•"/>
              <a:defRPr sz="2400"/>
            </a:lvl2pPr>
            <a:lvl3pPr marL="1371600" lvl="2" indent="-355600" algn="l">
              <a:lnSpc>
                <a:spcPct val="110000"/>
              </a:lnSpc>
              <a:spcBef>
                <a:spcPts val="500"/>
              </a:spcBef>
              <a:spcAft>
                <a:spcPts val="0"/>
              </a:spcAft>
              <a:buClr>
                <a:schemeClr val="dk1"/>
              </a:buClr>
              <a:buSzPts val="2000"/>
              <a:buChar char="•"/>
              <a:defRPr sz="20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45" name="Google Shape;145;p15"/>
          <p:cNvSpPr txBox="1">
            <a:spLocks noGrp="1"/>
          </p:cNvSpPr>
          <p:nvPr>
            <p:ph type="body" idx="2"/>
          </p:nvPr>
        </p:nvSpPr>
        <p:spPr>
          <a:xfrm>
            <a:off x="868680" y="3429000"/>
            <a:ext cx="3099816" cy="2066544"/>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800"/>
              <a:buNone/>
              <a:defRPr sz="18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6" name="Google Shape;146;p15"/>
          <p:cNvSpPr txBox="1">
            <a:spLocks noGrp="1"/>
          </p:cNvSpPr>
          <p:nvPr>
            <p:ph type="dt" idx="10"/>
          </p:nvPr>
        </p:nvSpPr>
        <p:spPr>
          <a:xfrm>
            <a:off x="86868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9"/>
        <p:cNvGrpSpPr/>
        <p:nvPr/>
      </p:nvGrpSpPr>
      <p:grpSpPr>
        <a:xfrm>
          <a:off x="0" y="0"/>
          <a:ext cx="0" cy="0"/>
          <a:chOff x="0" y="0"/>
          <a:chExt cx="0" cy="0"/>
        </a:xfrm>
      </p:grpSpPr>
      <p:sp>
        <p:nvSpPr>
          <p:cNvPr id="150" name="Google Shape;150;p16"/>
          <p:cNvSpPr/>
          <p:nvPr/>
        </p:nvSpPr>
        <p:spPr>
          <a:xfrm>
            <a:off x="558210" y="1162033"/>
            <a:ext cx="3740740" cy="4643344"/>
          </a:xfrm>
          <a:prstGeom prst="rect">
            <a:avLst/>
          </a:prstGeom>
          <a:solidFill>
            <a:schemeClr val="lt1"/>
          </a:solidFill>
          <a:ln w="12700" cap="flat" cmpd="sng">
            <a:solidFill>
              <a:srgbClr val="E8E8E8"/>
            </a:solidFill>
            <a:prstDash val="solid"/>
            <a:miter lim="800000"/>
            <a:headEnd type="none" w="sm" len="sm"/>
            <a:tailEnd type="none" w="sm" len="sm"/>
          </a:ln>
          <a:effectLst>
            <a:outerShdw blurRad="50800" dist="38100" dir="2700000" algn="tl" rotWithShape="0">
              <a:srgbClr val="D8D8D8">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51" name="Google Shape;151;p16"/>
          <p:cNvSpPr/>
          <p:nvPr/>
        </p:nvSpPr>
        <p:spPr>
          <a:xfrm>
            <a:off x="498834" y="1618375"/>
            <a:ext cx="146304" cy="8229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Calibri"/>
              <a:ea typeface="Calibri"/>
              <a:cs typeface="Calibri"/>
              <a:sym typeface="Calibri"/>
            </a:endParaRPr>
          </a:p>
        </p:txBody>
      </p:sp>
      <p:sp>
        <p:nvSpPr>
          <p:cNvPr id="152" name="Google Shape;152;p16"/>
          <p:cNvSpPr txBox="1">
            <a:spLocks noGrp="1"/>
          </p:cNvSpPr>
          <p:nvPr>
            <p:ph type="title"/>
          </p:nvPr>
        </p:nvSpPr>
        <p:spPr>
          <a:xfrm>
            <a:off x="868680" y="1709928"/>
            <a:ext cx="3099816" cy="1709928"/>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3400"/>
              <a:buFont typeface="Avenir"/>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3" name="Google Shape;153;p16"/>
          <p:cNvSpPr>
            <a:spLocks noGrp="1"/>
          </p:cNvSpPr>
          <p:nvPr>
            <p:ph type="pic" idx="2"/>
          </p:nvPr>
        </p:nvSpPr>
        <p:spPr>
          <a:xfrm>
            <a:off x="4965192" y="1161288"/>
            <a:ext cx="6729984" cy="4645152"/>
          </a:xfrm>
          <a:prstGeom prst="rect">
            <a:avLst/>
          </a:prstGeom>
          <a:noFill/>
          <a:ln>
            <a:noFill/>
          </a:ln>
        </p:spPr>
      </p:sp>
      <p:sp>
        <p:nvSpPr>
          <p:cNvPr id="154" name="Google Shape;154;p16"/>
          <p:cNvSpPr txBox="1">
            <a:spLocks noGrp="1"/>
          </p:cNvSpPr>
          <p:nvPr>
            <p:ph type="body" idx="1"/>
          </p:nvPr>
        </p:nvSpPr>
        <p:spPr>
          <a:xfrm>
            <a:off x="868680" y="3438144"/>
            <a:ext cx="3099816" cy="2057400"/>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Clr>
                <a:schemeClr val="dk1"/>
              </a:buClr>
              <a:buSzPts val="1800"/>
              <a:buNone/>
              <a:defRPr sz="18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5" name="Google Shape;155;p16"/>
          <p:cNvSpPr txBox="1">
            <a:spLocks noGrp="1"/>
          </p:cNvSpPr>
          <p:nvPr>
            <p:ph type="dt" idx="10"/>
          </p:nvPr>
        </p:nvSpPr>
        <p:spPr>
          <a:xfrm>
            <a:off x="86868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venir"/>
              <a:buNone/>
              <a:defRPr sz="4400" b="0" i="0" u="none" strike="noStrike" cap="none">
                <a:solidFill>
                  <a:schemeClr val="dk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1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11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11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venir"/>
                <a:ea typeface="Avenir"/>
                <a:cs typeface="Avenir"/>
                <a:sym typeface="Avenir"/>
              </a:defRPr>
            </a:lvl1pPr>
            <a:lvl2pPr marL="0" marR="0" lvl="1" indent="0" algn="r" rtl="0">
              <a:spcBef>
                <a:spcPts val="0"/>
              </a:spcBef>
              <a:buNone/>
              <a:defRPr sz="1200" b="0" i="0" u="none" strike="noStrike" cap="none">
                <a:solidFill>
                  <a:srgbClr val="888888"/>
                </a:solidFill>
                <a:latin typeface="Avenir"/>
                <a:ea typeface="Avenir"/>
                <a:cs typeface="Avenir"/>
                <a:sym typeface="Avenir"/>
              </a:defRPr>
            </a:lvl2pPr>
            <a:lvl3pPr marL="0" marR="0" lvl="2" indent="0" algn="r" rtl="0">
              <a:spcBef>
                <a:spcPts val="0"/>
              </a:spcBef>
              <a:buNone/>
              <a:defRPr sz="1200" b="0" i="0" u="none" strike="noStrike" cap="none">
                <a:solidFill>
                  <a:srgbClr val="888888"/>
                </a:solidFill>
                <a:latin typeface="Avenir"/>
                <a:ea typeface="Avenir"/>
                <a:cs typeface="Avenir"/>
                <a:sym typeface="Avenir"/>
              </a:defRPr>
            </a:lvl3pPr>
            <a:lvl4pPr marL="0" marR="0" lvl="3" indent="0" algn="r" rtl="0">
              <a:spcBef>
                <a:spcPts val="0"/>
              </a:spcBef>
              <a:buNone/>
              <a:defRPr sz="1200" b="0" i="0" u="none" strike="noStrike" cap="none">
                <a:solidFill>
                  <a:srgbClr val="888888"/>
                </a:solidFill>
                <a:latin typeface="Avenir"/>
                <a:ea typeface="Avenir"/>
                <a:cs typeface="Avenir"/>
                <a:sym typeface="Avenir"/>
              </a:defRPr>
            </a:lvl4pPr>
            <a:lvl5pPr marL="0" marR="0" lvl="4" indent="0" algn="r" rtl="0">
              <a:spcBef>
                <a:spcPts val="0"/>
              </a:spcBef>
              <a:buNone/>
              <a:defRPr sz="1200" b="0" i="0" u="none" strike="noStrike" cap="none">
                <a:solidFill>
                  <a:srgbClr val="888888"/>
                </a:solidFill>
                <a:latin typeface="Avenir"/>
                <a:ea typeface="Avenir"/>
                <a:cs typeface="Avenir"/>
                <a:sym typeface="Avenir"/>
              </a:defRPr>
            </a:lvl5pPr>
            <a:lvl6pPr marL="0" marR="0" lvl="5" indent="0" algn="r" rtl="0">
              <a:spcBef>
                <a:spcPts val="0"/>
              </a:spcBef>
              <a:buNone/>
              <a:defRPr sz="1200" b="0" i="0" u="none" strike="noStrike" cap="none">
                <a:solidFill>
                  <a:srgbClr val="888888"/>
                </a:solidFill>
                <a:latin typeface="Avenir"/>
                <a:ea typeface="Avenir"/>
                <a:cs typeface="Avenir"/>
                <a:sym typeface="Avenir"/>
              </a:defRPr>
            </a:lvl6pPr>
            <a:lvl7pPr marL="0" marR="0" lvl="6" indent="0" algn="r" rtl="0">
              <a:spcBef>
                <a:spcPts val="0"/>
              </a:spcBef>
              <a:buNone/>
              <a:defRPr sz="1200" b="0" i="0" u="none" strike="noStrike" cap="none">
                <a:solidFill>
                  <a:srgbClr val="888888"/>
                </a:solidFill>
                <a:latin typeface="Avenir"/>
                <a:ea typeface="Avenir"/>
                <a:cs typeface="Avenir"/>
                <a:sym typeface="Avenir"/>
              </a:defRPr>
            </a:lvl7pPr>
            <a:lvl8pPr marL="0" marR="0" lvl="7" indent="0" algn="r" rtl="0">
              <a:spcBef>
                <a:spcPts val="0"/>
              </a:spcBef>
              <a:buNone/>
              <a:defRPr sz="1200" b="0" i="0" u="none" strike="noStrike" cap="none">
                <a:solidFill>
                  <a:srgbClr val="888888"/>
                </a:solidFill>
                <a:latin typeface="Avenir"/>
                <a:ea typeface="Avenir"/>
                <a:cs typeface="Avenir"/>
                <a:sym typeface="Avenir"/>
              </a:defRPr>
            </a:lvl8pPr>
            <a:lvl9pPr marL="0" marR="0" lvl="8" indent="0" algn="r" rtl="0">
              <a:spcBef>
                <a:spcPts val="0"/>
              </a:spcBef>
              <a:buNone/>
              <a:defRPr sz="1200" b="0" i="0" u="none" strike="noStrike" cap="none">
                <a:solidFill>
                  <a:srgbClr val="888888"/>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users.ugent.be/~jvdrhoof/dataset-4g/"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7"/>
          <p:cNvSpPr txBox="1">
            <a:spLocks noGrp="1"/>
          </p:cNvSpPr>
          <p:nvPr>
            <p:ph type="ctrTitle"/>
          </p:nvPr>
        </p:nvSpPr>
        <p:spPr>
          <a:xfrm>
            <a:off x="1745975" y="1636250"/>
            <a:ext cx="8641500" cy="22044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Avenir"/>
              <a:buNone/>
            </a:pPr>
            <a:r>
              <a:rPr lang="en-US" sz="4000" dirty="0"/>
              <a:t>Performance evaluation of WebRTC for Bilateral Teleoperation: </a:t>
            </a:r>
            <a:br>
              <a:rPr lang="en-US" sz="4000" dirty="0"/>
            </a:br>
            <a:r>
              <a:rPr lang="en-US" sz="4000" dirty="0"/>
              <a:t>A Comparative Analysis of SCTP Stream Configurations. </a:t>
            </a:r>
            <a:br>
              <a:rPr lang="en-US" dirty="0"/>
            </a:br>
            <a:r>
              <a:rPr lang="en-US" sz="2400" dirty="0">
                <a:highlight>
                  <a:srgbClr val="FFFF00"/>
                </a:highlight>
              </a:rPr>
              <a:t>Capstone Project Presentation </a:t>
            </a:r>
            <a:endParaRPr dirty="0"/>
          </a:p>
        </p:txBody>
      </p:sp>
      <p:sp>
        <p:nvSpPr>
          <p:cNvPr id="164" name="Google Shape;164;p17"/>
          <p:cNvSpPr txBox="1">
            <a:spLocks noGrp="1"/>
          </p:cNvSpPr>
          <p:nvPr>
            <p:ph type="subTitle" idx="1"/>
          </p:nvPr>
        </p:nvSpPr>
        <p:spPr>
          <a:xfrm>
            <a:off x="2487168" y="4142232"/>
            <a:ext cx="7223760" cy="685800"/>
          </a:xfrm>
          <a:prstGeom prst="rect">
            <a:avLst/>
          </a:prstGeom>
          <a:solidFill>
            <a:schemeClr val="accent1"/>
          </a:solidFill>
          <a:ln>
            <a:noFill/>
          </a:ln>
        </p:spPr>
        <p:txBody>
          <a:bodyPr spcFirstLastPara="1" wrap="square" lIns="91425" tIns="45700" rIns="91425" bIns="45700" anchor="ctr" anchorCtr="0">
            <a:normAutofit fontScale="70000" lnSpcReduction="20000"/>
          </a:bodyPr>
          <a:lstStyle/>
          <a:p>
            <a:pPr marL="0" lvl="0" indent="0" algn="ctr" rtl="0">
              <a:lnSpc>
                <a:spcPct val="110000"/>
              </a:lnSpc>
              <a:spcBef>
                <a:spcPts val="0"/>
              </a:spcBef>
              <a:spcAft>
                <a:spcPts val="0"/>
              </a:spcAft>
              <a:buClr>
                <a:schemeClr val="lt1"/>
              </a:buClr>
              <a:buSzPct val="100000"/>
              <a:buNone/>
            </a:pPr>
            <a:r>
              <a:rPr lang="en-US"/>
              <a:t>Rushi Keswar Reddy Payasam</a:t>
            </a:r>
            <a:br>
              <a:rPr lang="en-US"/>
            </a:br>
            <a:r>
              <a:rPr lang="en-US"/>
              <a:t>CS24MTECH11018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8"/>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lvl="0"/>
            <a:r>
              <a:rPr lang="en-IN" dirty="0"/>
              <a:t>Problem Statement &amp; Motivation</a:t>
            </a:r>
            <a:endParaRPr dirty="0"/>
          </a:p>
        </p:txBody>
      </p:sp>
      <p:sp>
        <p:nvSpPr>
          <p:cNvPr id="170" name="Google Shape;170;p18"/>
          <p:cNvSpPr txBox="1">
            <a:spLocks noGrp="1"/>
          </p:cNvSpPr>
          <p:nvPr>
            <p:ph type="body" idx="1"/>
          </p:nvPr>
        </p:nvSpPr>
        <p:spPr>
          <a:xfrm>
            <a:off x="1115568" y="1920557"/>
            <a:ext cx="10168128" cy="4243451"/>
          </a:xfrm>
          <a:prstGeom prst="rect">
            <a:avLst/>
          </a:prstGeom>
          <a:noFill/>
          <a:ln>
            <a:noFill/>
          </a:ln>
        </p:spPr>
        <p:txBody>
          <a:bodyPr spcFirstLastPara="1" wrap="square" lIns="91425" tIns="45700" rIns="91425" bIns="45700" anchor="t" anchorCtr="0">
            <a:normAutofit fontScale="25000" lnSpcReduction="20000"/>
          </a:bodyPr>
          <a:lstStyle/>
          <a:p>
            <a:r>
              <a:rPr lang="en-IN" sz="7200" b="1" dirty="0"/>
              <a:t>Problem Statement:</a:t>
            </a:r>
            <a:endParaRPr lang="en-IN" sz="7200" dirty="0"/>
          </a:p>
          <a:p>
            <a:pPr lvl="1"/>
            <a:r>
              <a:rPr lang="en-IN" sz="7200" dirty="0"/>
              <a:t> High latency, jitter, and packet loss in long-distance networks disrupt the bilateral teleoperation control loop, causing severe robotic desynchronization or visual stuttering.</a:t>
            </a:r>
          </a:p>
          <a:p>
            <a:r>
              <a:rPr lang="en-IN" sz="7200" b="1" dirty="0"/>
              <a:t>Motivation:</a:t>
            </a:r>
            <a:endParaRPr lang="en-IN" sz="7200" dirty="0"/>
          </a:p>
          <a:p>
            <a:pPr lvl="1"/>
            <a:r>
              <a:rPr lang="en-IN" sz="7200" dirty="0"/>
              <a:t> Standard symmetric protocols (pure TCP or pure UDP) force an unacceptable compromise between operational reliability and transmission speed. Solving this is critical for safe, real-time remote robotics over unpredictable real-world networks.</a:t>
            </a:r>
          </a:p>
          <a:p>
            <a:r>
              <a:rPr lang="en-IN" sz="7200" b="1" dirty="0"/>
              <a:t>Key Objectives:</a:t>
            </a:r>
            <a:endParaRPr lang="en-IN" sz="7200" dirty="0"/>
          </a:p>
          <a:p>
            <a:pPr lvl="1"/>
            <a:r>
              <a:rPr lang="en-IN" sz="7200" dirty="0"/>
              <a:t> Implement WebRTC data channels to establish direct, low-latency Peer-to-Peer connections.</a:t>
            </a:r>
          </a:p>
          <a:p>
            <a:pPr lvl="1"/>
            <a:r>
              <a:rPr lang="en-IN" sz="7200" dirty="0"/>
              <a:t>Evaluate the performance of SCTP stream multiplexing under emulated network stress conditions (e.g., 4G packet loss).</a:t>
            </a:r>
          </a:p>
          <a:p>
            <a:pPr lvl="1"/>
            <a:r>
              <a:rPr lang="en-IN" sz="7200" dirty="0"/>
              <a:t>Determine the optimal hybrid protocol configuration (mixing reliable and unreliable </a:t>
            </a:r>
            <a:r>
              <a:rPr lang="en-IN" sz="7200" dirty="0" err="1"/>
              <a:t>behaviors</a:t>
            </a:r>
            <a:r>
              <a:rPr lang="en-IN" sz="7200" dirty="0"/>
              <a:t>) for distinct command and state telemetry flows.</a:t>
            </a:r>
          </a:p>
          <a:p>
            <a:pPr marL="228600" lvl="0" indent="-50800" algn="l" rtl="0">
              <a:lnSpc>
                <a:spcPct val="110000"/>
              </a:lnSpc>
              <a:spcBef>
                <a:spcPts val="1000"/>
              </a:spcBef>
              <a:spcAft>
                <a:spcPts val="0"/>
              </a:spcAft>
              <a:buClr>
                <a:schemeClr val="dk1"/>
              </a:buClr>
              <a:buSzPts val="2800"/>
              <a:buNone/>
            </a:pPr>
            <a:endParaRPr dirty="0"/>
          </a:p>
        </p:txBody>
      </p:sp>
      <p:sp>
        <p:nvSpPr>
          <p:cNvPr id="171" name="Google Shape;171;p18"/>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DA0AC132-F425-45C0-B0F0-45BFD07C7E80}"/>
            </a:ext>
          </a:extLst>
        </p:cNvPr>
        <p:cNvGrpSpPr/>
        <p:nvPr/>
      </p:nvGrpSpPr>
      <p:grpSpPr>
        <a:xfrm>
          <a:off x="0" y="0"/>
          <a:ext cx="0" cy="0"/>
          <a:chOff x="0" y="0"/>
          <a:chExt cx="0" cy="0"/>
        </a:xfrm>
      </p:grpSpPr>
      <p:sp>
        <p:nvSpPr>
          <p:cNvPr id="169" name="Google Shape;169;p18">
            <a:extLst>
              <a:ext uri="{FF2B5EF4-FFF2-40B4-BE49-F238E27FC236}">
                <a16:creationId xmlns:a16="http://schemas.microsoft.com/office/drawing/2014/main" id="{F6795918-6A3A-7BC0-50CF-922F52F9214D}"/>
              </a:ext>
            </a:extLst>
          </p:cNvPr>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lvl="0"/>
            <a:r>
              <a:rPr lang="en-US" dirty="0"/>
              <a:t>Bilateral Teleoperation</a:t>
            </a:r>
            <a:endParaRPr dirty="0"/>
          </a:p>
        </p:txBody>
      </p:sp>
      <p:sp>
        <p:nvSpPr>
          <p:cNvPr id="170" name="Google Shape;170;p18">
            <a:extLst>
              <a:ext uri="{FF2B5EF4-FFF2-40B4-BE49-F238E27FC236}">
                <a16:creationId xmlns:a16="http://schemas.microsoft.com/office/drawing/2014/main" id="{EF8D3686-0356-3B38-321D-0C6071F1CD5F}"/>
              </a:ext>
            </a:extLst>
          </p:cNvPr>
          <p:cNvSpPr txBox="1">
            <a:spLocks noGrp="1"/>
          </p:cNvSpPr>
          <p:nvPr>
            <p:ph type="body" idx="1"/>
          </p:nvPr>
        </p:nvSpPr>
        <p:spPr>
          <a:xfrm>
            <a:off x="1115568" y="2478024"/>
            <a:ext cx="10168128" cy="3694176"/>
          </a:xfrm>
          <a:prstGeom prst="rect">
            <a:avLst/>
          </a:prstGeom>
          <a:noFill/>
          <a:ln>
            <a:noFill/>
          </a:ln>
        </p:spPr>
        <p:txBody>
          <a:bodyPr spcFirstLastPara="1" wrap="square" lIns="91425" tIns="45700" rIns="91425" bIns="45700" anchor="t" anchorCtr="0">
            <a:normAutofit fontScale="92500"/>
          </a:bodyPr>
          <a:lstStyle/>
          <a:p>
            <a:r>
              <a:rPr lang="en-US" sz="2100" b="1" dirty="0"/>
              <a:t>The Teleoperation Challenge:</a:t>
            </a:r>
            <a:r>
              <a:rPr lang="en-US" sz="2100" dirty="0"/>
              <a:t> A closed-loop system where an operator sends action commands (forward) and receives continuous sensor/haptic feedback (backward). Long-distance networks introduce jitter and packet loss, destabilizing these control loops.</a:t>
            </a:r>
          </a:p>
          <a:p>
            <a:r>
              <a:rPr lang="en-US" sz="2100" b="1" dirty="0"/>
              <a:t>WebRTC Infrastructure:</a:t>
            </a:r>
            <a:r>
              <a:rPr lang="en-US" sz="2100" dirty="0"/>
              <a:t> Originally built for real-time video, it establishes secure, direct Peer-to-Peer (P2P) connections, bypassing middle-man servers entirely to drastically reduce latency.</a:t>
            </a:r>
          </a:p>
          <a:p>
            <a:r>
              <a:rPr lang="en-US" sz="2100" b="1" dirty="0"/>
              <a:t>Why WebRTC for Robotics?</a:t>
            </a:r>
            <a:endParaRPr lang="en-US" sz="2100" dirty="0"/>
          </a:p>
          <a:p>
            <a:pPr lvl="1"/>
            <a:r>
              <a:rPr lang="en-US" sz="2100" i="1" dirty="0"/>
              <a:t>Built-in Resilience:</a:t>
            </a:r>
            <a:r>
              <a:rPr lang="en-US" sz="2100" dirty="0"/>
              <a:t> Automatically monitors bandwidth and handles congestion.</a:t>
            </a:r>
          </a:p>
          <a:p>
            <a:pPr lvl="1"/>
            <a:r>
              <a:rPr lang="en-US" sz="2100" i="1" dirty="0"/>
              <a:t>Secure by Default:</a:t>
            </a:r>
            <a:r>
              <a:rPr lang="en-US" sz="2100" dirty="0"/>
              <a:t> Mandatory end-to-end encryption (DTLS/SRTP).</a:t>
            </a:r>
            <a:endParaRPr lang="en-IN" sz="2100" dirty="0"/>
          </a:p>
          <a:p>
            <a:pPr marL="228600" lvl="0" indent="-50800" algn="l" rtl="0">
              <a:lnSpc>
                <a:spcPct val="110000"/>
              </a:lnSpc>
              <a:spcBef>
                <a:spcPts val="1000"/>
              </a:spcBef>
              <a:spcAft>
                <a:spcPts val="0"/>
              </a:spcAft>
              <a:buClr>
                <a:schemeClr val="dk1"/>
              </a:buClr>
              <a:buSzPts val="2800"/>
              <a:buNone/>
            </a:pPr>
            <a:endParaRPr dirty="0"/>
          </a:p>
        </p:txBody>
      </p:sp>
      <p:sp>
        <p:nvSpPr>
          <p:cNvPr id="171" name="Google Shape;171;p18">
            <a:extLst>
              <a:ext uri="{FF2B5EF4-FFF2-40B4-BE49-F238E27FC236}">
                <a16:creationId xmlns:a16="http://schemas.microsoft.com/office/drawing/2014/main" id="{32273399-5A71-68B7-E359-8AD108FA85F5}"/>
              </a:ext>
            </a:extLst>
          </p:cNvPr>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871778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BF8D19FD-B8E6-169A-C4B0-AA44092E844A}"/>
            </a:ext>
          </a:extLst>
        </p:cNvPr>
        <p:cNvGrpSpPr/>
        <p:nvPr/>
      </p:nvGrpSpPr>
      <p:grpSpPr>
        <a:xfrm>
          <a:off x="0" y="0"/>
          <a:ext cx="0" cy="0"/>
          <a:chOff x="0" y="0"/>
          <a:chExt cx="0" cy="0"/>
        </a:xfrm>
      </p:grpSpPr>
      <p:sp>
        <p:nvSpPr>
          <p:cNvPr id="169" name="Google Shape;169;p18">
            <a:extLst>
              <a:ext uri="{FF2B5EF4-FFF2-40B4-BE49-F238E27FC236}">
                <a16:creationId xmlns:a16="http://schemas.microsoft.com/office/drawing/2014/main" id="{793E41AB-78C4-45AB-26AB-A3B9FF39C414}"/>
              </a:ext>
            </a:extLst>
          </p:cNvPr>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lvl="0"/>
            <a:r>
              <a:rPr lang="en-US" dirty="0"/>
              <a:t>WebRTC Overview </a:t>
            </a:r>
            <a:endParaRPr dirty="0"/>
          </a:p>
        </p:txBody>
      </p:sp>
      <p:pic>
        <p:nvPicPr>
          <p:cNvPr id="2" name="Picture 1">
            <a:extLst>
              <a:ext uri="{FF2B5EF4-FFF2-40B4-BE49-F238E27FC236}">
                <a16:creationId xmlns:a16="http://schemas.microsoft.com/office/drawing/2014/main" id="{732E597F-4DD2-0805-F527-E99553CA3E91}"/>
              </a:ext>
            </a:extLst>
          </p:cNvPr>
          <p:cNvPicPr>
            <a:picLocks noChangeAspect="1"/>
          </p:cNvPicPr>
          <p:nvPr/>
        </p:nvPicPr>
        <p:blipFill>
          <a:blip r:embed="rId3"/>
          <a:stretch>
            <a:fillRect/>
          </a:stretch>
        </p:blipFill>
        <p:spPr>
          <a:xfrm>
            <a:off x="2387088" y="2083416"/>
            <a:ext cx="7063863" cy="4559401"/>
          </a:xfrm>
          <a:prstGeom prst="rect">
            <a:avLst/>
          </a:prstGeom>
        </p:spPr>
      </p:pic>
      <p:sp>
        <p:nvSpPr>
          <p:cNvPr id="171" name="Google Shape;171;p18">
            <a:extLst>
              <a:ext uri="{FF2B5EF4-FFF2-40B4-BE49-F238E27FC236}">
                <a16:creationId xmlns:a16="http://schemas.microsoft.com/office/drawing/2014/main" id="{D013AC86-5860-EE3F-6F82-13FB00279F79}"/>
              </a:ext>
            </a:extLst>
          </p:cNvPr>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64074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FA371E0B-00AE-508B-3F12-8F4C9C1318EA}"/>
            </a:ext>
          </a:extLst>
        </p:cNvPr>
        <p:cNvGrpSpPr/>
        <p:nvPr/>
      </p:nvGrpSpPr>
      <p:grpSpPr>
        <a:xfrm>
          <a:off x="0" y="0"/>
          <a:ext cx="0" cy="0"/>
          <a:chOff x="0" y="0"/>
          <a:chExt cx="0" cy="0"/>
        </a:xfrm>
      </p:grpSpPr>
      <p:sp>
        <p:nvSpPr>
          <p:cNvPr id="169" name="Google Shape;169;p18">
            <a:extLst>
              <a:ext uri="{FF2B5EF4-FFF2-40B4-BE49-F238E27FC236}">
                <a16:creationId xmlns:a16="http://schemas.microsoft.com/office/drawing/2014/main" id="{BAF8D10A-9026-D103-D449-3AA94AF6D7AD}"/>
              </a:ext>
            </a:extLst>
          </p:cNvPr>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lvl="0"/>
            <a:r>
              <a:rPr lang="en-US" dirty="0"/>
              <a:t>The WebRTC Data Channel: SCTP &amp; Multiplexing</a:t>
            </a:r>
            <a:endParaRPr dirty="0"/>
          </a:p>
        </p:txBody>
      </p:sp>
      <p:sp>
        <p:nvSpPr>
          <p:cNvPr id="170" name="Google Shape;170;p18">
            <a:extLst>
              <a:ext uri="{FF2B5EF4-FFF2-40B4-BE49-F238E27FC236}">
                <a16:creationId xmlns:a16="http://schemas.microsoft.com/office/drawing/2014/main" id="{4CF2BC60-0C50-BE56-81A1-940ED2F2C302}"/>
              </a:ext>
            </a:extLst>
          </p:cNvPr>
          <p:cNvSpPr txBox="1">
            <a:spLocks noGrp="1"/>
          </p:cNvSpPr>
          <p:nvPr>
            <p:ph type="body" idx="1"/>
          </p:nvPr>
        </p:nvSpPr>
        <p:spPr>
          <a:xfrm>
            <a:off x="1115568" y="2478024"/>
            <a:ext cx="10168128" cy="3694176"/>
          </a:xfrm>
          <a:prstGeom prst="rect">
            <a:avLst/>
          </a:prstGeom>
          <a:noFill/>
          <a:ln>
            <a:noFill/>
          </a:ln>
        </p:spPr>
        <p:txBody>
          <a:bodyPr spcFirstLastPara="1" wrap="square" lIns="91425" tIns="45700" rIns="91425" bIns="45700" anchor="t" anchorCtr="0">
            <a:normAutofit fontScale="70000" lnSpcReduction="20000"/>
          </a:bodyPr>
          <a:lstStyle/>
          <a:p>
            <a:r>
              <a:rPr lang="en-US" sz="2600" b="1" dirty="0"/>
              <a:t>The Underlying Protocol:</a:t>
            </a:r>
            <a:r>
              <a:rPr lang="en-US" sz="2600" dirty="0"/>
              <a:t> WebRTC’s </a:t>
            </a:r>
            <a:r>
              <a:rPr lang="en-US" sz="2600" dirty="0" err="1"/>
              <a:t>RTCDataChannel</a:t>
            </a:r>
            <a:r>
              <a:rPr lang="en-US" sz="2600" dirty="0"/>
              <a:t> utilizes </a:t>
            </a:r>
            <a:r>
              <a:rPr lang="en-US" sz="2600" b="1" dirty="0"/>
              <a:t>SCTP</a:t>
            </a:r>
            <a:r>
              <a:rPr lang="en-US" sz="2600" dirty="0"/>
              <a:t> (Stream Control Transmission Protocol) encapsulated over secure UDP, offering per-channel configuration.</a:t>
            </a:r>
          </a:p>
          <a:p>
            <a:r>
              <a:rPr lang="en-US" sz="2600" b="1" dirty="0"/>
              <a:t>SCTP Multiplexing (The "Association"):</a:t>
            </a:r>
            <a:r>
              <a:rPr lang="en-US" sz="2600" dirty="0"/>
              <a:t> Rather than opening multiple heavy network sockets, SCTP establishes a single secure connection and multiplexes independent logical "streams" within it.</a:t>
            </a:r>
          </a:p>
          <a:p>
            <a:r>
              <a:rPr lang="en-US" sz="2600" b="1" dirty="0"/>
              <a:t>Eliminating Head-of-Line (</a:t>
            </a:r>
            <a:r>
              <a:rPr lang="en-US" sz="2600" b="1" dirty="0" err="1"/>
              <a:t>HoL</a:t>
            </a:r>
            <a:r>
              <a:rPr lang="en-US" sz="2600" b="1" dirty="0"/>
              <a:t>) Blocking:</a:t>
            </a:r>
            <a:endParaRPr lang="en-US" sz="2600" dirty="0"/>
          </a:p>
          <a:p>
            <a:pPr lvl="1"/>
            <a:r>
              <a:rPr lang="en-US" sz="2600" dirty="0"/>
              <a:t>In standard TCP, one dropped packet halts the entire connection for retransmission.</a:t>
            </a:r>
          </a:p>
          <a:p>
            <a:pPr lvl="1"/>
            <a:r>
              <a:rPr lang="en-US" sz="2600" dirty="0"/>
              <a:t>In SCTP, if a packet drops on Stream 1, </a:t>
            </a:r>
            <a:r>
              <a:rPr lang="en-US" sz="2600" i="1" dirty="0"/>
              <a:t>only</a:t>
            </a:r>
            <a:r>
              <a:rPr lang="en-US" sz="2600" dirty="0"/>
              <a:t> Stream 1 pauses. Stream 2 continues instantly.</a:t>
            </a:r>
          </a:p>
          <a:p>
            <a:r>
              <a:rPr lang="en-US" sz="2600" b="1" dirty="0"/>
              <a:t>Application to Teleoperation:</a:t>
            </a:r>
            <a:r>
              <a:rPr lang="en-US" sz="2600" dirty="0"/>
              <a:t> Allows simultaneous, non-interfering transmission of strict reliable data (e.g., discrete gripping commands mimicking TCP) and high-frequency loss-tolerant data (e.g., joint states mimicking UDP).</a:t>
            </a:r>
          </a:p>
          <a:p>
            <a:pPr marL="228600" lvl="0" indent="-50800" algn="l" rtl="0">
              <a:lnSpc>
                <a:spcPct val="110000"/>
              </a:lnSpc>
              <a:spcBef>
                <a:spcPts val="1000"/>
              </a:spcBef>
              <a:spcAft>
                <a:spcPts val="0"/>
              </a:spcAft>
              <a:buClr>
                <a:schemeClr val="dk1"/>
              </a:buClr>
              <a:buSzPts val="2800"/>
              <a:buNone/>
            </a:pPr>
            <a:endParaRPr dirty="0"/>
          </a:p>
        </p:txBody>
      </p:sp>
      <p:sp>
        <p:nvSpPr>
          <p:cNvPr id="171" name="Google Shape;171;p18">
            <a:extLst>
              <a:ext uri="{FF2B5EF4-FFF2-40B4-BE49-F238E27FC236}">
                <a16:creationId xmlns:a16="http://schemas.microsoft.com/office/drawing/2014/main" id="{0905DD58-5E36-5DFA-0500-E5760C97EB38}"/>
              </a:ext>
            </a:extLst>
          </p:cNvPr>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416729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0"/>
          <p:cNvSpPr txBox="1">
            <a:spLocks noGrp="1"/>
          </p:cNvSpPr>
          <p:nvPr>
            <p:ph type="title"/>
          </p:nvPr>
        </p:nvSpPr>
        <p:spPr>
          <a:xfrm>
            <a:off x="844787" y="262912"/>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Avenir"/>
              <a:buNone/>
            </a:pPr>
            <a:r>
              <a:rPr lang="en-US" dirty="0"/>
              <a:t>System Architecture</a:t>
            </a:r>
            <a:endParaRPr dirty="0"/>
          </a:p>
        </p:txBody>
      </p:sp>
      <p:sp>
        <p:nvSpPr>
          <p:cNvPr id="184" name="Google Shape;184;p20"/>
          <p:cNvSpPr txBox="1">
            <a:spLocks noGrp="1"/>
          </p:cNvSpPr>
          <p:nvPr>
            <p:ph type="body" idx="1"/>
          </p:nvPr>
        </p:nvSpPr>
        <p:spPr>
          <a:xfrm>
            <a:off x="1115568" y="2478024"/>
            <a:ext cx="10168128" cy="3694176"/>
          </a:xfrm>
          <a:prstGeom prst="rect">
            <a:avLst/>
          </a:prstGeom>
          <a:noFill/>
          <a:ln>
            <a:noFill/>
          </a:ln>
        </p:spPr>
        <p:txBody>
          <a:bodyPr spcFirstLastPara="1" wrap="square" lIns="91425" tIns="45700" rIns="91425" bIns="45700" anchor="t" anchorCtr="0">
            <a:normAutofit/>
          </a:bodyPr>
          <a:lstStyle/>
          <a:p>
            <a:pPr marL="685800" lvl="1" indent="-76200" algn="l" rtl="0">
              <a:lnSpc>
                <a:spcPct val="110000"/>
              </a:lnSpc>
              <a:spcBef>
                <a:spcPts val="500"/>
              </a:spcBef>
              <a:spcAft>
                <a:spcPts val="0"/>
              </a:spcAft>
              <a:buClr>
                <a:schemeClr val="dk1"/>
              </a:buClr>
              <a:buSzPts val="2400"/>
              <a:buNone/>
            </a:pPr>
            <a:endParaRPr dirty="0"/>
          </a:p>
          <a:p>
            <a:pPr marL="0" lvl="0" indent="0" algn="l" rtl="0">
              <a:lnSpc>
                <a:spcPct val="110000"/>
              </a:lnSpc>
              <a:spcBef>
                <a:spcPts val="1000"/>
              </a:spcBef>
              <a:spcAft>
                <a:spcPts val="0"/>
              </a:spcAft>
              <a:buClr>
                <a:schemeClr val="dk1"/>
              </a:buClr>
              <a:buSzPts val="2800"/>
              <a:buNone/>
            </a:pPr>
            <a:endParaRPr dirty="0"/>
          </a:p>
          <a:p>
            <a:pPr marL="685800" lvl="1" indent="-76200" algn="l" rtl="0">
              <a:lnSpc>
                <a:spcPct val="110000"/>
              </a:lnSpc>
              <a:spcBef>
                <a:spcPts val="500"/>
              </a:spcBef>
              <a:spcAft>
                <a:spcPts val="0"/>
              </a:spcAft>
              <a:buClr>
                <a:schemeClr val="dk1"/>
              </a:buClr>
              <a:buSzPts val="2400"/>
              <a:buNone/>
            </a:pPr>
            <a:endParaRPr dirty="0"/>
          </a:p>
        </p:txBody>
      </p:sp>
      <p:sp>
        <p:nvSpPr>
          <p:cNvPr id="185" name="Google Shape;185;p20"/>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21" name="Google Shape;241;p34" descr="Laptop vector, Electronic device filled icon editable stroke (Provided by Getty Images)">
            <a:extLst>
              <a:ext uri="{FF2B5EF4-FFF2-40B4-BE49-F238E27FC236}">
                <a16:creationId xmlns:a16="http://schemas.microsoft.com/office/drawing/2014/main" id="{918C34FE-35A2-AEC8-6361-E53578023185}"/>
              </a:ext>
            </a:extLst>
          </p:cNvPr>
          <p:cNvPicPr preferRelativeResize="0"/>
          <p:nvPr/>
        </p:nvPicPr>
        <p:blipFill>
          <a:blip r:embed="rId3">
            <a:alphaModFix/>
          </a:blip>
          <a:stretch>
            <a:fillRect/>
          </a:stretch>
        </p:blipFill>
        <p:spPr>
          <a:xfrm>
            <a:off x="1477330" y="3261813"/>
            <a:ext cx="984023" cy="984023"/>
          </a:xfrm>
          <a:prstGeom prst="rect">
            <a:avLst/>
          </a:prstGeom>
          <a:noFill/>
          <a:ln>
            <a:noFill/>
          </a:ln>
        </p:spPr>
      </p:pic>
      <p:sp>
        <p:nvSpPr>
          <p:cNvPr id="22" name="Google Shape;243;p34">
            <a:extLst>
              <a:ext uri="{FF2B5EF4-FFF2-40B4-BE49-F238E27FC236}">
                <a16:creationId xmlns:a16="http://schemas.microsoft.com/office/drawing/2014/main" id="{1D6F5D48-4913-F68C-C41A-1C9C3B0CD837}"/>
              </a:ext>
            </a:extLst>
          </p:cNvPr>
          <p:cNvSpPr txBox="1"/>
          <p:nvPr/>
        </p:nvSpPr>
        <p:spPr>
          <a:xfrm>
            <a:off x="4538903" y="4109757"/>
            <a:ext cx="20127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000000"/>
                </a:solidFill>
              </a:rPr>
              <a:t>Switch</a:t>
            </a:r>
            <a:endParaRPr sz="1200">
              <a:solidFill>
                <a:srgbClr val="000000"/>
              </a:solidFill>
            </a:endParaRPr>
          </a:p>
        </p:txBody>
      </p:sp>
      <p:sp>
        <p:nvSpPr>
          <p:cNvPr id="23" name="Google Shape;245;p34">
            <a:extLst>
              <a:ext uri="{FF2B5EF4-FFF2-40B4-BE49-F238E27FC236}">
                <a16:creationId xmlns:a16="http://schemas.microsoft.com/office/drawing/2014/main" id="{E9F6861F-079C-A456-9F58-98F0E38C94D1}"/>
              </a:ext>
            </a:extLst>
          </p:cNvPr>
          <p:cNvSpPr txBox="1"/>
          <p:nvPr/>
        </p:nvSpPr>
        <p:spPr>
          <a:xfrm>
            <a:off x="1073702" y="4672590"/>
            <a:ext cx="21108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solidFill>
                  <a:srgbClr val="000000"/>
                </a:solidFill>
              </a:rPr>
              <a:t>Server: Robot arm simulator</a:t>
            </a:r>
            <a:endParaRPr sz="1200" dirty="0">
              <a:solidFill>
                <a:srgbClr val="000000"/>
              </a:solidFill>
            </a:endParaRPr>
          </a:p>
        </p:txBody>
      </p:sp>
      <p:sp>
        <p:nvSpPr>
          <p:cNvPr id="24" name="Google Shape;246;p34">
            <a:extLst>
              <a:ext uri="{FF2B5EF4-FFF2-40B4-BE49-F238E27FC236}">
                <a16:creationId xmlns:a16="http://schemas.microsoft.com/office/drawing/2014/main" id="{27E37081-095F-DFBE-13DC-A0A0A67ED264}"/>
              </a:ext>
            </a:extLst>
          </p:cNvPr>
          <p:cNvSpPr txBox="1"/>
          <p:nvPr/>
        </p:nvSpPr>
        <p:spPr>
          <a:xfrm>
            <a:off x="7975884" y="4644227"/>
            <a:ext cx="28884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solidFill>
                  <a:srgbClr val="000000"/>
                </a:solidFill>
              </a:rPr>
              <a:t>Client: DT version of Isaac Simulator</a:t>
            </a:r>
            <a:endParaRPr sz="1200">
              <a:solidFill>
                <a:srgbClr val="000000"/>
              </a:solidFill>
            </a:endParaRPr>
          </a:p>
        </p:txBody>
      </p:sp>
      <p:pic>
        <p:nvPicPr>
          <p:cNvPr id="25" name="Google Shape;247;p34" descr="23634757 (Provided by Getty Images)">
            <a:extLst>
              <a:ext uri="{FF2B5EF4-FFF2-40B4-BE49-F238E27FC236}">
                <a16:creationId xmlns:a16="http://schemas.microsoft.com/office/drawing/2014/main" id="{27A557DC-9904-0D52-11C9-69FC26CA7873}"/>
              </a:ext>
            </a:extLst>
          </p:cNvPr>
          <p:cNvPicPr preferRelativeResize="0"/>
          <p:nvPr/>
        </p:nvPicPr>
        <p:blipFill>
          <a:blip r:embed="rId4">
            <a:alphaModFix/>
          </a:blip>
          <a:stretch>
            <a:fillRect/>
          </a:stretch>
        </p:blipFill>
        <p:spPr>
          <a:xfrm>
            <a:off x="4868623" y="3429000"/>
            <a:ext cx="1227377" cy="648451"/>
          </a:xfrm>
          <a:prstGeom prst="rect">
            <a:avLst/>
          </a:prstGeom>
          <a:noFill/>
          <a:ln>
            <a:noFill/>
          </a:ln>
        </p:spPr>
      </p:pic>
      <p:pic>
        <p:nvPicPr>
          <p:cNvPr id="26" name="Google Shape;248;p34" descr="Laptop vector, Electronic device filled icon editable stroke (Provided by Getty Images)">
            <a:extLst>
              <a:ext uri="{FF2B5EF4-FFF2-40B4-BE49-F238E27FC236}">
                <a16:creationId xmlns:a16="http://schemas.microsoft.com/office/drawing/2014/main" id="{099D7F9D-A7B4-120E-A0D2-7843F2A7D3F2}"/>
              </a:ext>
            </a:extLst>
          </p:cNvPr>
          <p:cNvPicPr preferRelativeResize="0"/>
          <p:nvPr/>
        </p:nvPicPr>
        <p:blipFill>
          <a:blip r:embed="rId3">
            <a:alphaModFix/>
          </a:blip>
          <a:stretch>
            <a:fillRect/>
          </a:stretch>
        </p:blipFill>
        <p:spPr>
          <a:xfrm>
            <a:off x="8928073" y="3261212"/>
            <a:ext cx="984023" cy="984023"/>
          </a:xfrm>
          <a:prstGeom prst="rect">
            <a:avLst/>
          </a:prstGeom>
          <a:noFill/>
          <a:ln>
            <a:noFill/>
          </a:ln>
        </p:spPr>
      </p:pic>
      <p:cxnSp>
        <p:nvCxnSpPr>
          <p:cNvPr id="27" name="Google Shape;249;p34">
            <a:extLst>
              <a:ext uri="{FF2B5EF4-FFF2-40B4-BE49-F238E27FC236}">
                <a16:creationId xmlns:a16="http://schemas.microsoft.com/office/drawing/2014/main" id="{29D9B49A-A1F1-BEE6-F9A2-B803F87A6D96}"/>
              </a:ext>
            </a:extLst>
          </p:cNvPr>
          <p:cNvCxnSpPr>
            <a:stCxn id="21" idx="3"/>
            <a:endCxn id="25" idx="1"/>
          </p:cNvCxnSpPr>
          <p:nvPr/>
        </p:nvCxnSpPr>
        <p:spPr>
          <a:xfrm flipV="1">
            <a:off x="2461353" y="3753226"/>
            <a:ext cx="2407270" cy="599"/>
          </a:xfrm>
          <a:prstGeom prst="bentConnector3">
            <a:avLst>
              <a:gd name="adj1" fmla="val 50000"/>
            </a:avLst>
          </a:prstGeom>
          <a:noFill/>
          <a:ln w="9525" cap="flat" cmpd="sng">
            <a:solidFill>
              <a:srgbClr val="595959"/>
            </a:solidFill>
            <a:prstDash val="solid"/>
            <a:round/>
            <a:headEnd type="none" w="med" len="med"/>
            <a:tailEnd type="none" w="med" len="med"/>
          </a:ln>
        </p:spPr>
      </p:cxnSp>
      <p:cxnSp>
        <p:nvCxnSpPr>
          <p:cNvPr id="28" name="Google Shape;250;p34">
            <a:extLst>
              <a:ext uri="{FF2B5EF4-FFF2-40B4-BE49-F238E27FC236}">
                <a16:creationId xmlns:a16="http://schemas.microsoft.com/office/drawing/2014/main" id="{4C8CC28E-5F73-2146-57B7-619FA9C47097}"/>
              </a:ext>
            </a:extLst>
          </p:cNvPr>
          <p:cNvCxnSpPr>
            <a:stCxn id="25" idx="3"/>
            <a:endCxn id="26" idx="1"/>
          </p:cNvCxnSpPr>
          <p:nvPr/>
        </p:nvCxnSpPr>
        <p:spPr>
          <a:xfrm flipV="1">
            <a:off x="6096000" y="3753224"/>
            <a:ext cx="2832073" cy="2"/>
          </a:xfrm>
          <a:prstGeom prst="bentConnector3">
            <a:avLst>
              <a:gd name="adj1" fmla="val 50000"/>
            </a:avLst>
          </a:prstGeom>
          <a:noFill/>
          <a:ln w="9525" cap="flat" cmpd="sng">
            <a:solidFill>
              <a:srgbClr val="595959"/>
            </a:solidFill>
            <a:prstDash val="solid"/>
            <a:round/>
            <a:headEnd type="none" w="med" len="med"/>
            <a:tailEnd type="none" w="med" len="med"/>
          </a:ln>
        </p:spPr>
      </p:cxnSp>
      <p:sp>
        <p:nvSpPr>
          <p:cNvPr id="29" name="Google Shape;251;p34">
            <a:extLst>
              <a:ext uri="{FF2B5EF4-FFF2-40B4-BE49-F238E27FC236}">
                <a16:creationId xmlns:a16="http://schemas.microsoft.com/office/drawing/2014/main" id="{08D27364-A530-6569-43B4-F231355A2481}"/>
              </a:ext>
            </a:extLst>
          </p:cNvPr>
          <p:cNvSpPr txBox="1"/>
          <p:nvPr/>
        </p:nvSpPr>
        <p:spPr>
          <a:xfrm>
            <a:off x="3048806" y="3361688"/>
            <a:ext cx="13356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solidFill>
                  <a:srgbClr val="999999"/>
                </a:solidFill>
              </a:rPr>
              <a:t>LAN as medium</a:t>
            </a:r>
            <a:endParaRPr sz="1200" dirty="0">
              <a:solidFill>
                <a:srgbClr val="999999"/>
              </a:solidFill>
            </a:endParaRPr>
          </a:p>
        </p:txBody>
      </p:sp>
      <p:sp>
        <p:nvSpPr>
          <p:cNvPr id="30" name="Google Shape;252;p34">
            <a:extLst>
              <a:ext uri="{FF2B5EF4-FFF2-40B4-BE49-F238E27FC236}">
                <a16:creationId xmlns:a16="http://schemas.microsoft.com/office/drawing/2014/main" id="{7191B265-D507-E941-C846-C0611B3FF660}"/>
              </a:ext>
            </a:extLst>
          </p:cNvPr>
          <p:cNvSpPr txBox="1"/>
          <p:nvPr/>
        </p:nvSpPr>
        <p:spPr>
          <a:xfrm>
            <a:off x="6902300" y="3361688"/>
            <a:ext cx="13356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solidFill>
                  <a:srgbClr val="999999"/>
                </a:solidFill>
              </a:rPr>
              <a:t>LAN as medium</a:t>
            </a:r>
            <a:endParaRPr sz="1200" dirty="0">
              <a:solidFill>
                <a:srgbClr val="999999"/>
              </a:solidFill>
            </a:endParaRPr>
          </a:p>
        </p:txBody>
      </p:sp>
      <p:sp>
        <p:nvSpPr>
          <p:cNvPr id="32" name="TextBox 31">
            <a:extLst>
              <a:ext uri="{FF2B5EF4-FFF2-40B4-BE49-F238E27FC236}">
                <a16:creationId xmlns:a16="http://schemas.microsoft.com/office/drawing/2014/main" id="{50B4C29D-3323-64F3-137A-D7EBE13972E9}"/>
              </a:ext>
            </a:extLst>
          </p:cNvPr>
          <p:cNvSpPr txBox="1"/>
          <p:nvPr/>
        </p:nvSpPr>
        <p:spPr>
          <a:xfrm>
            <a:off x="-918898" y="4222401"/>
            <a:ext cx="6096000" cy="307777"/>
          </a:xfrm>
          <a:prstGeom prst="rect">
            <a:avLst/>
          </a:prstGeom>
          <a:noFill/>
        </p:spPr>
        <p:txBody>
          <a:bodyPr wrap="square">
            <a:spAutoFit/>
          </a:bodyPr>
          <a:lstStyle/>
          <a:p>
            <a:pPr marL="0" lvl="0" indent="0" algn="ctr" rtl="0">
              <a:spcBef>
                <a:spcPts val="0"/>
              </a:spcBef>
              <a:spcAft>
                <a:spcPts val="0"/>
              </a:spcAft>
              <a:buNone/>
            </a:pPr>
            <a:r>
              <a:rPr lang="en-IN" sz="1400" dirty="0">
                <a:solidFill>
                  <a:srgbClr val="000000"/>
                </a:solidFill>
              </a:rPr>
              <a:t>NVIDIA Isaac Sim (GPU)</a:t>
            </a:r>
          </a:p>
        </p:txBody>
      </p:sp>
      <p:sp>
        <p:nvSpPr>
          <p:cNvPr id="38" name="TextBox 37">
            <a:extLst>
              <a:ext uri="{FF2B5EF4-FFF2-40B4-BE49-F238E27FC236}">
                <a16:creationId xmlns:a16="http://schemas.microsoft.com/office/drawing/2014/main" id="{088C50C4-3C07-BD40-A234-2E7C09562682}"/>
              </a:ext>
            </a:extLst>
          </p:cNvPr>
          <p:cNvSpPr txBox="1"/>
          <p:nvPr/>
        </p:nvSpPr>
        <p:spPr>
          <a:xfrm>
            <a:off x="6199632" y="4267471"/>
            <a:ext cx="6553200" cy="307777"/>
          </a:xfrm>
          <a:prstGeom prst="rect">
            <a:avLst/>
          </a:prstGeom>
          <a:noFill/>
        </p:spPr>
        <p:txBody>
          <a:bodyPr wrap="square">
            <a:spAutoFit/>
          </a:bodyPr>
          <a:lstStyle/>
          <a:p>
            <a:pPr marL="0" lvl="0" indent="0" algn="ctr" rtl="0">
              <a:spcBef>
                <a:spcPts val="0"/>
              </a:spcBef>
              <a:spcAft>
                <a:spcPts val="0"/>
              </a:spcAft>
              <a:buNone/>
            </a:pPr>
            <a:r>
              <a:rPr lang="en-IN" sz="1400" dirty="0">
                <a:solidFill>
                  <a:srgbClr val="000000"/>
                </a:solidFill>
              </a:rPr>
              <a:t>NVIDIA Isaac Sim (GPU)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396B7097-7971-EBFE-AA0D-87F609C80570}"/>
            </a:ext>
          </a:extLst>
        </p:cNvPr>
        <p:cNvGrpSpPr/>
        <p:nvPr/>
      </p:nvGrpSpPr>
      <p:grpSpPr>
        <a:xfrm>
          <a:off x="0" y="0"/>
          <a:ext cx="0" cy="0"/>
          <a:chOff x="0" y="0"/>
          <a:chExt cx="0" cy="0"/>
        </a:xfrm>
      </p:grpSpPr>
      <p:sp>
        <p:nvSpPr>
          <p:cNvPr id="183" name="Google Shape;183;p20">
            <a:extLst>
              <a:ext uri="{FF2B5EF4-FFF2-40B4-BE49-F238E27FC236}">
                <a16:creationId xmlns:a16="http://schemas.microsoft.com/office/drawing/2014/main" id="{E10D252D-94E5-F604-52D4-3F1D11AA893E}"/>
              </a:ext>
            </a:extLst>
          </p:cNvPr>
          <p:cNvSpPr txBox="1">
            <a:spLocks noGrp="1"/>
          </p:cNvSpPr>
          <p:nvPr>
            <p:ph type="title"/>
          </p:nvPr>
        </p:nvSpPr>
        <p:spPr>
          <a:xfrm>
            <a:off x="764401" y="571025"/>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Avenir"/>
              <a:buNone/>
            </a:pPr>
            <a:r>
              <a:rPr lang="en-US" dirty="0"/>
              <a:t>System Architecture</a:t>
            </a:r>
            <a:endParaRPr dirty="0"/>
          </a:p>
        </p:txBody>
      </p:sp>
      <p:sp>
        <p:nvSpPr>
          <p:cNvPr id="184" name="Google Shape;184;p20">
            <a:extLst>
              <a:ext uri="{FF2B5EF4-FFF2-40B4-BE49-F238E27FC236}">
                <a16:creationId xmlns:a16="http://schemas.microsoft.com/office/drawing/2014/main" id="{D35F413E-86EF-48D4-6251-B9A06639A099}"/>
              </a:ext>
            </a:extLst>
          </p:cNvPr>
          <p:cNvSpPr txBox="1">
            <a:spLocks noGrp="1"/>
          </p:cNvSpPr>
          <p:nvPr>
            <p:ph type="body" idx="1"/>
          </p:nvPr>
        </p:nvSpPr>
        <p:spPr>
          <a:xfrm>
            <a:off x="764401" y="2629074"/>
            <a:ext cx="10168128" cy="3694176"/>
          </a:xfrm>
          <a:prstGeom prst="rect">
            <a:avLst/>
          </a:prstGeom>
          <a:noFill/>
          <a:ln>
            <a:noFill/>
          </a:ln>
        </p:spPr>
        <p:txBody>
          <a:bodyPr spcFirstLastPara="1" wrap="square" lIns="91425" tIns="45700" rIns="91425" bIns="45700" anchor="t" anchorCtr="0">
            <a:normAutofit/>
          </a:bodyPr>
          <a:lstStyle/>
          <a:p>
            <a:pPr marL="685800" lvl="1" indent="-76200" algn="l" rtl="0">
              <a:lnSpc>
                <a:spcPct val="110000"/>
              </a:lnSpc>
              <a:spcBef>
                <a:spcPts val="500"/>
              </a:spcBef>
              <a:spcAft>
                <a:spcPts val="0"/>
              </a:spcAft>
              <a:buClr>
                <a:schemeClr val="dk1"/>
              </a:buClr>
              <a:buSzPts val="2400"/>
              <a:buNone/>
            </a:pPr>
            <a:endParaRPr dirty="0"/>
          </a:p>
          <a:p>
            <a:pPr marL="0" lvl="0" indent="0" algn="l" rtl="0">
              <a:lnSpc>
                <a:spcPct val="110000"/>
              </a:lnSpc>
              <a:spcBef>
                <a:spcPts val="1000"/>
              </a:spcBef>
              <a:spcAft>
                <a:spcPts val="0"/>
              </a:spcAft>
              <a:buClr>
                <a:schemeClr val="dk1"/>
              </a:buClr>
              <a:buSzPts val="2800"/>
              <a:buNone/>
            </a:pPr>
            <a:endParaRPr dirty="0"/>
          </a:p>
          <a:p>
            <a:pPr marL="685800" lvl="1" indent="-76200" algn="l" rtl="0">
              <a:lnSpc>
                <a:spcPct val="110000"/>
              </a:lnSpc>
              <a:spcBef>
                <a:spcPts val="500"/>
              </a:spcBef>
              <a:spcAft>
                <a:spcPts val="0"/>
              </a:spcAft>
              <a:buClr>
                <a:schemeClr val="dk1"/>
              </a:buClr>
              <a:buSzPts val="2400"/>
              <a:buNone/>
            </a:pPr>
            <a:endParaRPr dirty="0"/>
          </a:p>
        </p:txBody>
      </p:sp>
      <p:sp>
        <p:nvSpPr>
          <p:cNvPr id="185" name="Google Shape;185;p20">
            <a:extLst>
              <a:ext uri="{FF2B5EF4-FFF2-40B4-BE49-F238E27FC236}">
                <a16:creationId xmlns:a16="http://schemas.microsoft.com/office/drawing/2014/main" id="{E56F3420-21B8-0A8E-E3F6-A95CA9458B96}"/>
              </a:ext>
            </a:extLst>
          </p:cNvPr>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2" name="Google Shape;260;p35" descr="Laptop vector, Electronic device filled icon editable stroke (Provided by Getty Images)">
            <a:extLst>
              <a:ext uri="{FF2B5EF4-FFF2-40B4-BE49-F238E27FC236}">
                <a16:creationId xmlns:a16="http://schemas.microsoft.com/office/drawing/2014/main" id="{B2CA3322-8EB6-0377-4CE9-0E6B6FE5C640}"/>
              </a:ext>
            </a:extLst>
          </p:cNvPr>
          <p:cNvPicPr preferRelativeResize="0"/>
          <p:nvPr/>
        </p:nvPicPr>
        <p:blipFill>
          <a:blip r:embed="rId3">
            <a:alphaModFix/>
          </a:blip>
          <a:stretch>
            <a:fillRect/>
          </a:stretch>
        </p:blipFill>
        <p:spPr>
          <a:xfrm>
            <a:off x="1485519" y="3761641"/>
            <a:ext cx="984023" cy="994374"/>
          </a:xfrm>
          <a:prstGeom prst="rect">
            <a:avLst/>
          </a:prstGeom>
          <a:noFill/>
          <a:ln>
            <a:noFill/>
          </a:ln>
        </p:spPr>
      </p:pic>
      <p:pic>
        <p:nvPicPr>
          <p:cNvPr id="3" name="Google Shape;265;p35" descr="Laptop vector, Electronic device filled icon editable stroke (Provided by Getty Images)">
            <a:extLst>
              <a:ext uri="{FF2B5EF4-FFF2-40B4-BE49-F238E27FC236}">
                <a16:creationId xmlns:a16="http://schemas.microsoft.com/office/drawing/2014/main" id="{8E3F7905-3505-38EA-BAC2-6A1EDC34ED9C}"/>
              </a:ext>
            </a:extLst>
          </p:cNvPr>
          <p:cNvPicPr preferRelativeResize="0"/>
          <p:nvPr/>
        </p:nvPicPr>
        <p:blipFill>
          <a:blip r:embed="rId3">
            <a:alphaModFix/>
          </a:blip>
          <a:stretch>
            <a:fillRect/>
          </a:stretch>
        </p:blipFill>
        <p:spPr>
          <a:xfrm>
            <a:off x="9128203" y="3708094"/>
            <a:ext cx="984023" cy="984023"/>
          </a:xfrm>
          <a:prstGeom prst="rect">
            <a:avLst/>
          </a:prstGeom>
          <a:noFill/>
          <a:ln>
            <a:noFill/>
          </a:ln>
        </p:spPr>
      </p:pic>
      <p:pic>
        <p:nvPicPr>
          <p:cNvPr id="4" name="Google Shape;266;p35" descr="File:Server tower icon.jpg - Wikimedia Commons">
            <a:extLst>
              <a:ext uri="{FF2B5EF4-FFF2-40B4-BE49-F238E27FC236}">
                <a16:creationId xmlns:a16="http://schemas.microsoft.com/office/drawing/2014/main" id="{6C21308C-8277-6F3A-C891-2B46086766B2}"/>
              </a:ext>
            </a:extLst>
          </p:cNvPr>
          <p:cNvPicPr preferRelativeResize="0"/>
          <p:nvPr/>
        </p:nvPicPr>
        <p:blipFill>
          <a:blip r:embed="rId4">
            <a:alphaModFix/>
          </a:blip>
          <a:stretch>
            <a:fillRect/>
          </a:stretch>
        </p:blipFill>
        <p:spPr>
          <a:xfrm>
            <a:off x="5511120" y="1848503"/>
            <a:ext cx="771950" cy="1123503"/>
          </a:xfrm>
          <a:prstGeom prst="rect">
            <a:avLst/>
          </a:prstGeom>
          <a:noFill/>
          <a:ln>
            <a:noFill/>
          </a:ln>
        </p:spPr>
      </p:pic>
      <p:sp>
        <p:nvSpPr>
          <p:cNvPr id="5" name="Google Shape;267;p35">
            <a:extLst>
              <a:ext uri="{FF2B5EF4-FFF2-40B4-BE49-F238E27FC236}">
                <a16:creationId xmlns:a16="http://schemas.microsoft.com/office/drawing/2014/main" id="{C0B9CA7D-DDC8-F0AD-0DAE-A4C87E94B866}"/>
              </a:ext>
            </a:extLst>
          </p:cNvPr>
          <p:cNvSpPr txBox="1"/>
          <p:nvPr/>
        </p:nvSpPr>
        <p:spPr>
          <a:xfrm>
            <a:off x="4878076" y="2858376"/>
            <a:ext cx="2770135" cy="553968"/>
          </a:xfrm>
          <a:prstGeom prst="rect">
            <a:avLst/>
          </a:prstGeom>
          <a:noFill/>
          <a:ln>
            <a:noFill/>
          </a:ln>
        </p:spPr>
        <p:txBody>
          <a:bodyPr spcFirstLastPara="1" wrap="square" lIns="91425" tIns="91425" rIns="91425" bIns="91425" anchor="t" anchorCtr="0">
            <a:spAutoFit/>
          </a:bodyPr>
          <a:lstStyle/>
          <a:p>
            <a:r>
              <a:rPr lang="en-IN" sz="1200" b="1" dirty="0" err="1"/>
              <a:t>Signaling</a:t>
            </a:r>
            <a:r>
              <a:rPr lang="en-IN" sz="1200" b="1" dirty="0"/>
              <a:t> Server(GPU Machine)</a:t>
            </a:r>
          </a:p>
          <a:p>
            <a:pPr marL="0" lvl="0" indent="0" algn="l" rtl="0">
              <a:spcBef>
                <a:spcPts val="0"/>
              </a:spcBef>
              <a:spcAft>
                <a:spcPts val="0"/>
              </a:spcAft>
              <a:buNone/>
            </a:pPr>
            <a:endParaRPr sz="1200" dirty="0">
              <a:solidFill>
                <a:srgbClr val="000000"/>
              </a:solidFill>
            </a:endParaRPr>
          </a:p>
        </p:txBody>
      </p:sp>
      <p:cxnSp>
        <p:nvCxnSpPr>
          <p:cNvPr id="10" name="Google Shape;272;p35">
            <a:extLst>
              <a:ext uri="{FF2B5EF4-FFF2-40B4-BE49-F238E27FC236}">
                <a16:creationId xmlns:a16="http://schemas.microsoft.com/office/drawing/2014/main" id="{011C89CF-1905-C5CB-FAAD-1D43026FA823}"/>
              </a:ext>
            </a:extLst>
          </p:cNvPr>
          <p:cNvCxnSpPr>
            <a:cxnSpLocks/>
          </p:cNvCxnSpPr>
          <p:nvPr/>
        </p:nvCxnSpPr>
        <p:spPr>
          <a:xfrm flipV="1">
            <a:off x="2469542" y="3989520"/>
            <a:ext cx="6725008" cy="62825"/>
          </a:xfrm>
          <a:prstGeom prst="straightConnector1">
            <a:avLst/>
          </a:prstGeom>
          <a:noFill/>
          <a:ln w="31750" cap="flat" cmpd="sng">
            <a:solidFill>
              <a:srgbClr val="00B0F0"/>
            </a:solidFill>
            <a:prstDash val="solid"/>
            <a:round/>
            <a:headEnd type="none" w="med" len="med"/>
            <a:tailEnd type="triangle" w="med" len="med"/>
          </a:ln>
        </p:spPr>
      </p:cxnSp>
      <p:cxnSp>
        <p:nvCxnSpPr>
          <p:cNvPr id="11" name="Google Shape;273;p35">
            <a:extLst>
              <a:ext uri="{FF2B5EF4-FFF2-40B4-BE49-F238E27FC236}">
                <a16:creationId xmlns:a16="http://schemas.microsoft.com/office/drawing/2014/main" id="{DC120094-2386-76CF-CA95-F6C2451799BA}"/>
              </a:ext>
            </a:extLst>
          </p:cNvPr>
          <p:cNvCxnSpPr>
            <a:cxnSpLocks/>
          </p:cNvCxnSpPr>
          <p:nvPr/>
        </p:nvCxnSpPr>
        <p:spPr>
          <a:xfrm flipH="1">
            <a:off x="2469542" y="4369525"/>
            <a:ext cx="6658661" cy="58722"/>
          </a:xfrm>
          <a:prstGeom prst="straightConnector1">
            <a:avLst/>
          </a:prstGeom>
          <a:noFill/>
          <a:ln w="25400" cap="flat" cmpd="sng">
            <a:solidFill>
              <a:schemeClr val="accent3">
                <a:lumMod val="60000"/>
                <a:lumOff val="40000"/>
              </a:schemeClr>
            </a:solidFill>
            <a:prstDash val="solid"/>
            <a:round/>
            <a:headEnd type="none" w="med" len="med"/>
            <a:tailEnd type="triangle" w="med" len="med"/>
          </a:ln>
        </p:spPr>
      </p:cxnSp>
      <p:sp>
        <p:nvSpPr>
          <p:cNvPr id="17" name="TextBox 16">
            <a:extLst>
              <a:ext uri="{FF2B5EF4-FFF2-40B4-BE49-F238E27FC236}">
                <a16:creationId xmlns:a16="http://schemas.microsoft.com/office/drawing/2014/main" id="{E30ACB1E-1CAB-D3A5-A965-E2383B736E5D}"/>
              </a:ext>
            </a:extLst>
          </p:cNvPr>
          <p:cNvSpPr txBox="1"/>
          <p:nvPr/>
        </p:nvSpPr>
        <p:spPr>
          <a:xfrm>
            <a:off x="-844932" y="4794021"/>
            <a:ext cx="6100916" cy="307777"/>
          </a:xfrm>
          <a:prstGeom prst="rect">
            <a:avLst/>
          </a:prstGeom>
          <a:noFill/>
        </p:spPr>
        <p:txBody>
          <a:bodyPr wrap="square">
            <a:spAutoFit/>
          </a:bodyPr>
          <a:lstStyle/>
          <a:p>
            <a:pPr marL="0" lvl="0" indent="0" algn="ctr" rtl="0">
              <a:spcBef>
                <a:spcPts val="0"/>
              </a:spcBef>
              <a:spcAft>
                <a:spcPts val="0"/>
              </a:spcAft>
              <a:buNone/>
            </a:pPr>
            <a:r>
              <a:rPr lang="en-IN" sz="1400" b="1" dirty="0">
                <a:solidFill>
                  <a:srgbClr val="000000"/>
                </a:solidFill>
              </a:rPr>
              <a:t>GPU Server: Robot arm simulator</a:t>
            </a:r>
          </a:p>
        </p:txBody>
      </p:sp>
      <p:sp>
        <p:nvSpPr>
          <p:cNvPr id="19" name="TextBox 18">
            <a:extLst>
              <a:ext uri="{FF2B5EF4-FFF2-40B4-BE49-F238E27FC236}">
                <a16:creationId xmlns:a16="http://schemas.microsoft.com/office/drawing/2014/main" id="{4FD4D359-FEEC-BDA5-F15B-7B919117F0A9}"/>
              </a:ext>
            </a:extLst>
          </p:cNvPr>
          <p:cNvSpPr txBox="1"/>
          <p:nvPr/>
        </p:nvSpPr>
        <p:spPr>
          <a:xfrm>
            <a:off x="6587457" y="4797895"/>
            <a:ext cx="6179574" cy="307777"/>
          </a:xfrm>
          <a:prstGeom prst="rect">
            <a:avLst/>
          </a:prstGeom>
          <a:noFill/>
        </p:spPr>
        <p:txBody>
          <a:bodyPr wrap="square">
            <a:spAutoFit/>
          </a:bodyPr>
          <a:lstStyle/>
          <a:p>
            <a:pPr marL="0" lvl="0" indent="0" algn="ctr" rtl="0">
              <a:spcBef>
                <a:spcPts val="0"/>
              </a:spcBef>
              <a:spcAft>
                <a:spcPts val="0"/>
              </a:spcAft>
              <a:buNone/>
            </a:pPr>
            <a:r>
              <a:rPr lang="en-US" sz="1400" b="1" dirty="0">
                <a:solidFill>
                  <a:srgbClr val="000000"/>
                </a:solidFill>
              </a:rPr>
              <a:t>Client: DT version of Isaac Simulator</a:t>
            </a:r>
          </a:p>
        </p:txBody>
      </p:sp>
      <p:sp>
        <p:nvSpPr>
          <p:cNvPr id="42" name="TextBox 41">
            <a:extLst>
              <a:ext uri="{FF2B5EF4-FFF2-40B4-BE49-F238E27FC236}">
                <a16:creationId xmlns:a16="http://schemas.microsoft.com/office/drawing/2014/main" id="{28F8DDFE-93C6-E6C7-4E21-D6EE4F45A91E}"/>
              </a:ext>
            </a:extLst>
          </p:cNvPr>
          <p:cNvSpPr txBox="1"/>
          <p:nvPr/>
        </p:nvSpPr>
        <p:spPr>
          <a:xfrm>
            <a:off x="4953441" y="3830041"/>
            <a:ext cx="2345514" cy="307777"/>
          </a:xfrm>
          <a:prstGeom prst="rect">
            <a:avLst/>
          </a:prstGeom>
          <a:noFill/>
        </p:spPr>
        <p:txBody>
          <a:bodyPr wrap="none" rtlCol="0">
            <a:spAutoFit/>
          </a:bodyPr>
          <a:lstStyle/>
          <a:p>
            <a:r>
              <a:rPr lang="en-IN" dirty="0">
                <a:highlight>
                  <a:srgbClr val="00FFFF"/>
                </a:highlight>
              </a:rPr>
              <a:t>State Data Channel(SCTP)</a:t>
            </a:r>
          </a:p>
        </p:txBody>
      </p:sp>
      <p:sp>
        <p:nvSpPr>
          <p:cNvPr id="43" name="TextBox 42">
            <a:extLst>
              <a:ext uri="{FF2B5EF4-FFF2-40B4-BE49-F238E27FC236}">
                <a16:creationId xmlns:a16="http://schemas.microsoft.com/office/drawing/2014/main" id="{CD0FDDDE-9E14-D347-EEF7-976C7113046C}"/>
              </a:ext>
            </a:extLst>
          </p:cNvPr>
          <p:cNvSpPr txBox="1"/>
          <p:nvPr/>
        </p:nvSpPr>
        <p:spPr>
          <a:xfrm>
            <a:off x="4754667" y="4247292"/>
            <a:ext cx="2752677" cy="307777"/>
          </a:xfrm>
          <a:prstGeom prst="rect">
            <a:avLst/>
          </a:prstGeom>
          <a:noFill/>
        </p:spPr>
        <p:txBody>
          <a:bodyPr wrap="none" rtlCol="0">
            <a:spAutoFit/>
          </a:bodyPr>
          <a:lstStyle/>
          <a:p>
            <a:r>
              <a:rPr lang="en-IN" dirty="0">
                <a:highlight>
                  <a:srgbClr val="00FF00"/>
                </a:highlight>
              </a:rPr>
              <a:t>Command Data Channel(SCTP)</a:t>
            </a:r>
          </a:p>
        </p:txBody>
      </p:sp>
      <p:sp>
        <p:nvSpPr>
          <p:cNvPr id="57" name="TextBox 56">
            <a:extLst>
              <a:ext uri="{FF2B5EF4-FFF2-40B4-BE49-F238E27FC236}">
                <a16:creationId xmlns:a16="http://schemas.microsoft.com/office/drawing/2014/main" id="{94F05524-4523-2D28-9702-ECF5109D0100}"/>
              </a:ext>
            </a:extLst>
          </p:cNvPr>
          <p:cNvSpPr txBox="1"/>
          <p:nvPr/>
        </p:nvSpPr>
        <p:spPr>
          <a:xfrm>
            <a:off x="4725615" y="4708514"/>
            <a:ext cx="2848857" cy="307777"/>
          </a:xfrm>
          <a:prstGeom prst="rect">
            <a:avLst/>
          </a:prstGeom>
          <a:noFill/>
        </p:spPr>
        <p:txBody>
          <a:bodyPr wrap="none" rtlCol="0">
            <a:spAutoFit/>
          </a:bodyPr>
          <a:lstStyle/>
          <a:p>
            <a:r>
              <a:rPr lang="en-IN" b="1" dirty="0"/>
              <a:t>P2P Connection(Single Socket)</a:t>
            </a:r>
          </a:p>
        </p:txBody>
      </p:sp>
      <p:cxnSp>
        <p:nvCxnSpPr>
          <p:cNvPr id="128" name="Connector: Elbow 127">
            <a:extLst>
              <a:ext uri="{FF2B5EF4-FFF2-40B4-BE49-F238E27FC236}">
                <a16:creationId xmlns:a16="http://schemas.microsoft.com/office/drawing/2014/main" id="{F9A85F3A-61FB-F991-503A-9C8577A6E75A}"/>
              </a:ext>
            </a:extLst>
          </p:cNvPr>
          <p:cNvCxnSpPr>
            <a:cxnSpLocks/>
            <a:stCxn id="2" idx="0"/>
            <a:endCxn id="4" idx="1"/>
          </p:cNvCxnSpPr>
          <p:nvPr/>
        </p:nvCxnSpPr>
        <p:spPr>
          <a:xfrm rot="5400000" flipH="1" flipV="1">
            <a:off x="3068632" y="1319154"/>
            <a:ext cx="1351386" cy="3533589"/>
          </a:xfrm>
          <a:prstGeom prst="bentConnector2">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7C9F50FD-363B-4FA7-0240-78576C734BB8}"/>
              </a:ext>
            </a:extLst>
          </p:cNvPr>
          <p:cNvCxnSpPr/>
          <p:nvPr/>
        </p:nvCxnSpPr>
        <p:spPr>
          <a:xfrm rot="10800000" flipV="1">
            <a:off x="2205526" y="2629073"/>
            <a:ext cx="3305594" cy="1200967"/>
          </a:xfrm>
          <a:prstGeom prst="bentConnector3">
            <a:avLst>
              <a:gd name="adj1" fmla="val 89213"/>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A4EE9406-F697-BFE2-F05C-3018427F3FB2}"/>
              </a:ext>
            </a:extLst>
          </p:cNvPr>
          <p:cNvCxnSpPr>
            <a:stCxn id="4" idx="3"/>
            <a:endCxn id="3" idx="0"/>
          </p:cNvCxnSpPr>
          <p:nvPr/>
        </p:nvCxnSpPr>
        <p:spPr>
          <a:xfrm>
            <a:off x="6283070" y="2410255"/>
            <a:ext cx="3337145" cy="1297839"/>
          </a:xfrm>
          <a:prstGeom prst="bentConnector2">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35" name="Connector: Elbow 134">
            <a:extLst>
              <a:ext uri="{FF2B5EF4-FFF2-40B4-BE49-F238E27FC236}">
                <a16:creationId xmlns:a16="http://schemas.microsoft.com/office/drawing/2014/main" id="{3BAC7DBE-1096-1659-3045-1404A683E564}"/>
              </a:ext>
            </a:extLst>
          </p:cNvPr>
          <p:cNvCxnSpPr/>
          <p:nvPr/>
        </p:nvCxnSpPr>
        <p:spPr>
          <a:xfrm rot="10800000">
            <a:off x="6283071" y="2660378"/>
            <a:ext cx="3122187" cy="1047716"/>
          </a:xfrm>
          <a:prstGeom prst="bentConnector3">
            <a:avLst>
              <a:gd name="adj1" fmla="val 10736"/>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36" name="TextBox 135">
            <a:extLst>
              <a:ext uri="{FF2B5EF4-FFF2-40B4-BE49-F238E27FC236}">
                <a16:creationId xmlns:a16="http://schemas.microsoft.com/office/drawing/2014/main" id="{94890899-31F8-31D0-6A08-E553C9EA8379}"/>
              </a:ext>
            </a:extLst>
          </p:cNvPr>
          <p:cNvSpPr txBox="1"/>
          <p:nvPr/>
        </p:nvSpPr>
        <p:spPr>
          <a:xfrm>
            <a:off x="3101313" y="2244980"/>
            <a:ext cx="1168504" cy="307777"/>
          </a:xfrm>
          <a:prstGeom prst="rect">
            <a:avLst/>
          </a:prstGeom>
          <a:noFill/>
        </p:spPr>
        <p:txBody>
          <a:bodyPr wrap="square" rtlCol="0">
            <a:spAutoFit/>
          </a:bodyPr>
          <a:lstStyle/>
          <a:p>
            <a:r>
              <a:rPr lang="en-IN" dirty="0">
                <a:highlight>
                  <a:srgbClr val="F6A500"/>
                </a:highlight>
              </a:rPr>
              <a:t>SDP offer</a:t>
            </a:r>
          </a:p>
        </p:txBody>
      </p:sp>
      <p:sp>
        <p:nvSpPr>
          <p:cNvPr id="140" name="TextBox 139">
            <a:extLst>
              <a:ext uri="{FF2B5EF4-FFF2-40B4-BE49-F238E27FC236}">
                <a16:creationId xmlns:a16="http://schemas.microsoft.com/office/drawing/2014/main" id="{F469080C-889E-DDC0-3CFB-06ACB398C4D9}"/>
              </a:ext>
            </a:extLst>
          </p:cNvPr>
          <p:cNvSpPr txBox="1"/>
          <p:nvPr/>
        </p:nvSpPr>
        <p:spPr>
          <a:xfrm>
            <a:off x="3719011" y="2512935"/>
            <a:ext cx="1444723" cy="307777"/>
          </a:xfrm>
          <a:prstGeom prst="rect">
            <a:avLst/>
          </a:prstGeom>
          <a:noFill/>
        </p:spPr>
        <p:txBody>
          <a:bodyPr wrap="square" rtlCol="0">
            <a:spAutoFit/>
          </a:bodyPr>
          <a:lstStyle/>
          <a:p>
            <a:r>
              <a:rPr lang="en-IN" dirty="0">
                <a:highlight>
                  <a:srgbClr val="F6A500"/>
                </a:highlight>
              </a:rPr>
              <a:t>SDP Answer</a:t>
            </a:r>
          </a:p>
        </p:txBody>
      </p:sp>
      <p:sp>
        <p:nvSpPr>
          <p:cNvPr id="141" name="TextBox 140">
            <a:extLst>
              <a:ext uri="{FF2B5EF4-FFF2-40B4-BE49-F238E27FC236}">
                <a16:creationId xmlns:a16="http://schemas.microsoft.com/office/drawing/2014/main" id="{5EA65150-AB12-817E-501E-840B82D9610F}"/>
              </a:ext>
            </a:extLst>
          </p:cNvPr>
          <p:cNvSpPr txBox="1"/>
          <p:nvPr/>
        </p:nvSpPr>
        <p:spPr>
          <a:xfrm>
            <a:off x="7648211" y="2268408"/>
            <a:ext cx="1168504" cy="307777"/>
          </a:xfrm>
          <a:prstGeom prst="rect">
            <a:avLst/>
          </a:prstGeom>
          <a:noFill/>
        </p:spPr>
        <p:txBody>
          <a:bodyPr wrap="square" rtlCol="0">
            <a:spAutoFit/>
          </a:bodyPr>
          <a:lstStyle/>
          <a:p>
            <a:r>
              <a:rPr lang="en-IN" dirty="0">
                <a:highlight>
                  <a:srgbClr val="F6A500"/>
                </a:highlight>
              </a:rPr>
              <a:t>SDP offer</a:t>
            </a:r>
          </a:p>
        </p:txBody>
      </p:sp>
      <p:sp>
        <p:nvSpPr>
          <p:cNvPr id="142" name="TextBox 141">
            <a:extLst>
              <a:ext uri="{FF2B5EF4-FFF2-40B4-BE49-F238E27FC236}">
                <a16:creationId xmlns:a16="http://schemas.microsoft.com/office/drawing/2014/main" id="{0F01DB99-42C6-4C94-36BB-89E7248EEF46}"/>
              </a:ext>
            </a:extLst>
          </p:cNvPr>
          <p:cNvSpPr txBox="1"/>
          <p:nvPr/>
        </p:nvSpPr>
        <p:spPr>
          <a:xfrm>
            <a:off x="7872060" y="2560339"/>
            <a:ext cx="1444723" cy="307777"/>
          </a:xfrm>
          <a:prstGeom prst="rect">
            <a:avLst/>
          </a:prstGeom>
          <a:noFill/>
        </p:spPr>
        <p:txBody>
          <a:bodyPr wrap="square" rtlCol="0">
            <a:spAutoFit/>
          </a:bodyPr>
          <a:lstStyle/>
          <a:p>
            <a:r>
              <a:rPr lang="en-IN" dirty="0">
                <a:highlight>
                  <a:srgbClr val="F6A500"/>
                </a:highlight>
              </a:rPr>
              <a:t>SDP Answer</a:t>
            </a:r>
          </a:p>
        </p:txBody>
      </p:sp>
      <p:sp>
        <p:nvSpPr>
          <p:cNvPr id="143" name="Rectangle 142">
            <a:extLst>
              <a:ext uri="{FF2B5EF4-FFF2-40B4-BE49-F238E27FC236}">
                <a16:creationId xmlns:a16="http://schemas.microsoft.com/office/drawing/2014/main" id="{CD821990-B387-F9C2-8254-18E5A8390C8D}"/>
              </a:ext>
            </a:extLst>
          </p:cNvPr>
          <p:cNvSpPr/>
          <p:nvPr/>
        </p:nvSpPr>
        <p:spPr>
          <a:xfrm>
            <a:off x="2629361" y="3888276"/>
            <a:ext cx="1294758" cy="399526"/>
          </a:xfrm>
          <a:prstGeom prst="rect">
            <a:avLst/>
          </a:prstGeom>
          <a:solidFill>
            <a:schemeClr val="tx2">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4G Network Emulator</a:t>
            </a:r>
          </a:p>
        </p:txBody>
      </p:sp>
      <p:sp>
        <p:nvSpPr>
          <p:cNvPr id="146" name="Rectangle 145">
            <a:extLst>
              <a:ext uri="{FF2B5EF4-FFF2-40B4-BE49-F238E27FC236}">
                <a16:creationId xmlns:a16="http://schemas.microsoft.com/office/drawing/2014/main" id="{4D3A69F1-28BB-9833-3BE9-5A375260DB89}"/>
              </a:ext>
            </a:extLst>
          </p:cNvPr>
          <p:cNvSpPr/>
          <p:nvPr/>
        </p:nvSpPr>
        <p:spPr>
          <a:xfrm>
            <a:off x="7704513" y="4128760"/>
            <a:ext cx="1294758" cy="399526"/>
          </a:xfrm>
          <a:prstGeom prst="rect">
            <a:avLst/>
          </a:prstGeom>
          <a:solidFill>
            <a:schemeClr val="tx2">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4G Network Emulator</a:t>
            </a:r>
          </a:p>
        </p:txBody>
      </p:sp>
    </p:spTree>
    <p:extLst>
      <p:ext uri="{BB962C8B-B14F-4D97-AF65-F5344CB8AC3E}">
        <p14:creationId xmlns:p14="http://schemas.microsoft.com/office/powerpoint/2010/main" val="100049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2"/>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n-US" dirty="0"/>
              <a:t>Implementation Details</a:t>
            </a:r>
            <a:endParaRPr dirty="0"/>
          </a:p>
        </p:txBody>
      </p:sp>
      <p:sp>
        <p:nvSpPr>
          <p:cNvPr id="200" name="Google Shape;200;p22"/>
          <p:cNvSpPr txBox="1">
            <a:spLocks noGrp="1"/>
          </p:cNvSpPr>
          <p:nvPr>
            <p:ph type="body" idx="1"/>
          </p:nvPr>
        </p:nvSpPr>
        <p:spPr>
          <a:xfrm>
            <a:off x="1115568" y="2112899"/>
            <a:ext cx="10850460" cy="4608576"/>
          </a:xfrm>
          <a:prstGeom prst="rect">
            <a:avLst/>
          </a:prstGeom>
          <a:noFill/>
          <a:ln>
            <a:noFill/>
          </a:ln>
        </p:spPr>
        <p:txBody>
          <a:bodyPr spcFirstLastPara="1" wrap="square" lIns="91425" tIns="45700" rIns="91425" bIns="45700" anchor="t" anchorCtr="0">
            <a:normAutofit fontScale="92500"/>
          </a:bodyPr>
          <a:lstStyle/>
          <a:p>
            <a:r>
              <a:rPr lang="en-IN" b="1" dirty="0"/>
              <a:t>Hardware Setup:</a:t>
            </a:r>
            <a:endParaRPr lang="en-IN" dirty="0"/>
          </a:p>
          <a:p>
            <a:pPr lvl="1"/>
            <a:r>
              <a:rPr lang="en-IN" dirty="0"/>
              <a:t>Client: Local PC / XR interface for command generation.</a:t>
            </a:r>
          </a:p>
          <a:p>
            <a:pPr lvl="1"/>
            <a:r>
              <a:rPr lang="en-IN" dirty="0"/>
              <a:t>Server: Host running NVIDIA Isaac Sim simulating the UR3 robot.</a:t>
            </a:r>
          </a:p>
          <a:p>
            <a:r>
              <a:rPr lang="en-IN" b="1" dirty="0"/>
              <a:t>Software &amp; Tools:</a:t>
            </a:r>
            <a:endParaRPr lang="en-IN" dirty="0"/>
          </a:p>
          <a:p>
            <a:pPr lvl="1"/>
            <a:r>
              <a:rPr lang="en-IN" sz="2200" dirty="0"/>
              <a:t>Unity (C# WebRTC libraries).</a:t>
            </a:r>
          </a:p>
          <a:p>
            <a:pPr lvl="1"/>
            <a:r>
              <a:rPr lang="en-IN" sz="2200" dirty="0"/>
              <a:t>Python (</a:t>
            </a:r>
            <a:r>
              <a:rPr lang="en-IN" sz="2200" dirty="0" err="1"/>
              <a:t>aiortc</a:t>
            </a:r>
            <a:r>
              <a:rPr lang="en-IN" sz="2200" dirty="0"/>
              <a:t>, </a:t>
            </a:r>
            <a:r>
              <a:rPr lang="en-IN" sz="2200" dirty="0" err="1"/>
              <a:t>WebSockets</a:t>
            </a:r>
            <a:r>
              <a:rPr lang="en-IN" sz="2200" dirty="0"/>
              <a:t>).</a:t>
            </a:r>
          </a:p>
          <a:p>
            <a:pPr lvl="1"/>
            <a:r>
              <a:rPr lang="en-IN" sz="2200" dirty="0"/>
              <a:t>Network Emulation (e.g., Linux </a:t>
            </a:r>
            <a:r>
              <a:rPr lang="en-IN" sz="2200" dirty="0" err="1"/>
              <a:t>tc</a:t>
            </a:r>
            <a:r>
              <a:rPr lang="en-IN" sz="2200" dirty="0"/>
              <a:t> / NetEm) to simulate 4G conditions.</a:t>
            </a:r>
            <a:endParaRPr lang="en-IN" dirty="0"/>
          </a:p>
          <a:p>
            <a:r>
              <a:rPr lang="en-IN" b="1" dirty="0"/>
              <a:t>Implementation:</a:t>
            </a:r>
            <a:endParaRPr lang="en-IN" dirty="0"/>
          </a:p>
          <a:p>
            <a:pPr marL="114300" indent="0">
              <a:buNone/>
            </a:pPr>
            <a:r>
              <a:rPr lang="en-IN" i="1" dirty="0"/>
              <a:t>     Built:</a:t>
            </a:r>
            <a:r>
              <a:rPr lang="en-IN" dirty="0"/>
              <a:t> Custom WebRTC </a:t>
            </a:r>
            <a:r>
              <a:rPr lang="en-IN" dirty="0" err="1"/>
              <a:t>signaling</a:t>
            </a:r>
            <a:r>
              <a:rPr lang="en-IN" dirty="0"/>
              <a:t> server, WebRTC-based Unity Application </a:t>
            </a:r>
          </a:p>
          <a:p>
            <a:pPr marL="114300" indent="0">
              <a:buNone/>
            </a:pPr>
            <a:endParaRPr lang="en-IN" dirty="0"/>
          </a:p>
          <a:p>
            <a:pPr marL="228600" lvl="0" indent="-228600" algn="l" rtl="0">
              <a:lnSpc>
                <a:spcPct val="110000"/>
              </a:lnSpc>
              <a:spcBef>
                <a:spcPts val="0"/>
              </a:spcBef>
              <a:spcAft>
                <a:spcPts val="0"/>
              </a:spcAft>
              <a:buClr>
                <a:schemeClr val="dk1"/>
              </a:buClr>
              <a:buSzPct val="100000"/>
              <a:buChar char="•"/>
            </a:pPr>
            <a:endParaRPr dirty="0"/>
          </a:p>
        </p:txBody>
      </p:sp>
      <p:sp>
        <p:nvSpPr>
          <p:cNvPr id="201" name="Google Shape;201;p22"/>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3"/>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n-US" dirty="0"/>
              <a:t>Experimental Setup</a:t>
            </a:r>
            <a:endParaRPr dirty="0"/>
          </a:p>
        </p:txBody>
      </p:sp>
      <p:sp>
        <p:nvSpPr>
          <p:cNvPr id="207" name="Google Shape;207;p23"/>
          <p:cNvSpPr txBox="1">
            <a:spLocks noGrp="1"/>
          </p:cNvSpPr>
          <p:nvPr>
            <p:ph type="body" idx="1"/>
          </p:nvPr>
        </p:nvSpPr>
        <p:spPr>
          <a:xfrm>
            <a:off x="1115568" y="2159876"/>
            <a:ext cx="10168128" cy="4012324"/>
          </a:xfrm>
          <a:prstGeom prst="rect">
            <a:avLst/>
          </a:prstGeom>
          <a:noFill/>
          <a:ln>
            <a:noFill/>
          </a:ln>
        </p:spPr>
        <p:txBody>
          <a:bodyPr spcFirstLastPara="1" wrap="square" lIns="91425" tIns="45700" rIns="91425" bIns="45700" anchor="t" anchorCtr="0">
            <a:normAutofit fontScale="62500" lnSpcReduction="20000"/>
          </a:bodyPr>
          <a:lstStyle/>
          <a:p>
            <a:r>
              <a:rPr lang="en-IN" b="1" dirty="0"/>
              <a:t>Setup:</a:t>
            </a:r>
            <a:r>
              <a:rPr lang="en-IN" dirty="0"/>
              <a:t> Evaluated the system using four symmetrical and asymmetrical matrices:</a:t>
            </a:r>
          </a:p>
          <a:p>
            <a:pPr lvl="1"/>
            <a:r>
              <a:rPr lang="en-IN" dirty="0"/>
              <a:t>Command (UDP) / State (UDP)</a:t>
            </a:r>
          </a:p>
          <a:p>
            <a:pPr lvl="1"/>
            <a:r>
              <a:rPr lang="en-IN" dirty="0"/>
              <a:t>Command (UDP) / State (TCP)</a:t>
            </a:r>
          </a:p>
          <a:p>
            <a:pPr lvl="1"/>
            <a:r>
              <a:rPr lang="en-IN" dirty="0"/>
              <a:t>Command (TCP) / State (UDP)</a:t>
            </a:r>
          </a:p>
          <a:p>
            <a:pPr lvl="1"/>
            <a:r>
              <a:rPr lang="en-IN" dirty="0"/>
              <a:t>Command (TCP) / State (TCP)</a:t>
            </a:r>
          </a:p>
          <a:p>
            <a:pPr lvl="1"/>
            <a:endParaRPr lang="en-IN" dirty="0"/>
          </a:p>
          <a:p>
            <a:r>
              <a:rPr lang="en-IN" sz="2600" b="1" dirty="0"/>
              <a:t>Configured using :</a:t>
            </a:r>
          </a:p>
          <a:p>
            <a:pPr marL="114300" indent="0">
              <a:buNone/>
            </a:pPr>
            <a:r>
              <a:rPr lang="en-IN" sz="2600" b="1" dirty="0"/>
              <a:t>         UDP behaviour(ordered=False &amp; </a:t>
            </a:r>
            <a:r>
              <a:rPr lang="en-IN" sz="2600" b="1" dirty="0" err="1"/>
              <a:t>maxRetransmits</a:t>
            </a:r>
            <a:r>
              <a:rPr lang="en-IN" sz="2600" b="1" dirty="0"/>
              <a:t>=0)  | TCP behaviour(ordered=True &amp; </a:t>
            </a:r>
            <a:r>
              <a:rPr lang="en-IN" sz="2600" b="1" dirty="0" err="1"/>
              <a:t>maxRetransmits</a:t>
            </a:r>
            <a:r>
              <a:rPr lang="en-IN" sz="2600" b="1" dirty="0"/>
              <a:t>=Inf)</a:t>
            </a:r>
          </a:p>
          <a:p>
            <a:r>
              <a:rPr lang="en-IN" b="1" dirty="0"/>
              <a:t>Scenarios Designed:</a:t>
            </a:r>
            <a:endParaRPr lang="en-IN" dirty="0"/>
          </a:p>
          <a:p>
            <a:pPr lvl="1"/>
            <a:r>
              <a:rPr lang="en-IN" b="1" i="1" dirty="0"/>
              <a:t>Baseline:</a:t>
            </a:r>
            <a:r>
              <a:rPr lang="en-IN" dirty="0"/>
              <a:t> Ideal local network.</a:t>
            </a:r>
          </a:p>
          <a:p>
            <a:pPr lvl="1"/>
            <a:r>
              <a:rPr lang="en-IN" b="1" i="1" dirty="0"/>
              <a:t>Network Variant 1:</a:t>
            </a:r>
            <a:r>
              <a:rPr lang="en-IN" b="1" dirty="0"/>
              <a:t> </a:t>
            </a:r>
            <a:r>
              <a:rPr lang="en-IN" dirty="0"/>
              <a:t>Emulated 4G </a:t>
            </a:r>
          </a:p>
          <a:p>
            <a:pPr lvl="1"/>
            <a:r>
              <a:rPr lang="en-IN" b="1" i="1" dirty="0"/>
              <a:t>Network Variant 2</a:t>
            </a:r>
            <a:r>
              <a:rPr lang="en-IN" i="1" dirty="0"/>
              <a:t>:</a:t>
            </a:r>
            <a:r>
              <a:rPr lang="en-IN" dirty="0"/>
              <a:t> 4G condition with a complete 10-second throughput blackout (0 kbps).</a:t>
            </a:r>
          </a:p>
          <a:p>
            <a:pPr marL="685800" lvl="1" indent="-76200" algn="l" rtl="0">
              <a:lnSpc>
                <a:spcPct val="110000"/>
              </a:lnSpc>
              <a:spcBef>
                <a:spcPts val="500"/>
              </a:spcBef>
              <a:spcAft>
                <a:spcPts val="0"/>
              </a:spcAft>
              <a:buClr>
                <a:schemeClr val="dk1"/>
              </a:buClr>
              <a:buSzPts val="2400"/>
              <a:buNone/>
            </a:pPr>
            <a:endParaRPr dirty="0"/>
          </a:p>
          <a:p>
            <a:pPr marL="228600" lvl="0" indent="-50800" algn="l" rtl="0">
              <a:lnSpc>
                <a:spcPct val="110000"/>
              </a:lnSpc>
              <a:spcBef>
                <a:spcPts val="1000"/>
              </a:spcBef>
              <a:spcAft>
                <a:spcPts val="0"/>
              </a:spcAft>
              <a:buClr>
                <a:schemeClr val="dk1"/>
              </a:buClr>
              <a:buSzPts val="2800"/>
              <a:buNone/>
            </a:pPr>
            <a:endParaRPr dirty="0"/>
          </a:p>
          <a:p>
            <a:pPr marL="0" lvl="0" indent="0" algn="l" rtl="0">
              <a:lnSpc>
                <a:spcPct val="110000"/>
              </a:lnSpc>
              <a:spcBef>
                <a:spcPts val="1000"/>
              </a:spcBef>
              <a:spcAft>
                <a:spcPts val="0"/>
              </a:spcAft>
              <a:buClr>
                <a:schemeClr val="dk1"/>
              </a:buClr>
              <a:buSzPts val="2800"/>
              <a:buNone/>
            </a:pPr>
            <a:endParaRPr dirty="0"/>
          </a:p>
        </p:txBody>
      </p:sp>
      <p:sp>
        <p:nvSpPr>
          <p:cNvPr id="208" name="Google Shape;208;p23"/>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a:extLst>
            <a:ext uri="{FF2B5EF4-FFF2-40B4-BE49-F238E27FC236}">
              <a16:creationId xmlns:a16="http://schemas.microsoft.com/office/drawing/2014/main" id="{D1A0CF36-7921-B2FF-33EB-2651CE6AEF1A}"/>
            </a:ext>
          </a:extLst>
        </p:cNvPr>
        <p:cNvGrpSpPr/>
        <p:nvPr/>
      </p:nvGrpSpPr>
      <p:grpSpPr>
        <a:xfrm>
          <a:off x="0" y="0"/>
          <a:ext cx="0" cy="0"/>
          <a:chOff x="0" y="0"/>
          <a:chExt cx="0" cy="0"/>
        </a:xfrm>
      </p:grpSpPr>
      <p:sp>
        <p:nvSpPr>
          <p:cNvPr id="206" name="Google Shape;206;p23">
            <a:extLst>
              <a:ext uri="{FF2B5EF4-FFF2-40B4-BE49-F238E27FC236}">
                <a16:creationId xmlns:a16="http://schemas.microsoft.com/office/drawing/2014/main" id="{F07FC245-599C-6E55-75FC-E0D5739A7C68}"/>
              </a:ext>
            </a:extLst>
          </p:cNvPr>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lvl="0"/>
            <a:r>
              <a:rPr lang="en-IN" dirty="0"/>
              <a:t>Experiment Configuration &amp; Parameters</a:t>
            </a:r>
            <a:endParaRPr dirty="0"/>
          </a:p>
        </p:txBody>
      </p:sp>
      <p:sp>
        <p:nvSpPr>
          <p:cNvPr id="207" name="Google Shape;207;p23">
            <a:extLst>
              <a:ext uri="{FF2B5EF4-FFF2-40B4-BE49-F238E27FC236}">
                <a16:creationId xmlns:a16="http://schemas.microsoft.com/office/drawing/2014/main" id="{F3AD12AF-82D8-CECA-6D96-D74665DF2C1E}"/>
              </a:ext>
            </a:extLst>
          </p:cNvPr>
          <p:cNvSpPr txBox="1">
            <a:spLocks noGrp="1"/>
          </p:cNvSpPr>
          <p:nvPr>
            <p:ph type="body" idx="1"/>
          </p:nvPr>
        </p:nvSpPr>
        <p:spPr>
          <a:xfrm>
            <a:off x="1115568" y="2159876"/>
            <a:ext cx="10168128" cy="4012324"/>
          </a:xfrm>
          <a:prstGeom prst="rect">
            <a:avLst/>
          </a:prstGeom>
          <a:noFill/>
          <a:ln>
            <a:noFill/>
          </a:ln>
        </p:spPr>
        <p:txBody>
          <a:bodyPr spcFirstLastPara="1" wrap="square" lIns="91425" tIns="45700" rIns="91425" bIns="45700" anchor="t" anchorCtr="0">
            <a:normAutofit/>
          </a:bodyPr>
          <a:lstStyle/>
          <a:p>
            <a:r>
              <a:rPr lang="en-IN" sz="1800" b="1" dirty="0"/>
              <a:t>Update Rates:</a:t>
            </a:r>
          </a:p>
          <a:p>
            <a:pPr lvl="1" fontAlgn="base"/>
            <a:r>
              <a:rPr lang="en-IN" sz="1800" dirty="0"/>
              <a:t>Robot State Packets (Server to Client): ~50 </a:t>
            </a:r>
            <a:r>
              <a:rPr lang="en-IN" sz="1800" dirty="0" err="1"/>
              <a:t>ms</a:t>
            </a:r>
            <a:r>
              <a:rPr lang="en-IN" sz="1800" dirty="0"/>
              <a:t> (20 Hz)</a:t>
            </a:r>
          </a:p>
          <a:p>
            <a:pPr lvl="1" fontAlgn="base"/>
            <a:r>
              <a:rPr lang="en-IN" sz="1800" dirty="0"/>
              <a:t>Command Packets (Client to Server): ~40 </a:t>
            </a:r>
            <a:r>
              <a:rPr lang="en-IN" sz="1800" dirty="0" err="1"/>
              <a:t>ms</a:t>
            </a:r>
            <a:r>
              <a:rPr lang="en-IN" sz="1800" dirty="0"/>
              <a:t> (25 Hz)</a:t>
            </a:r>
          </a:p>
          <a:p>
            <a:r>
              <a:rPr lang="en-IN" sz="1800" b="1" dirty="0"/>
              <a:t>Experiment Duration: </a:t>
            </a:r>
            <a:r>
              <a:rPr lang="en-IN" sz="1800" dirty="0"/>
              <a:t>1 minute 30 seconds per trial.</a:t>
            </a:r>
          </a:p>
          <a:p>
            <a:r>
              <a:rPr lang="en-IN" sz="1800" b="1" dirty="0"/>
              <a:t>Packet Sizes:</a:t>
            </a:r>
          </a:p>
          <a:p>
            <a:pPr lvl="1" fontAlgn="base"/>
            <a:r>
              <a:rPr lang="en-IN" sz="1800" dirty="0"/>
              <a:t>Mean State Packet Size: 214 Bytes</a:t>
            </a:r>
          </a:p>
          <a:p>
            <a:pPr lvl="1" fontAlgn="base"/>
            <a:r>
              <a:rPr lang="en-IN" sz="1800" dirty="0"/>
              <a:t>Mean Command Packet Size: 180 Bytes</a:t>
            </a:r>
          </a:p>
          <a:p>
            <a:pPr marL="685800" lvl="1" indent="-76200" algn="l" rtl="0">
              <a:lnSpc>
                <a:spcPct val="110000"/>
              </a:lnSpc>
              <a:spcBef>
                <a:spcPts val="500"/>
              </a:spcBef>
              <a:spcAft>
                <a:spcPts val="0"/>
              </a:spcAft>
              <a:buClr>
                <a:schemeClr val="dk1"/>
              </a:buClr>
              <a:buSzPts val="2400"/>
              <a:buNone/>
            </a:pPr>
            <a:endParaRPr dirty="0"/>
          </a:p>
          <a:p>
            <a:pPr marL="228600" lvl="0" indent="-50800" algn="l" rtl="0">
              <a:lnSpc>
                <a:spcPct val="110000"/>
              </a:lnSpc>
              <a:spcBef>
                <a:spcPts val="1000"/>
              </a:spcBef>
              <a:spcAft>
                <a:spcPts val="0"/>
              </a:spcAft>
              <a:buClr>
                <a:schemeClr val="dk1"/>
              </a:buClr>
              <a:buSzPts val="2800"/>
              <a:buNone/>
            </a:pPr>
            <a:endParaRPr dirty="0"/>
          </a:p>
          <a:p>
            <a:pPr marL="0" lvl="0" indent="0" algn="l" rtl="0">
              <a:lnSpc>
                <a:spcPct val="110000"/>
              </a:lnSpc>
              <a:spcBef>
                <a:spcPts val="1000"/>
              </a:spcBef>
              <a:spcAft>
                <a:spcPts val="0"/>
              </a:spcAft>
              <a:buClr>
                <a:schemeClr val="dk1"/>
              </a:buClr>
              <a:buSzPts val="2800"/>
              <a:buNone/>
            </a:pPr>
            <a:endParaRPr dirty="0"/>
          </a:p>
        </p:txBody>
      </p:sp>
      <p:sp>
        <p:nvSpPr>
          <p:cNvPr id="208" name="Google Shape;208;p23">
            <a:extLst>
              <a:ext uri="{FF2B5EF4-FFF2-40B4-BE49-F238E27FC236}">
                <a16:creationId xmlns:a16="http://schemas.microsoft.com/office/drawing/2014/main" id="{F0415D4E-E30A-53C4-BD6E-82FA25F4E0EE}"/>
              </a:ext>
            </a:extLst>
          </p:cNvPr>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3956312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a:extLst>
            <a:ext uri="{FF2B5EF4-FFF2-40B4-BE49-F238E27FC236}">
              <a16:creationId xmlns:a16="http://schemas.microsoft.com/office/drawing/2014/main" id="{BC4F2880-985A-800D-5CD3-2B1787D746C0}"/>
            </a:ext>
          </a:extLst>
        </p:cNvPr>
        <p:cNvGrpSpPr/>
        <p:nvPr/>
      </p:nvGrpSpPr>
      <p:grpSpPr>
        <a:xfrm>
          <a:off x="0" y="0"/>
          <a:ext cx="0" cy="0"/>
          <a:chOff x="0" y="0"/>
          <a:chExt cx="0" cy="0"/>
        </a:xfrm>
      </p:grpSpPr>
      <p:sp>
        <p:nvSpPr>
          <p:cNvPr id="206" name="Google Shape;206;p23">
            <a:extLst>
              <a:ext uri="{FF2B5EF4-FFF2-40B4-BE49-F238E27FC236}">
                <a16:creationId xmlns:a16="http://schemas.microsoft.com/office/drawing/2014/main" id="{7A124032-3D4F-522D-C57B-CFDC3D93AD87}"/>
              </a:ext>
            </a:extLst>
          </p:cNvPr>
          <p:cNvSpPr txBox="1">
            <a:spLocks noGrp="1"/>
          </p:cNvSpPr>
          <p:nvPr>
            <p:ph type="title"/>
          </p:nvPr>
        </p:nvSpPr>
        <p:spPr>
          <a:xfrm>
            <a:off x="934556" y="0"/>
            <a:ext cx="10168128" cy="1179576"/>
          </a:xfrm>
          <a:prstGeom prst="rect">
            <a:avLst/>
          </a:prstGeom>
          <a:noFill/>
          <a:ln>
            <a:noFill/>
          </a:ln>
        </p:spPr>
        <p:txBody>
          <a:bodyPr spcFirstLastPara="1" wrap="square" lIns="91425" tIns="45700" rIns="91425" bIns="45700" anchor="ctr" anchorCtr="0">
            <a:normAutofit/>
          </a:bodyPr>
          <a:lstStyle/>
          <a:p>
            <a:pPr lvl="0"/>
            <a:r>
              <a:rPr lang="en-US" dirty="0"/>
              <a:t>4G Dataset Emulation (Throughput)</a:t>
            </a:r>
            <a:endParaRPr dirty="0"/>
          </a:p>
        </p:txBody>
      </p:sp>
      <p:sp>
        <p:nvSpPr>
          <p:cNvPr id="207" name="Google Shape;207;p23">
            <a:extLst>
              <a:ext uri="{FF2B5EF4-FFF2-40B4-BE49-F238E27FC236}">
                <a16:creationId xmlns:a16="http://schemas.microsoft.com/office/drawing/2014/main" id="{A10B737B-FAD6-F969-274E-30DDC9613E22}"/>
              </a:ext>
            </a:extLst>
          </p:cNvPr>
          <p:cNvSpPr txBox="1">
            <a:spLocks noGrp="1"/>
          </p:cNvSpPr>
          <p:nvPr>
            <p:ph type="body" idx="1"/>
          </p:nvPr>
        </p:nvSpPr>
        <p:spPr>
          <a:xfrm>
            <a:off x="1115568" y="2159876"/>
            <a:ext cx="10168128" cy="4012324"/>
          </a:xfrm>
          <a:prstGeom prst="rect">
            <a:avLst/>
          </a:prstGeom>
          <a:noFill/>
          <a:ln>
            <a:noFill/>
          </a:ln>
        </p:spPr>
        <p:txBody>
          <a:bodyPr spcFirstLastPara="1" wrap="square" lIns="91425" tIns="45700" rIns="91425" bIns="45700" anchor="t" anchorCtr="0">
            <a:normAutofit/>
          </a:bodyPr>
          <a:lstStyle/>
          <a:p>
            <a:pPr marL="685800" lvl="1" indent="-76200" algn="l" rtl="0">
              <a:lnSpc>
                <a:spcPct val="110000"/>
              </a:lnSpc>
              <a:spcBef>
                <a:spcPts val="500"/>
              </a:spcBef>
              <a:spcAft>
                <a:spcPts val="0"/>
              </a:spcAft>
              <a:buClr>
                <a:schemeClr val="dk1"/>
              </a:buClr>
              <a:buSzPts val="2400"/>
              <a:buNone/>
            </a:pPr>
            <a:endParaRPr dirty="0"/>
          </a:p>
          <a:p>
            <a:pPr marL="228600" lvl="0" indent="-50800" algn="l" rtl="0">
              <a:lnSpc>
                <a:spcPct val="110000"/>
              </a:lnSpc>
              <a:spcBef>
                <a:spcPts val="1000"/>
              </a:spcBef>
              <a:spcAft>
                <a:spcPts val="0"/>
              </a:spcAft>
              <a:buClr>
                <a:schemeClr val="dk1"/>
              </a:buClr>
              <a:buSzPts val="2800"/>
              <a:buNone/>
            </a:pPr>
            <a:endParaRPr dirty="0"/>
          </a:p>
          <a:p>
            <a:pPr marL="0" lvl="0" indent="0" algn="l" rtl="0">
              <a:lnSpc>
                <a:spcPct val="110000"/>
              </a:lnSpc>
              <a:spcBef>
                <a:spcPts val="1000"/>
              </a:spcBef>
              <a:spcAft>
                <a:spcPts val="0"/>
              </a:spcAft>
              <a:buClr>
                <a:schemeClr val="dk1"/>
              </a:buClr>
              <a:buSzPts val="2800"/>
              <a:buNone/>
            </a:pPr>
            <a:endParaRPr dirty="0"/>
          </a:p>
        </p:txBody>
      </p:sp>
      <p:sp>
        <p:nvSpPr>
          <p:cNvPr id="208" name="Google Shape;208;p23">
            <a:extLst>
              <a:ext uri="{FF2B5EF4-FFF2-40B4-BE49-F238E27FC236}">
                <a16:creationId xmlns:a16="http://schemas.microsoft.com/office/drawing/2014/main" id="{4CCCC1B6-63AB-8536-6F9A-E06D8F959309}"/>
              </a:ext>
            </a:extLst>
          </p:cNvPr>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pic>
        <p:nvPicPr>
          <p:cNvPr id="2" name="Picture 1">
            <a:extLst>
              <a:ext uri="{FF2B5EF4-FFF2-40B4-BE49-F238E27FC236}">
                <a16:creationId xmlns:a16="http://schemas.microsoft.com/office/drawing/2014/main" id="{29DAE984-2126-DA5B-2E06-3A94C879EA03}"/>
              </a:ext>
            </a:extLst>
          </p:cNvPr>
          <p:cNvPicPr>
            <a:picLocks noChangeAspect="1"/>
          </p:cNvPicPr>
          <p:nvPr/>
        </p:nvPicPr>
        <p:blipFill>
          <a:blip r:embed="rId3"/>
          <a:stretch>
            <a:fillRect/>
          </a:stretch>
        </p:blipFill>
        <p:spPr>
          <a:xfrm>
            <a:off x="1605215" y="825615"/>
            <a:ext cx="8826809" cy="3058127"/>
          </a:xfrm>
          <a:prstGeom prst="rect">
            <a:avLst/>
          </a:prstGeom>
        </p:spPr>
      </p:pic>
      <p:pic>
        <p:nvPicPr>
          <p:cNvPr id="3" name="Picture 2">
            <a:extLst>
              <a:ext uri="{FF2B5EF4-FFF2-40B4-BE49-F238E27FC236}">
                <a16:creationId xmlns:a16="http://schemas.microsoft.com/office/drawing/2014/main" id="{CB31A484-B980-433C-5886-8EE1FE1B1FFA}"/>
              </a:ext>
            </a:extLst>
          </p:cNvPr>
          <p:cNvPicPr>
            <a:picLocks noChangeAspect="1"/>
          </p:cNvPicPr>
          <p:nvPr/>
        </p:nvPicPr>
        <p:blipFill>
          <a:blip r:embed="rId4"/>
          <a:stretch>
            <a:fillRect/>
          </a:stretch>
        </p:blipFill>
        <p:spPr>
          <a:xfrm>
            <a:off x="1524000" y="3883742"/>
            <a:ext cx="8908024" cy="2834559"/>
          </a:xfrm>
          <a:prstGeom prst="rect">
            <a:avLst/>
          </a:prstGeom>
        </p:spPr>
      </p:pic>
    </p:spTree>
    <p:extLst>
      <p:ext uri="{BB962C8B-B14F-4D97-AF65-F5344CB8AC3E}">
        <p14:creationId xmlns:p14="http://schemas.microsoft.com/office/powerpoint/2010/main" val="1124621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1"/>
          <p:cNvSpPr txBox="1">
            <a:spLocks noGrp="1"/>
          </p:cNvSpPr>
          <p:nvPr>
            <p:ph type="title"/>
          </p:nvPr>
        </p:nvSpPr>
        <p:spPr>
          <a:xfrm>
            <a:off x="749808" y="344127"/>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n-US" dirty="0"/>
              <a:t>Flow of Experimentation</a:t>
            </a:r>
          </a:p>
        </p:txBody>
      </p:sp>
      <p:sp>
        <p:nvSpPr>
          <p:cNvPr id="193" name="Google Shape;193;p21"/>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12</a:t>
            </a:fld>
            <a:endParaRPr lang="en-US"/>
          </a:p>
        </p:txBody>
      </p:sp>
      <p:graphicFrame>
        <p:nvGraphicFramePr>
          <p:cNvPr id="2" name="Diagram 1">
            <a:extLst>
              <a:ext uri="{FF2B5EF4-FFF2-40B4-BE49-F238E27FC236}">
                <a16:creationId xmlns:a16="http://schemas.microsoft.com/office/drawing/2014/main" id="{9A81AF5E-A5BD-8CE9-6B1E-5B1E033F6E77}"/>
              </a:ext>
            </a:extLst>
          </p:cNvPr>
          <p:cNvGraphicFramePr/>
          <p:nvPr>
            <p:extLst>
              <p:ext uri="{D42A27DB-BD31-4B8C-83A1-F6EECF244321}">
                <p14:modId xmlns:p14="http://schemas.microsoft.com/office/powerpoint/2010/main" val="2201471698"/>
              </p:ext>
            </p:extLst>
          </p:nvPr>
        </p:nvGraphicFramePr>
        <p:xfrm>
          <a:off x="908304" y="463444"/>
          <a:ext cx="10071510" cy="70344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0">
          <a:extLst>
            <a:ext uri="{FF2B5EF4-FFF2-40B4-BE49-F238E27FC236}">
              <a16:creationId xmlns:a16="http://schemas.microsoft.com/office/drawing/2014/main" id="{D83D8D23-2A02-1127-CB76-26D74A7E47EB}"/>
            </a:ext>
          </a:extLst>
        </p:cNvPr>
        <p:cNvGrpSpPr/>
        <p:nvPr/>
      </p:nvGrpSpPr>
      <p:grpSpPr>
        <a:xfrm>
          <a:off x="0" y="0"/>
          <a:ext cx="0" cy="0"/>
          <a:chOff x="0" y="0"/>
          <a:chExt cx="0" cy="0"/>
        </a:xfrm>
      </p:grpSpPr>
      <p:sp>
        <p:nvSpPr>
          <p:cNvPr id="191" name="Google Shape;191;p21">
            <a:extLst>
              <a:ext uri="{FF2B5EF4-FFF2-40B4-BE49-F238E27FC236}">
                <a16:creationId xmlns:a16="http://schemas.microsoft.com/office/drawing/2014/main" id="{B33CD002-EA20-B5E4-CE5E-149D6C1DFFC4}"/>
              </a:ext>
            </a:extLst>
          </p:cNvPr>
          <p:cNvSpPr txBox="1">
            <a:spLocks noGrp="1"/>
          </p:cNvSpPr>
          <p:nvPr>
            <p:ph type="title"/>
          </p:nvPr>
        </p:nvSpPr>
        <p:spPr>
          <a:xfrm>
            <a:off x="963627" y="463444"/>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n-US" dirty="0"/>
              <a:t>Metric</a:t>
            </a:r>
          </a:p>
        </p:txBody>
      </p:sp>
      <p:sp>
        <p:nvSpPr>
          <p:cNvPr id="193" name="Google Shape;193;p21">
            <a:extLst>
              <a:ext uri="{FF2B5EF4-FFF2-40B4-BE49-F238E27FC236}">
                <a16:creationId xmlns:a16="http://schemas.microsoft.com/office/drawing/2014/main" id="{C28DE941-9F9E-76CA-328D-F2DA60DABCA1}"/>
              </a:ext>
            </a:extLst>
          </p:cNvPr>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13</a:t>
            </a:fld>
            <a:endParaRPr lang="en-US"/>
          </a:p>
        </p:txBody>
      </p:sp>
      <p:graphicFrame>
        <p:nvGraphicFramePr>
          <p:cNvPr id="3" name="Table 2">
            <a:extLst>
              <a:ext uri="{FF2B5EF4-FFF2-40B4-BE49-F238E27FC236}">
                <a16:creationId xmlns:a16="http://schemas.microsoft.com/office/drawing/2014/main" id="{A324C124-EA83-DFD8-9728-19709B64EFDA}"/>
              </a:ext>
            </a:extLst>
          </p:cNvPr>
          <p:cNvGraphicFramePr>
            <a:graphicFrameLocks noGrp="1"/>
          </p:cNvGraphicFramePr>
          <p:nvPr>
            <p:extLst>
              <p:ext uri="{D42A27DB-BD31-4B8C-83A1-F6EECF244321}">
                <p14:modId xmlns:p14="http://schemas.microsoft.com/office/powerpoint/2010/main" val="1831432766"/>
              </p:ext>
            </p:extLst>
          </p:nvPr>
        </p:nvGraphicFramePr>
        <p:xfrm>
          <a:off x="1120877" y="2153265"/>
          <a:ext cx="9488129" cy="3827967"/>
        </p:xfrm>
        <a:graphic>
          <a:graphicData uri="http://schemas.openxmlformats.org/drawingml/2006/table">
            <a:tbl>
              <a:tblPr/>
              <a:tblGrid>
                <a:gridCol w="3451353">
                  <a:extLst>
                    <a:ext uri="{9D8B030D-6E8A-4147-A177-3AD203B41FA5}">
                      <a16:colId xmlns:a16="http://schemas.microsoft.com/office/drawing/2014/main" val="2858082085"/>
                    </a:ext>
                  </a:extLst>
                </a:gridCol>
                <a:gridCol w="2573052">
                  <a:extLst>
                    <a:ext uri="{9D8B030D-6E8A-4147-A177-3AD203B41FA5}">
                      <a16:colId xmlns:a16="http://schemas.microsoft.com/office/drawing/2014/main" val="2679827893"/>
                    </a:ext>
                  </a:extLst>
                </a:gridCol>
                <a:gridCol w="3463724">
                  <a:extLst>
                    <a:ext uri="{9D8B030D-6E8A-4147-A177-3AD203B41FA5}">
                      <a16:colId xmlns:a16="http://schemas.microsoft.com/office/drawing/2014/main" val="4248198988"/>
                    </a:ext>
                  </a:extLst>
                </a:gridCol>
              </a:tblGrid>
              <a:tr h="408259">
                <a:tc>
                  <a:txBody>
                    <a:bodyPr/>
                    <a:lstStyle/>
                    <a:p>
                      <a:pPr rtl="0" fontAlgn="t">
                        <a:buNone/>
                      </a:pPr>
                      <a:r>
                        <a:rPr lang="en-IN" sz="2000" b="1" i="0" u="none" strike="noStrike">
                          <a:solidFill>
                            <a:srgbClr val="000000"/>
                          </a:solidFill>
                          <a:effectLst/>
                          <a:latin typeface="Arial" panose="020B0604020202020204" pitchFamily="34" charset="0"/>
                        </a:rPr>
                        <a:t>Metric</a:t>
                      </a:r>
                      <a:endParaRPr lang="en-IN" sz="20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IN" sz="2000" b="1" i="0" u="none" strike="noStrike">
                          <a:solidFill>
                            <a:srgbClr val="000000"/>
                          </a:solidFill>
                          <a:effectLst/>
                          <a:latin typeface="Arial" panose="020B0604020202020204" pitchFamily="34" charset="0"/>
                        </a:rPr>
                        <a:t>Formula</a:t>
                      </a:r>
                      <a:endParaRPr lang="en-IN" sz="20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IN" sz="2000" b="1" i="0" u="none" strike="noStrike" dirty="0">
                          <a:solidFill>
                            <a:srgbClr val="000000"/>
                          </a:solidFill>
                          <a:effectLst/>
                          <a:latin typeface="Arial" panose="020B0604020202020204" pitchFamily="34" charset="0"/>
                        </a:rPr>
                        <a:t>Description</a:t>
                      </a:r>
                      <a:endParaRPr lang="en-IN" sz="2000" dirty="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8435323"/>
                  </a:ext>
                </a:extLst>
              </a:tr>
              <a:tr h="676852">
                <a:tc>
                  <a:txBody>
                    <a:bodyPr/>
                    <a:lstStyle/>
                    <a:p>
                      <a:pPr rtl="0" fontAlgn="t">
                        <a:buNone/>
                      </a:pPr>
                      <a:r>
                        <a:rPr lang="en-IN" sz="1600" b="0" i="0" u="none" strike="noStrike">
                          <a:solidFill>
                            <a:srgbClr val="000000"/>
                          </a:solidFill>
                          <a:effectLst/>
                          <a:latin typeface="Arial" panose="020B0604020202020204" pitchFamily="34" charset="0"/>
                        </a:rPr>
                        <a:t>Control Loop Latency (CLL)</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IN" sz="1600" b="0" i="0" u="none" strike="noStrike">
                          <a:solidFill>
                            <a:srgbClr val="000000"/>
                          </a:solidFill>
                          <a:effectLst/>
                          <a:latin typeface="Arial" panose="020B0604020202020204" pitchFamily="34" charset="0"/>
                        </a:rPr>
                        <a:t>(T6-T1)</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IN" sz="1600" b="0" i="0" u="none" strike="noStrike">
                          <a:solidFill>
                            <a:srgbClr val="000000"/>
                          </a:solidFill>
                          <a:effectLst/>
                          <a:latin typeface="Arial" panose="020B0604020202020204" pitchFamily="34" charset="0"/>
                        </a:rPr>
                        <a:t>Command to feedback latency</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1560407"/>
                  </a:ext>
                </a:extLst>
              </a:tr>
              <a:tr h="408259">
                <a:tc>
                  <a:txBody>
                    <a:bodyPr/>
                    <a:lstStyle/>
                    <a:p>
                      <a:pPr rtl="0" fontAlgn="t">
                        <a:buNone/>
                      </a:pPr>
                      <a:r>
                        <a:rPr lang="en-IN" sz="1600" b="0" i="0" u="none" strike="noStrike">
                          <a:solidFill>
                            <a:srgbClr val="000000"/>
                          </a:solidFill>
                          <a:effectLst/>
                          <a:latin typeface="Arial" panose="020B0604020202020204" pitchFamily="34" charset="0"/>
                        </a:rPr>
                        <a:t>AppBuffer Delay</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IN" sz="1600" b="0" i="0" u="none" strike="noStrike">
                          <a:solidFill>
                            <a:srgbClr val="000000"/>
                          </a:solidFill>
                          <a:effectLst/>
                          <a:latin typeface="Arial" panose="020B0604020202020204" pitchFamily="34" charset="0"/>
                        </a:rPr>
                        <a:t>(TQ-T3)</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IN" sz="1600" b="0" i="0" u="none" strike="noStrike">
                          <a:solidFill>
                            <a:srgbClr val="000000"/>
                          </a:solidFill>
                          <a:effectLst/>
                          <a:latin typeface="Arial" panose="020B0604020202020204" pitchFamily="34" charset="0"/>
                        </a:rPr>
                        <a:t>Server application queue wait</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4076165"/>
                  </a:ext>
                </a:extLst>
              </a:tr>
              <a:tr h="655364">
                <a:tc>
                  <a:txBody>
                    <a:bodyPr/>
                    <a:lstStyle/>
                    <a:p>
                      <a:pPr rtl="0" fontAlgn="t">
                        <a:buNone/>
                      </a:pPr>
                      <a:r>
                        <a:rPr lang="en-IN" sz="1600" b="0" i="0" u="none" strike="noStrike">
                          <a:solidFill>
                            <a:srgbClr val="000000"/>
                          </a:solidFill>
                          <a:effectLst/>
                          <a:latin typeface="Arial" panose="020B0604020202020204" pitchFamily="34" charset="0"/>
                        </a:rPr>
                        <a:t>Processing Delay</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IN" sz="1600" b="0" i="0" u="none" strike="noStrike">
                          <a:solidFill>
                            <a:srgbClr val="000000"/>
                          </a:solidFill>
                          <a:effectLst/>
                          <a:latin typeface="Arial" panose="020B0604020202020204" pitchFamily="34" charset="0"/>
                        </a:rPr>
                        <a:t>(T4-TQ)</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IN" sz="1600" b="0" i="0" u="none" strike="noStrike">
                          <a:solidFill>
                            <a:srgbClr val="000000"/>
                          </a:solidFill>
                          <a:effectLst/>
                          <a:latin typeface="Arial" panose="020B0604020202020204" pitchFamily="34" charset="0"/>
                        </a:rPr>
                        <a:t>Simulator robot processing (Server)</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405876"/>
                  </a:ext>
                </a:extLst>
              </a:tr>
              <a:tr h="859494">
                <a:tc>
                  <a:txBody>
                    <a:bodyPr/>
                    <a:lstStyle/>
                    <a:p>
                      <a:pPr rtl="0" fontAlgn="t">
                        <a:buNone/>
                      </a:pPr>
                      <a:r>
                        <a:rPr lang="en-IN" sz="1600" b="0" i="0" u="none" strike="noStrike">
                          <a:solidFill>
                            <a:srgbClr val="000000"/>
                          </a:solidFill>
                          <a:effectLst/>
                          <a:latin typeface="Arial" panose="020B0604020202020204" pitchFamily="34" charset="0"/>
                        </a:rPr>
                        <a:t>Network RTT</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IN" sz="1600" b="0" i="0" u="none" strike="noStrike">
                          <a:solidFill>
                            <a:srgbClr val="000000"/>
                          </a:solidFill>
                          <a:effectLst/>
                          <a:latin typeface="Arial" panose="020B0604020202020204" pitchFamily="34" charset="0"/>
                        </a:rPr>
                        <a:t>(CLL-(AppBuffer+dProcessing))</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US" sz="1600" b="0" i="0" u="none" strike="noStrike">
                          <a:solidFill>
                            <a:srgbClr val="000000"/>
                          </a:solidFill>
                          <a:effectLst/>
                          <a:latin typeface="Arial" panose="020B0604020202020204" pitchFamily="34" charset="0"/>
                        </a:rPr>
                        <a:t>2 way propagation delay and TCP/IP network stack delay</a:t>
                      </a:r>
                      <a:endParaRPr lang="en-US"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7344204"/>
                  </a:ext>
                </a:extLst>
              </a:tr>
              <a:tr h="408259">
                <a:tc>
                  <a:txBody>
                    <a:bodyPr/>
                    <a:lstStyle/>
                    <a:p>
                      <a:pPr rtl="0" fontAlgn="t">
                        <a:buNone/>
                      </a:pPr>
                      <a:r>
                        <a:rPr lang="en-IN" sz="1600" b="0" i="0" u="none" strike="noStrike">
                          <a:solidFill>
                            <a:srgbClr val="000000"/>
                          </a:solidFill>
                          <a:effectLst/>
                          <a:latin typeface="Arial" panose="020B0604020202020204" pitchFamily="34" charset="0"/>
                        </a:rPr>
                        <a:t>Rendering Delay</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IN" sz="1600" b="0" i="0" u="none" strike="noStrike">
                          <a:solidFill>
                            <a:srgbClr val="000000"/>
                          </a:solidFill>
                          <a:effectLst/>
                          <a:latin typeface="Arial" panose="020B0604020202020204" pitchFamily="34" charset="0"/>
                        </a:rPr>
                        <a:t>(T7-T6)</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IN" sz="1600" b="0" i="0" u="none" strike="noStrike">
                          <a:solidFill>
                            <a:srgbClr val="000000"/>
                          </a:solidFill>
                          <a:effectLst/>
                          <a:latin typeface="Arial" panose="020B0604020202020204" pitchFamily="34" charset="0"/>
                        </a:rPr>
                        <a:t>Client rendering latency</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08107494"/>
                  </a:ext>
                </a:extLst>
              </a:tr>
              <a:tr h="408259">
                <a:tc>
                  <a:txBody>
                    <a:bodyPr/>
                    <a:lstStyle/>
                    <a:p>
                      <a:pPr rtl="0" fontAlgn="t">
                        <a:buNone/>
                      </a:pPr>
                      <a:r>
                        <a:rPr lang="en-IN" sz="1600" b="0" i="0" u="none" strike="noStrike" dirty="0">
                          <a:solidFill>
                            <a:srgbClr val="000000"/>
                          </a:solidFill>
                          <a:effectLst/>
                          <a:latin typeface="Arial" panose="020B0604020202020204" pitchFamily="34" charset="0"/>
                        </a:rPr>
                        <a:t>Motion-to-Photon Delay (MTP)</a:t>
                      </a:r>
                      <a:endParaRPr lang="en-IN" sz="1600" dirty="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IN" sz="1600" b="0" i="0" u="none" strike="noStrike">
                          <a:solidFill>
                            <a:srgbClr val="000000"/>
                          </a:solidFill>
                          <a:effectLst/>
                          <a:latin typeface="Arial" panose="020B0604020202020204" pitchFamily="34" charset="0"/>
                        </a:rPr>
                        <a:t>(CLL + dRendering)</a:t>
                      </a:r>
                      <a:endParaRPr lang="en-IN" sz="160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tc>
                  <a:txBody>
                    <a:bodyPr/>
                    <a:lstStyle/>
                    <a:p>
                      <a:pPr rtl="0" fontAlgn="t">
                        <a:buNone/>
                      </a:pPr>
                      <a:r>
                        <a:rPr lang="en-IN" sz="1600" b="0" i="0" u="none" strike="noStrike" dirty="0">
                          <a:solidFill>
                            <a:srgbClr val="000000"/>
                          </a:solidFill>
                          <a:effectLst/>
                          <a:latin typeface="Arial" panose="020B0604020202020204" pitchFamily="34" charset="0"/>
                        </a:rPr>
                        <a:t>Total user-perceived latency</a:t>
                      </a:r>
                      <a:endParaRPr lang="en-IN" sz="1600" dirty="0">
                        <a:effectLst/>
                      </a:endParaRPr>
                    </a:p>
                  </a:txBody>
                  <a:tcPr marL="53340" marR="53340" marT="53340" marB="53340">
                    <a:lnL w="5075" cap="flat" cmpd="sng" algn="ctr">
                      <a:solidFill>
                        <a:srgbClr val="000000"/>
                      </a:solidFill>
                      <a:prstDash val="solid"/>
                      <a:round/>
                      <a:headEnd type="none" w="med" len="med"/>
                      <a:tailEnd type="none" w="med" len="med"/>
                    </a:lnL>
                    <a:lnR w="5075" cap="flat" cmpd="sng" algn="ctr">
                      <a:solidFill>
                        <a:srgbClr val="000000"/>
                      </a:solidFill>
                      <a:prstDash val="solid"/>
                      <a:round/>
                      <a:headEnd type="none" w="med" len="med"/>
                      <a:tailEnd type="none" w="med" len="med"/>
                    </a:lnR>
                    <a:lnT w="5075" cap="flat" cmpd="sng" algn="ctr">
                      <a:solidFill>
                        <a:srgbClr val="000000"/>
                      </a:solidFill>
                      <a:prstDash val="solid"/>
                      <a:round/>
                      <a:headEnd type="none" w="med" len="med"/>
                      <a:tailEnd type="none" w="med" len="med"/>
                    </a:lnT>
                    <a:lnB w="507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0303888"/>
                  </a:ext>
                </a:extLst>
              </a:tr>
            </a:tbl>
          </a:graphicData>
        </a:graphic>
      </p:graphicFrame>
    </p:spTree>
    <p:extLst>
      <p:ext uri="{BB962C8B-B14F-4D97-AF65-F5344CB8AC3E}">
        <p14:creationId xmlns:p14="http://schemas.microsoft.com/office/powerpoint/2010/main" val="197712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4"/>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n-US" dirty="0"/>
              <a:t>User QoE Metrics</a:t>
            </a:r>
            <a:endParaRPr dirty="0"/>
          </a:p>
        </p:txBody>
      </p:sp>
      <p:sp>
        <p:nvSpPr>
          <p:cNvPr id="215" name="Google Shape;215;p24"/>
          <p:cNvSpPr txBox="1">
            <a:spLocks noGrp="1"/>
          </p:cNvSpPr>
          <p:nvPr>
            <p:ph type="body" idx="1"/>
          </p:nvPr>
        </p:nvSpPr>
        <p:spPr>
          <a:xfrm>
            <a:off x="540774" y="2025445"/>
            <a:ext cx="10742922" cy="4146755"/>
          </a:xfrm>
          <a:prstGeom prst="rect">
            <a:avLst/>
          </a:prstGeom>
          <a:noFill/>
          <a:ln>
            <a:noFill/>
          </a:ln>
        </p:spPr>
        <p:txBody>
          <a:bodyPr spcFirstLastPara="1" wrap="square" lIns="91425" tIns="45700" rIns="91425" bIns="45700" anchor="t" anchorCtr="0">
            <a:normAutofit fontScale="62500" lnSpcReduction="20000"/>
          </a:bodyPr>
          <a:lstStyle/>
          <a:p>
            <a:r>
              <a:rPr lang="en-US" b="1" dirty="0"/>
              <a:t>State Jitter (Metric for Visual Continuity)</a:t>
            </a:r>
            <a:endParaRPr lang="en-US" dirty="0"/>
          </a:p>
          <a:p>
            <a:pPr lvl="1"/>
            <a:r>
              <a:rPr lang="en-US" b="1" dirty="0"/>
              <a:t>Definition:</a:t>
            </a:r>
            <a:r>
              <a:rPr lang="en-US" dirty="0"/>
              <a:t> The variation in arrival time between consecutive state data packets across the network.</a:t>
            </a:r>
          </a:p>
          <a:p>
            <a:pPr lvl="1"/>
            <a:r>
              <a:rPr lang="en-US" b="1" dirty="0"/>
              <a:t>System Impact:</a:t>
            </a:r>
            <a:r>
              <a:rPr lang="en-US" dirty="0"/>
              <a:t> High jitter means state updates arrive unpredictably. Visually, this manifests as "stutter"—the robot UI freezes while waiting for a delayed packet, then violently teleports to catch up.</a:t>
            </a:r>
          </a:p>
          <a:p>
            <a:r>
              <a:rPr lang="en-US" b="1" dirty="0"/>
              <a:t>Positional Drift (Metric for Operational Safety)</a:t>
            </a:r>
            <a:endParaRPr lang="en-US" dirty="0"/>
          </a:p>
          <a:p>
            <a:pPr lvl="1"/>
            <a:r>
              <a:rPr lang="en-US" b="1" dirty="0"/>
              <a:t>Definition:</a:t>
            </a:r>
            <a:r>
              <a:rPr lang="en-US" dirty="0"/>
              <a:t> The accumulated physical error between the Master’s commanded target and the Slave robot's actual real-world position.</a:t>
            </a:r>
          </a:p>
          <a:p>
            <a:pPr lvl="1"/>
            <a:r>
              <a:rPr lang="en-US" b="1" dirty="0"/>
              <a:t>System Impact:</a:t>
            </a:r>
            <a:r>
              <a:rPr lang="en-US" dirty="0"/>
              <a:t> Caused by permanently lost, unacknowledged command packets. Results in catastrophic desynchronization where the operator's digital twin no longer accurately reflects physical reality.</a:t>
            </a:r>
          </a:p>
          <a:p>
            <a:r>
              <a:rPr lang="en-US" b="1" dirty="0"/>
              <a:t>End-to-End Latency(MTP delay) (Metric for Control Responsiveness)</a:t>
            </a:r>
            <a:endParaRPr lang="en-US" dirty="0"/>
          </a:p>
          <a:p>
            <a:pPr lvl="1"/>
            <a:r>
              <a:rPr lang="en-US" b="1" dirty="0"/>
              <a:t>Definition:</a:t>
            </a:r>
            <a:r>
              <a:rPr lang="en-US" dirty="0"/>
              <a:t> The total time required for a packet to travel from the sender (Unity Master), traverse the network, and be processed by the receiver (Isaac Sim Slave).</a:t>
            </a:r>
          </a:p>
          <a:p>
            <a:pPr lvl="1"/>
            <a:r>
              <a:rPr lang="en-US" b="1" dirty="0"/>
              <a:t>System Impact:</a:t>
            </a:r>
            <a:r>
              <a:rPr lang="en-US" dirty="0"/>
              <a:t> High latency creates a noticeable delay between the operator's physical input and the robot's reaction. If this delay exceeds human perception thresholds, operators tend to overcorrect, leading to unstable control loops and dangerous robotic oscillations.</a:t>
            </a:r>
          </a:p>
          <a:p>
            <a:pPr marL="457200" lvl="1" indent="0" algn="l" rtl="0">
              <a:lnSpc>
                <a:spcPct val="110000"/>
              </a:lnSpc>
              <a:spcBef>
                <a:spcPts val="500"/>
              </a:spcBef>
              <a:spcAft>
                <a:spcPts val="0"/>
              </a:spcAft>
              <a:buClr>
                <a:schemeClr val="dk1"/>
              </a:buClr>
              <a:buSzPts val="2400"/>
              <a:buNone/>
            </a:pPr>
            <a:endParaRPr dirty="0"/>
          </a:p>
          <a:p>
            <a:pPr marL="0" lvl="0" indent="0" algn="l" rtl="0">
              <a:lnSpc>
                <a:spcPct val="110000"/>
              </a:lnSpc>
              <a:spcBef>
                <a:spcPts val="1000"/>
              </a:spcBef>
              <a:spcAft>
                <a:spcPts val="0"/>
              </a:spcAft>
              <a:buClr>
                <a:schemeClr val="dk1"/>
              </a:buClr>
              <a:buSzPts val="2800"/>
              <a:buNone/>
            </a:pPr>
            <a:endParaRPr dirty="0"/>
          </a:p>
        </p:txBody>
      </p:sp>
      <p:sp>
        <p:nvSpPr>
          <p:cNvPr id="216" name="Google Shape;216;p24"/>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7">
          <a:extLst>
            <a:ext uri="{FF2B5EF4-FFF2-40B4-BE49-F238E27FC236}">
              <a16:creationId xmlns:a16="http://schemas.microsoft.com/office/drawing/2014/main" id="{530C5BD0-2639-BC39-6FEA-1E2F4B27AE77}"/>
            </a:ext>
          </a:extLst>
        </p:cNvPr>
        <p:cNvGrpSpPr/>
        <p:nvPr/>
      </p:nvGrpSpPr>
      <p:grpSpPr>
        <a:xfrm>
          <a:off x="0" y="0"/>
          <a:ext cx="0" cy="0"/>
          <a:chOff x="0" y="0"/>
          <a:chExt cx="0" cy="0"/>
        </a:xfrm>
      </p:grpSpPr>
      <p:sp>
        <p:nvSpPr>
          <p:cNvPr id="228" name="Google Shape;228;p26">
            <a:extLst>
              <a:ext uri="{FF2B5EF4-FFF2-40B4-BE49-F238E27FC236}">
                <a16:creationId xmlns:a16="http://schemas.microsoft.com/office/drawing/2014/main" id="{540D86B1-723E-40CB-3BF5-0FC135714973}"/>
              </a:ext>
            </a:extLst>
          </p:cNvPr>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n-US" dirty="0"/>
              <a:t>End to End Latency Analysis(UDP Behavior)</a:t>
            </a:r>
            <a:endParaRPr dirty="0"/>
          </a:p>
        </p:txBody>
      </p:sp>
      <p:pic>
        <p:nvPicPr>
          <p:cNvPr id="2" name="Picture 1">
            <a:extLst>
              <a:ext uri="{FF2B5EF4-FFF2-40B4-BE49-F238E27FC236}">
                <a16:creationId xmlns:a16="http://schemas.microsoft.com/office/drawing/2014/main" id="{633E2E30-C1A6-C496-D28E-68163265133E}"/>
              </a:ext>
            </a:extLst>
          </p:cNvPr>
          <p:cNvPicPr>
            <a:picLocks noChangeAspect="1"/>
          </p:cNvPicPr>
          <p:nvPr/>
        </p:nvPicPr>
        <p:blipFill>
          <a:blip r:embed="rId3"/>
          <a:stretch>
            <a:fillRect/>
          </a:stretch>
        </p:blipFill>
        <p:spPr>
          <a:xfrm>
            <a:off x="335475" y="1553572"/>
            <a:ext cx="8857686" cy="2674374"/>
          </a:xfrm>
          <a:prstGeom prst="rect">
            <a:avLst/>
          </a:prstGeom>
        </p:spPr>
      </p:pic>
      <p:sp>
        <p:nvSpPr>
          <p:cNvPr id="230" name="Google Shape;230;p26">
            <a:extLst>
              <a:ext uri="{FF2B5EF4-FFF2-40B4-BE49-F238E27FC236}">
                <a16:creationId xmlns:a16="http://schemas.microsoft.com/office/drawing/2014/main" id="{AD07B182-1C06-8B86-D363-BA6421CF9A04}"/>
              </a:ext>
            </a:extLst>
          </p:cNvPr>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pic>
        <p:nvPicPr>
          <p:cNvPr id="4" name="Picture 3">
            <a:extLst>
              <a:ext uri="{FF2B5EF4-FFF2-40B4-BE49-F238E27FC236}">
                <a16:creationId xmlns:a16="http://schemas.microsoft.com/office/drawing/2014/main" id="{D2A161EC-D337-0245-452D-481BD6037484}"/>
              </a:ext>
            </a:extLst>
          </p:cNvPr>
          <p:cNvPicPr>
            <a:picLocks noChangeAspect="1"/>
          </p:cNvPicPr>
          <p:nvPr/>
        </p:nvPicPr>
        <p:blipFill>
          <a:blip r:embed="rId4"/>
          <a:stretch>
            <a:fillRect/>
          </a:stretch>
        </p:blipFill>
        <p:spPr>
          <a:xfrm>
            <a:off x="335475" y="4306547"/>
            <a:ext cx="8857686" cy="2551453"/>
          </a:xfrm>
          <a:prstGeom prst="rect">
            <a:avLst/>
          </a:prstGeom>
        </p:spPr>
      </p:pic>
      <p:sp>
        <p:nvSpPr>
          <p:cNvPr id="5" name="TextBox 4">
            <a:extLst>
              <a:ext uri="{FF2B5EF4-FFF2-40B4-BE49-F238E27FC236}">
                <a16:creationId xmlns:a16="http://schemas.microsoft.com/office/drawing/2014/main" id="{4E8D1C8A-FB2D-CA09-5714-E8D8A6FF992A}"/>
              </a:ext>
            </a:extLst>
          </p:cNvPr>
          <p:cNvSpPr txBox="1"/>
          <p:nvPr/>
        </p:nvSpPr>
        <p:spPr>
          <a:xfrm>
            <a:off x="655345" y="1399684"/>
            <a:ext cx="920445" cy="307777"/>
          </a:xfrm>
          <a:prstGeom prst="rect">
            <a:avLst/>
          </a:prstGeom>
          <a:noFill/>
        </p:spPr>
        <p:txBody>
          <a:bodyPr wrap="none" rtlCol="0">
            <a:spAutoFit/>
          </a:bodyPr>
          <a:lstStyle/>
          <a:p>
            <a:r>
              <a:rPr lang="en-US" b="1" dirty="0"/>
              <a:t>Baseline</a:t>
            </a:r>
            <a:endParaRPr lang="en-IN" b="1" dirty="0"/>
          </a:p>
        </p:txBody>
      </p:sp>
      <p:sp>
        <p:nvSpPr>
          <p:cNvPr id="8" name="TextBox 7">
            <a:extLst>
              <a:ext uri="{FF2B5EF4-FFF2-40B4-BE49-F238E27FC236}">
                <a16:creationId xmlns:a16="http://schemas.microsoft.com/office/drawing/2014/main" id="{AE651A28-6F60-9E64-5483-FDD2E717145B}"/>
              </a:ext>
            </a:extLst>
          </p:cNvPr>
          <p:cNvSpPr txBox="1"/>
          <p:nvPr/>
        </p:nvSpPr>
        <p:spPr>
          <a:xfrm>
            <a:off x="551518" y="4152658"/>
            <a:ext cx="1757212" cy="307777"/>
          </a:xfrm>
          <a:prstGeom prst="rect">
            <a:avLst/>
          </a:prstGeom>
          <a:noFill/>
        </p:spPr>
        <p:txBody>
          <a:bodyPr wrap="none" rtlCol="0">
            <a:spAutoFit/>
          </a:bodyPr>
          <a:lstStyle/>
          <a:p>
            <a:r>
              <a:rPr lang="en-US" b="1" dirty="0"/>
              <a:t>Network Variant 2</a:t>
            </a:r>
            <a:endParaRPr lang="en-IN" b="1" dirty="0"/>
          </a:p>
        </p:txBody>
      </p:sp>
      <p:sp>
        <p:nvSpPr>
          <p:cNvPr id="9" name="Rectangle 8">
            <a:extLst>
              <a:ext uri="{FF2B5EF4-FFF2-40B4-BE49-F238E27FC236}">
                <a16:creationId xmlns:a16="http://schemas.microsoft.com/office/drawing/2014/main" id="{1A3491A2-A798-BD10-AA2C-C43D8E3EDBA5}"/>
              </a:ext>
            </a:extLst>
          </p:cNvPr>
          <p:cNvSpPr/>
          <p:nvPr/>
        </p:nvSpPr>
        <p:spPr>
          <a:xfrm>
            <a:off x="9714271" y="3146323"/>
            <a:ext cx="2222090" cy="18386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Low throughput in cellular networks results in packet loss and significant increase in </a:t>
            </a:r>
            <a:r>
              <a:rPr lang="en-US" dirty="0" err="1">
                <a:solidFill>
                  <a:sysClr val="windowText" lastClr="000000"/>
                </a:solidFill>
              </a:rPr>
              <a:t>MotionToPhoton</a:t>
            </a:r>
            <a:r>
              <a:rPr lang="en-US" dirty="0">
                <a:solidFill>
                  <a:sysClr val="windowText" lastClr="000000"/>
                </a:solidFill>
              </a:rPr>
              <a:t> latency</a:t>
            </a:r>
            <a:endParaRPr lang="en-IN" dirty="0">
              <a:solidFill>
                <a:sysClr val="windowText" lastClr="000000"/>
              </a:solidFill>
            </a:endParaRPr>
          </a:p>
        </p:txBody>
      </p:sp>
    </p:spTree>
    <p:extLst>
      <p:ext uri="{BB962C8B-B14F-4D97-AF65-F5344CB8AC3E}">
        <p14:creationId xmlns:p14="http://schemas.microsoft.com/office/powerpoint/2010/main" val="3888554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a:extLst>
            <a:ext uri="{FF2B5EF4-FFF2-40B4-BE49-F238E27FC236}">
              <a16:creationId xmlns:a16="http://schemas.microsoft.com/office/drawing/2014/main" id="{52EB0A86-6397-5D1E-4943-25D59A33D732}"/>
            </a:ext>
          </a:extLst>
        </p:cNvPr>
        <p:cNvGrpSpPr/>
        <p:nvPr/>
      </p:nvGrpSpPr>
      <p:grpSpPr>
        <a:xfrm>
          <a:off x="0" y="0"/>
          <a:ext cx="0" cy="0"/>
          <a:chOff x="0" y="0"/>
          <a:chExt cx="0" cy="0"/>
        </a:xfrm>
      </p:grpSpPr>
      <p:sp>
        <p:nvSpPr>
          <p:cNvPr id="228" name="Google Shape;228;p26">
            <a:extLst>
              <a:ext uri="{FF2B5EF4-FFF2-40B4-BE49-F238E27FC236}">
                <a16:creationId xmlns:a16="http://schemas.microsoft.com/office/drawing/2014/main" id="{F6E91762-B3AD-5C37-6DD6-079BB270B6AD}"/>
              </a:ext>
            </a:extLst>
          </p:cNvPr>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n-US" dirty="0"/>
              <a:t>End to End Latency Analysis(TCP Behavior)</a:t>
            </a:r>
            <a:endParaRPr dirty="0"/>
          </a:p>
        </p:txBody>
      </p:sp>
      <p:sp>
        <p:nvSpPr>
          <p:cNvPr id="230" name="Google Shape;230;p26">
            <a:extLst>
              <a:ext uri="{FF2B5EF4-FFF2-40B4-BE49-F238E27FC236}">
                <a16:creationId xmlns:a16="http://schemas.microsoft.com/office/drawing/2014/main" id="{C2AE897B-DCCF-F0DC-05DC-D9F1FF46AD9F}"/>
              </a:ext>
            </a:extLst>
          </p:cNvPr>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pic>
        <p:nvPicPr>
          <p:cNvPr id="3" name="Picture 2">
            <a:extLst>
              <a:ext uri="{FF2B5EF4-FFF2-40B4-BE49-F238E27FC236}">
                <a16:creationId xmlns:a16="http://schemas.microsoft.com/office/drawing/2014/main" id="{AB4A4A34-832D-71BD-5B56-64CF5721A61A}"/>
              </a:ext>
            </a:extLst>
          </p:cNvPr>
          <p:cNvPicPr>
            <a:picLocks noChangeAspect="1"/>
          </p:cNvPicPr>
          <p:nvPr/>
        </p:nvPicPr>
        <p:blipFill>
          <a:blip r:embed="rId3"/>
          <a:stretch>
            <a:fillRect/>
          </a:stretch>
        </p:blipFill>
        <p:spPr>
          <a:xfrm>
            <a:off x="403122" y="1574327"/>
            <a:ext cx="8308259" cy="2946986"/>
          </a:xfrm>
          <a:prstGeom prst="rect">
            <a:avLst/>
          </a:prstGeom>
        </p:spPr>
      </p:pic>
      <p:pic>
        <p:nvPicPr>
          <p:cNvPr id="5" name="Picture 4">
            <a:extLst>
              <a:ext uri="{FF2B5EF4-FFF2-40B4-BE49-F238E27FC236}">
                <a16:creationId xmlns:a16="http://schemas.microsoft.com/office/drawing/2014/main" id="{D445EB7D-501E-0EFB-F571-E41539CD5242}"/>
              </a:ext>
            </a:extLst>
          </p:cNvPr>
          <p:cNvPicPr>
            <a:picLocks noChangeAspect="1"/>
          </p:cNvPicPr>
          <p:nvPr/>
        </p:nvPicPr>
        <p:blipFill>
          <a:blip r:embed="rId4"/>
          <a:stretch>
            <a:fillRect/>
          </a:stretch>
        </p:blipFill>
        <p:spPr>
          <a:xfrm>
            <a:off x="412954" y="4315779"/>
            <a:ext cx="8308259" cy="2542221"/>
          </a:xfrm>
          <a:prstGeom prst="rect">
            <a:avLst/>
          </a:prstGeom>
        </p:spPr>
      </p:pic>
      <p:sp>
        <p:nvSpPr>
          <p:cNvPr id="6" name="TextBox 5">
            <a:extLst>
              <a:ext uri="{FF2B5EF4-FFF2-40B4-BE49-F238E27FC236}">
                <a16:creationId xmlns:a16="http://schemas.microsoft.com/office/drawing/2014/main" id="{81501B74-5AF5-91D1-A9DB-440E1D09698B}"/>
              </a:ext>
            </a:extLst>
          </p:cNvPr>
          <p:cNvSpPr txBox="1"/>
          <p:nvPr/>
        </p:nvSpPr>
        <p:spPr>
          <a:xfrm>
            <a:off x="724171" y="1420439"/>
            <a:ext cx="920445" cy="307777"/>
          </a:xfrm>
          <a:prstGeom prst="rect">
            <a:avLst/>
          </a:prstGeom>
          <a:noFill/>
        </p:spPr>
        <p:txBody>
          <a:bodyPr wrap="none" rtlCol="0">
            <a:spAutoFit/>
          </a:bodyPr>
          <a:lstStyle/>
          <a:p>
            <a:r>
              <a:rPr lang="en-US" b="1" dirty="0"/>
              <a:t>Baseline</a:t>
            </a:r>
            <a:endParaRPr lang="en-IN" b="1" dirty="0"/>
          </a:p>
        </p:txBody>
      </p:sp>
      <p:sp>
        <p:nvSpPr>
          <p:cNvPr id="8" name="TextBox 7">
            <a:extLst>
              <a:ext uri="{FF2B5EF4-FFF2-40B4-BE49-F238E27FC236}">
                <a16:creationId xmlns:a16="http://schemas.microsoft.com/office/drawing/2014/main" id="{8D3E6A3E-9AF0-0EFA-4113-84B987206D60}"/>
              </a:ext>
            </a:extLst>
          </p:cNvPr>
          <p:cNvSpPr txBox="1"/>
          <p:nvPr/>
        </p:nvSpPr>
        <p:spPr>
          <a:xfrm>
            <a:off x="724171" y="4213536"/>
            <a:ext cx="6096000" cy="307777"/>
          </a:xfrm>
          <a:prstGeom prst="rect">
            <a:avLst/>
          </a:prstGeom>
          <a:noFill/>
        </p:spPr>
        <p:txBody>
          <a:bodyPr wrap="square">
            <a:spAutoFit/>
          </a:bodyPr>
          <a:lstStyle/>
          <a:p>
            <a:r>
              <a:rPr lang="en-US" b="1" dirty="0"/>
              <a:t>Network Variant 2</a:t>
            </a:r>
            <a:endParaRPr lang="en-IN" b="1" dirty="0"/>
          </a:p>
        </p:txBody>
      </p:sp>
      <p:sp>
        <p:nvSpPr>
          <p:cNvPr id="9" name="Rectangle 8">
            <a:extLst>
              <a:ext uri="{FF2B5EF4-FFF2-40B4-BE49-F238E27FC236}">
                <a16:creationId xmlns:a16="http://schemas.microsoft.com/office/drawing/2014/main" id="{93D9685D-865B-7224-C247-D229A10610FD}"/>
              </a:ext>
            </a:extLst>
          </p:cNvPr>
          <p:cNvSpPr/>
          <p:nvPr/>
        </p:nvSpPr>
        <p:spPr>
          <a:xfrm>
            <a:off x="9389806" y="2812026"/>
            <a:ext cx="2261420" cy="182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Configuring to TCP Behavior results in significant increase in peak MTP value compared to UDP behavior.</a:t>
            </a:r>
            <a:endParaRPr lang="en-IN" dirty="0">
              <a:solidFill>
                <a:sysClr val="windowText" lastClr="000000"/>
              </a:solidFill>
            </a:endParaRPr>
          </a:p>
        </p:txBody>
      </p:sp>
    </p:spTree>
    <p:extLst>
      <p:ext uri="{BB962C8B-B14F-4D97-AF65-F5344CB8AC3E}">
        <p14:creationId xmlns:p14="http://schemas.microsoft.com/office/powerpoint/2010/main" val="1868648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7">
          <a:extLst>
            <a:ext uri="{FF2B5EF4-FFF2-40B4-BE49-F238E27FC236}">
              <a16:creationId xmlns:a16="http://schemas.microsoft.com/office/drawing/2014/main" id="{AC100ED5-FDDD-4324-6AC7-9858A6FD66E0}"/>
            </a:ext>
          </a:extLst>
        </p:cNvPr>
        <p:cNvGrpSpPr/>
        <p:nvPr/>
      </p:nvGrpSpPr>
      <p:grpSpPr>
        <a:xfrm>
          <a:off x="0" y="0"/>
          <a:ext cx="0" cy="0"/>
          <a:chOff x="0" y="0"/>
          <a:chExt cx="0" cy="0"/>
        </a:xfrm>
      </p:grpSpPr>
      <p:sp>
        <p:nvSpPr>
          <p:cNvPr id="228" name="Google Shape;228;p26">
            <a:extLst>
              <a:ext uri="{FF2B5EF4-FFF2-40B4-BE49-F238E27FC236}">
                <a16:creationId xmlns:a16="http://schemas.microsoft.com/office/drawing/2014/main" id="{F94BE2E9-8BE7-5041-CD15-BA7B7C1E3786}"/>
              </a:ext>
            </a:extLst>
          </p:cNvPr>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n-US" dirty="0"/>
              <a:t>State Jitter Analysis (UDP Behavior)</a:t>
            </a:r>
            <a:endParaRPr dirty="0"/>
          </a:p>
        </p:txBody>
      </p:sp>
      <p:sp>
        <p:nvSpPr>
          <p:cNvPr id="230" name="Google Shape;230;p26">
            <a:extLst>
              <a:ext uri="{FF2B5EF4-FFF2-40B4-BE49-F238E27FC236}">
                <a16:creationId xmlns:a16="http://schemas.microsoft.com/office/drawing/2014/main" id="{824A2AC0-D55D-0723-76C5-F5CE33D0B7BD}"/>
              </a:ext>
            </a:extLst>
          </p:cNvPr>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pic>
        <p:nvPicPr>
          <p:cNvPr id="3" name="Picture 2">
            <a:extLst>
              <a:ext uri="{FF2B5EF4-FFF2-40B4-BE49-F238E27FC236}">
                <a16:creationId xmlns:a16="http://schemas.microsoft.com/office/drawing/2014/main" id="{B1B75367-D304-68BA-974E-C569774B51C2}"/>
              </a:ext>
            </a:extLst>
          </p:cNvPr>
          <p:cNvPicPr>
            <a:picLocks noChangeAspect="1"/>
          </p:cNvPicPr>
          <p:nvPr/>
        </p:nvPicPr>
        <p:blipFill>
          <a:blip r:embed="rId3"/>
          <a:stretch>
            <a:fillRect/>
          </a:stretch>
        </p:blipFill>
        <p:spPr>
          <a:xfrm>
            <a:off x="368239" y="1631209"/>
            <a:ext cx="7999013" cy="2552151"/>
          </a:xfrm>
          <a:prstGeom prst="rect">
            <a:avLst/>
          </a:prstGeom>
        </p:spPr>
      </p:pic>
      <p:pic>
        <p:nvPicPr>
          <p:cNvPr id="5" name="Picture 4">
            <a:extLst>
              <a:ext uri="{FF2B5EF4-FFF2-40B4-BE49-F238E27FC236}">
                <a16:creationId xmlns:a16="http://schemas.microsoft.com/office/drawing/2014/main" id="{3FE7218E-6744-A0D0-0F64-3F070BAA3FA7}"/>
              </a:ext>
            </a:extLst>
          </p:cNvPr>
          <p:cNvPicPr>
            <a:picLocks noChangeAspect="1"/>
          </p:cNvPicPr>
          <p:nvPr/>
        </p:nvPicPr>
        <p:blipFill>
          <a:blip r:embed="rId4"/>
          <a:stretch>
            <a:fillRect/>
          </a:stretch>
        </p:blipFill>
        <p:spPr>
          <a:xfrm>
            <a:off x="446897" y="4199379"/>
            <a:ext cx="7920355" cy="2339533"/>
          </a:xfrm>
          <a:prstGeom prst="rect">
            <a:avLst/>
          </a:prstGeom>
        </p:spPr>
      </p:pic>
      <p:sp>
        <p:nvSpPr>
          <p:cNvPr id="6" name="TextBox 5">
            <a:extLst>
              <a:ext uri="{FF2B5EF4-FFF2-40B4-BE49-F238E27FC236}">
                <a16:creationId xmlns:a16="http://schemas.microsoft.com/office/drawing/2014/main" id="{3ED12309-C155-FDD4-3D52-01F3F2D98219}"/>
              </a:ext>
            </a:extLst>
          </p:cNvPr>
          <p:cNvSpPr txBox="1"/>
          <p:nvPr/>
        </p:nvSpPr>
        <p:spPr>
          <a:xfrm>
            <a:off x="655345" y="1399684"/>
            <a:ext cx="920445" cy="307777"/>
          </a:xfrm>
          <a:prstGeom prst="rect">
            <a:avLst/>
          </a:prstGeom>
          <a:noFill/>
        </p:spPr>
        <p:txBody>
          <a:bodyPr wrap="none" rtlCol="0">
            <a:spAutoFit/>
          </a:bodyPr>
          <a:lstStyle/>
          <a:p>
            <a:r>
              <a:rPr lang="en-US" b="1" dirty="0"/>
              <a:t>Baseline</a:t>
            </a:r>
            <a:endParaRPr lang="en-IN" b="1" dirty="0"/>
          </a:p>
        </p:txBody>
      </p:sp>
      <p:sp>
        <p:nvSpPr>
          <p:cNvPr id="8" name="TextBox 7">
            <a:extLst>
              <a:ext uri="{FF2B5EF4-FFF2-40B4-BE49-F238E27FC236}">
                <a16:creationId xmlns:a16="http://schemas.microsoft.com/office/drawing/2014/main" id="{9F2393B1-45BB-872B-7870-C2BB339691A3}"/>
              </a:ext>
            </a:extLst>
          </p:cNvPr>
          <p:cNvSpPr txBox="1"/>
          <p:nvPr/>
        </p:nvSpPr>
        <p:spPr>
          <a:xfrm>
            <a:off x="655345" y="4037481"/>
            <a:ext cx="6096000" cy="307777"/>
          </a:xfrm>
          <a:prstGeom prst="rect">
            <a:avLst/>
          </a:prstGeom>
          <a:noFill/>
        </p:spPr>
        <p:txBody>
          <a:bodyPr wrap="square">
            <a:spAutoFit/>
          </a:bodyPr>
          <a:lstStyle/>
          <a:p>
            <a:r>
              <a:rPr lang="en-US" b="1" dirty="0"/>
              <a:t>Network Variant 2</a:t>
            </a:r>
            <a:endParaRPr lang="en-IN" b="1" dirty="0"/>
          </a:p>
        </p:txBody>
      </p:sp>
      <p:sp>
        <p:nvSpPr>
          <p:cNvPr id="9" name="Rectangle 8">
            <a:extLst>
              <a:ext uri="{FF2B5EF4-FFF2-40B4-BE49-F238E27FC236}">
                <a16:creationId xmlns:a16="http://schemas.microsoft.com/office/drawing/2014/main" id="{49876D8A-B3CC-AFF7-98EC-1715F5155723}"/>
              </a:ext>
            </a:extLst>
          </p:cNvPr>
          <p:cNvSpPr/>
          <p:nvPr/>
        </p:nvSpPr>
        <p:spPr>
          <a:xfrm>
            <a:off x="8908025" y="3082413"/>
            <a:ext cx="2507226" cy="16223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Mean jitter value increased significantly when there is 0 throughput network conditions results in affecting smoothness in visual continuity for user </a:t>
            </a:r>
            <a:r>
              <a:rPr lang="en-US" dirty="0" err="1">
                <a:solidFill>
                  <a:sysClr val="windowText" lastClr="000000"/>
                </a:solidFill>
              </a:rPr>
              <a:t>behaviour</a:t>
            </a:r>
            <a:endParaRPr lang="en-IN" dirty="0">
              <a:solidFill>
                <a:sysClr val="windowText" lastClr="000000"/>
              </a:solidFill>
            </a:endParaRPr>
          </a:p>
        </p:txBody>
      </p:sp>
    </p:spTree>
    <p:extLst>
      <p:ext uri="{BB962C8B-B14F-4D97-AF65-F5344CB8AC3E}">
        <p14:creationId xmlns:p14="http://schemas.microsoft.com/office/powerpoint/2010/main" val="1130150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26"/>
          <p:cNvSpPr txBox="1">
            <a:spLocks noGrp="1"/>
          </p:cNvSpPr>
          <p:nvPr>
            <p:ph type="title"/>
          </p:nvPr>
        </p:nvSpPr>
        <p:spPr>
          <a:xfrm>
            <a:off x="781271" y="102338"/>
            <a:ext cx="10168128" cy="1179576"/>
          </a:xfrm>
          <a:prstGeom prst="rect">
            <a:avLst/>
          </a:prstGeom>
          <a:noFill/>
          <a:ln>
            <a:noFill/>
          </a:ln>
        </p:spPr>
        <p:txBody>
          <a:bodyPr spcFirstLastPara="1" wrap="square" lIns="91425" tIns="45700" rIns="91425" bIns="45700" anchor="ctr" anchorCtr="0">
            <a:normAutofit/>
          </a:bodyPr>
          <a:lstStyle/>
          <a:p>
            <a:pPr lvl="0"/>
            <a:r>
              <a:rPr lang="en-US" dirty="0"/>
              <a:t>State Jitter Analysis(TCP Behavior)</a:t>
            </a:r>
            <a:endParaRPr dirty="0"/>
          </a:p>
        </p:txBody>
      </p:sp>
      <p:sp>
        <p:nvSpPr>
          <p:cNvPr id="230" name="Google Shape;230;p26"/>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pic>
        <p:nvPicPr>
          <p:cNvPr id="3" name="Picture 2">
            <a:extLst>
              <a:ext uri="{FF2B5EF4-FFF2-40B4-BE49-F238E27FC236}">
                <a16:creationId xmlns:a16="http://schemas.microsoft.com/office/drawing/2014/main" id="{4E35E7F0-8E11-6CB7-1AE7-FABCA2EC916B}"/>
              </a:ext>
            </a:extLst>
          </p:cNvPr>
          <p:cNvPicPr>
            <a:picLocks noChangeAspect="1"/>
          </p:cNvPicPr>
          <p:nvPr/>
        </p:nvPicPr>
        <p:blipFill>
          <a:blip r:embed="rId3"/>
          <a:stretch>
            <a:fillRect/>
          </a:stretch>
        </p:blipFill>
        <p:spPr>
          <a:xfrm>
            <a:off x="471948" y="1367167"/>
            <a:ext cx="8068548" cy="2730703"/>
          </a:xfrm>
          <a:prstGeom prst="rect">
            <a:avLst/>
          </a:prstGeom>
        </p:spPr>
      </p:pic>
      <p:pic>
        <p:nvPicPr>
          <p:cNvPr id="5" name="Picture 4">
            <a:extLst>
              <a:ext uri="{FF2B5EF4-FFF2-40B4-BE49-F238E27FC236}">
                <a16:creationId xmlns:a16="http://schemas.microsoft.com/office/drawing/2014/main" id="{02945DEE-9A31-B6A0-9B79-F9AAE17792D0}"/>
              </a:ext>
            </a:extLst>
          </p:cNvPr>
          <p:cNvPicPr>
            <a:picLocks noChangeAspect="1"/>
          </p:cNvPicPr>
          <p:nvPr/>
        </p:nvPicPr>
        <p:blipFill>
          <a:blip r:embed="rId4"/>
          <a:stretch>
            <a:fillRect/>
          </a:stretch>
        </p:blipFill>
        <p:spPr>
          <a:xfrm>
            <a:off x="374216" y="4183123"/>
            <a:ext cx="8166279" cy="2674877"/>
          </a:xfrm>
          <a:prstGeom prst="rect">
            <a:avLst/>
          </a:prstGeom>
        </p:spPr>
      </p:pic>
      <p:sp>
        <p:nvSpPr>
          <p:cNvPr id="6" name="TextBox 5">
            <a:extLst>
              <a:ext uri="{FF2B5EF4-FFF2-40B4-BE49-F238E27FC236}">
                <a16:creationId xmlns:a16="http://schemas.microsoft.com/office/drawing/2014/main" id="{BD7E6EDA-E704-60EE-DF09-ED493691BF2D}"/>
              </a:ext>
            </a:extLst>
          </p:cNvPr>
          <p:cNvSpPr txBox="1"/>
          <p:nvPr/>
        </p:nvSpPr>
        <p:spPr>
          <a:xfrm>
            <a:off x="704507" y="1281914"/>
            <a:ext cx="920445" cy="307777"/>
          </a:xfrm>
          <a:prstGeom prst="rect">
            <a:avLst/>
          </a:prstGeom>
          <a:noFill/>
        </p:spPr>
        <p:txBody>
          <a:bodyPr wrap="none" rtlCol="0">
            <a:spAutoFit/>
          </a:bodyPr>
          <a:lstStyle/>
          <a:p>
            <a:r>
              <a:rPr lang="en-US" b="1" dirty="0"/>
              <a:t>Baseline</a:t>
            </a:r>
            <a:endParaRPr lang="en-IN" b="1" dirty="0"/>
          </a:p>
        </p:txBody>
      </p:sp>
      <p:sp>
        <p:nvSpPr>
          <p:cNvPr id="8" name="TextBox 7">
            <a:extLst>
              <a:ext uri="{FF2B5EF4-FFF2-40B4-BE49-F238E27FC236}">
                <a16:creationId xmlns:a16="http://schemas.microsoft.com/office/drawing/2014/main" id="{07FA6D1F-AD48-755B-121F-9DC538D1AD62}"/>
              </a:ext>
            </a:extLst>
          </p:cNvPr>
          <p:cNvSpPr txBox="1"/>
          <p:nvPr/>
        </p:nvSpPr>
        <p:spPr>
          <a:xfrm>
            <a:off x="704507" y="3986608"/>
            <a:ext cx="6096000" cy="307777"/>
          </a:xfrm>
          <a:prstGeom prst="rect">
            <a:avLst/>
          </a:prstGeom>
          <a:noFill/>
        </p:spPr>
        <p:txBody>
          <a:bodyPr wrap="square">
            <a:spAutoFit/>
          </a:bodyPr>
          <a:lstStyle/>
          <a:p>
            <a:r>
              <a:rPr lang="en-US" b="1" dirty="0"/>
              <a:t>Network Variant 2</a:t>
            </a:r>
            <a:endParaRPr lang="en-IN" b="1" dirty="0"/>
          </a:p>
        </p:txBody>
      </p:sp>
      <p:sp>
        <p:nvSpPr>
          <p:cNvPr id="9" name="Rectangle 8">
            <a:extLst>
              <a:ext uri="{FF2B5EF4-FFF2-40B4-BE49-F238E27FC236}">
                <a16:creationId xmlns:a16="http://schemas.microsoft.com/office/drawing/2014/main" id="{A494E6FE-7895-DC80-89DD-FF1E91EBA286}"/>
              </a:ext>
            </a:extLst>
          </p:cNvPr>
          <p:cNvSpPr/>
          <p:nvPr/>
        </p:nvSpPr>
        <p:spPr>
          <a:xfrm>
            <a:off x="8908025" y="3082413"/>
            <a:ext cx="2507226" cy="162232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Compared to UDP behavior, configuring TCP behavior results in increased state jitter, affecting the user experience much more.</a:t>
            </a:r>
            <a:endParaRPr lang="en-IN" dirty="0">
              <a:solidFill>
                <a:sysClr val="windowText" lastClr="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7">
          <a:extLst>
            <a:ext uri="{FF2B5EF4-FFF2-40B4-BE49-F238E27FC236}">
              <a16:creationId xmlns:a16="http://schemas.microsoft.com/office/drawing/2014/main" id="{495A18A5-7B17-4536-3073-53709527B67F}"/>
            </a:ext>
          </a:extLst>
        </p:cNvPr>
        <p:cNvGrpSpPr/>
        <p:nvPr/>
      </p:nvGrpSpPr>
      <p:grpSpPr>
        <a:xfrm>
          <a:off x="0" y="0"/>
          <a:ext cx="0" cy="0"/>
          <a:chOff x="0" y="0"/>
          <a:chExt cx="0" cy="0"/>
        </a:xfrm>
      </p:grpSpPr>
      <p:sp>
        <p:nvSpPr>
          <p:cNvPr id="228" name="Google Shape;228;p26">
            <a:extLst>
              <a:ext uri="{FF2B5EF4-FFF2-40B4-BE49-F238E27FC236}">
                <a16:creationId xmlns:a16="http://schemas.microsoft.com/office/drawing/2014/main" id="{827F27E3-02A8-1687-70AD-2C1EE8DBF881}"/>
              </a:ext>
            </a:extLst>
          </p:cNvPr>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n-US" dirty="0"/>
              <a:t>Positional Drift / Desynchronization</a:t>
            </a:r>
            <a:endParaRPr dirty="0"/>
          </a:p>
        </p:txBody>
      </p:sp>
      <p:sp>
        <p:nvSpPr>
          <p:cNvPr id="230" name="Google Shape;230;p26">
            <a:extLst>
              <a:ext uri="{FF2B5EF4-FFF2-40B4-BE49-F238E27FC236}">
                <a16:creationId xmlns:a16="http://schemas.microsoft.com/office/drawing/2014/main" id="{91A6D15F-2450-B99F-9538-E4165724B488}"/>
              </a:ext>
            </a:extLst>
          </p:cNvPr>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pic>
        <p:nvPicPr>
          <p:cNvPr id="5" name="Picture 4">
            <a:extLst>
              <a:ext uri="{FF2B5EF4-FFF2-40B4-BE49-F238E27FC236}">
                <a16:creationId xmlns:a16="http://schemas.microsoft.com/office/drawing/2014/main" id="{49789882-21A2-159E-DBCA-E476E86B6544}"/>
              </a:ext>
            </a:extLst>
          </p:cNvPr>
          <p:cNvPicPr>
            <a:picLocks noChangeAspect="1"/>
          </p:cNvPicPr>
          <p:nvPr/>
        </p:nvPicPr>
        <p:blipFill>
          <a:blip r:embed="rId3"/>
          <a:stretch>
            <a:fillRect/>
          </a:stretch>
        </p:blipFill>
        <p:spPr>
          <a:xfrm>
            <a:off x="978550" y="3868327"/>
            <a:ext cx="6780591" cy="2670585"/>
          </a:xfrm>
          <a:prstGeom prst="rect">
            <a:avLst/>
          </a:prstGeom>
        </p:spPr>
      </p:pic>
      <p:pic>
        <p:nvPicPr>
          <p:cNvPr id="3" name="Picture 2">
            <a:extLst>
              <a:ext uri="{FF2B5EF4-FFF2-40B4-BE49-F238E27FC236}">
                <a16:creationId xmlns:a16="http://schemas.microsoft.com/office/drawing/2014/main" id="{9A132B99-61A3-FBB5-EB62-8CC71B359C67}"/>
              </a:ext>
            </a:extLst>
          </p:cNvPr>
          <p:cNvPicPr>
            <a:picLocks noChangeAspect="1"/>
          </p:cNvPicPr>
          <p:nvPr/>
        </p:nvPicPr>
        <p:blipFill>
          <a:blip r:embed="rId4"/>
          <a:stretch>
            <a:fillRect/>
          </a:stretch>
        </p:blipFill>
        <p:spPr>
          <a:xfrm>
            <a:off x="978550" y="1900542"/>
            <a:ext cx="6780591" cy="2178261"/>
          </a:xfrm>
          <a:prstGeom prst="rect">
            <a:avLst/>
          </a:prstGeom>
        </p:spPr>
      </p:pic>
      <p:pic>
        <p:nvPicPr>
          <p:cNvPr id="12" name="Picture 11">
            <a:extLst>
              <a:ext uri="{FF2B5EF4-FFF2-40B4-BE49-F238E27FC236}">
                <a16:creationId xmlns:a16="http://schemas.microsoft.com/office/drawing/2014/main" id="{A5C3341F-1520-9838-DE18-8A7E02B46F01}"/>
              </a:ext>
            </a:extLst>
          </p:cNvPr>
          <p:cNvPicPr>
            <a:picLocks noChangeAspect="1"/>
          </p:cNvPicPr>
          <p:nvPr/>
        </p:nvPicPr>
        <p:blipFill>
          <a:blip r:embed="rId5"/>
          <a:stretch>
            <a:fillRect/>
          </a:stretch>
        </p:blipFill>
        <p:spPr>
          <a:xfrm>
            <a:off x="1509587" y="6309360"/>
            <a:ext cx="6439458" cy="403895"/>
          </a:xfrm>
          <a:prstGeom prst="rect">
            <a:avLst/>
          </a:prstGeom>
        </p:spPr>
      </p:pic>
      <p:sp>
        <p:nvSpPr>
          <p:cNvPr id="14" name="TextBox 13">
            <a:extLst>
              <a:ext uri="{FF2B5EF4-FFF2-40B4-BE49-F238E27FC236}">
                <a16:creationId xmlns:a16="http://schemas.microsoft.com/office/drawing/2014/main" id="{41BE5586-86FD-ACF8-379F-F988BF71E132}"/>
              </a:ext>
            </a:extLst>
          </p:cNvPr>
          <p:cNvSpPr txBox="1"/>
          <p:nvPr/>
        </p:nvSpPr>
        <p:spPr>
          <a:xfrm>
            <a:off x="4901045" y="4169249"/>
            <a:ext cx="6096000" cy="307777"/>
          </a:xfrm>
          <a:prstGeom prst="rect">
            <a:avLst/>
          </a:prstGeom>
          <a:noFill/>
        </p:spPr>
        <p:txBody>
          <a:bodyPr wrap="square">
            <a:spAutoFit/>
          </a:bodyPr>
          <a:lstStyle/>
          <a:p>
            <a:r>
              <a:rPr lang="en-US" b="1" dirty="0"/>
              <a:t>Network Variant 2</a:t>
            </a:r>
            <a:endParaRPr lang="en-IN" b="1" dirty="0"/>
          </a:p>
        </p:txBody>
      </p:sp>
      <p:sp>
        <p:nvSpPr>
          <p:cNvPr id="15" name="TextBox 14">
            <a:extLst>
              <a:ext uri="{FF2B5EF4-FFF2-40B4-BE49-F238E27FC236}">
                <a16:creationId xmlns:a16="http://schemas.microsoft.com/office/drawing/2014/main" id="{754C5093-E4D9-FE56-1642-2C16FB5C945C}"/>
              </a:ext>
            </a:extLst>
          </p:cNvPr>
          <p:cNvSpPr txBox="1"/>
          <p:nvPr/>
        </p:nvSpPr>
        <p:spPr>
          <a:xfrm>
            <a:off x="5433823" y="2291383"/>
            <a:ext cx="920445" cy="307777"/>
          </a:xfrm>
          <a:prstGeom prst="rect">
            <a:avLst/>
          </a:prstGeom>
          <a:noFill/>
        </p:spPr>
        <p:txBody>
          <a:bodyPr wrap="none" rtlCol="0">
            <a:spAutoFit/>
          </a:bodyPr>
          <a:lstStyle/>
          <a:p>
            <a:r>
              <a:rPr lang="en-US" b="1" dirty="0"/>
              <a:t>Baseline</a:t>
            </a:r>
            <a:endParaRPr lang="en-IN" b="1" dirty="0"/>
          </a:p>
        </p:txBody>
      </p:sp>
      <p:sp>
        <p:nvSpPr>
          <p:cNvPr id="16" name="Rectangle 15">
            <a:extLst>
              <a:ext uri="{FF2B5EF4-FFF2-40B4-BE49-F238E27FC236}">
                <a16:creationId xmlns:a16="http://schemas.microsoft.com/office/drawing/2014/main" id="{8DCAA65A-E07E-6A7B-94AD-C80DF86F0E73}"/>
              </a:ext>
            </a:extLst>
          </p:cNvPr>
          <p:cNvSpPr/>
          <p:nvPr/>
        </p:nvSpPr>
        <p:spPr>
          <a:xfrm>
            <a:off x="8681884" y="3018503"/>
            <a:ext cx="2910348" cy="20254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Bad network conditions can drastically affects the positions of robot results in desynchronization from expected behavior. </a:t>
            </a:r>
            <a:endParaRPr lang="en-IN" dirty="0">
              <a:solidFill>
                <a:sysClr val="windowText" lastClr="000000"/>
              </a:solidFill>
            </a:endParaRPr>
          </a:p>
        </p:txBody>
      </p:sp>
    </p:spTree>
    <p:extLst>
      <p:ext uri="{BB962C8B-B14F-4D97-AF65-F5344CB8AC3E}">
        <p14:creationId xmlns:p14="http://schemas.microsoft.com/office/powerpoint/2010/main" val="5563420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7">
          <a:extLst>
            <a:ext uri="{FF2B5EF4-FFF2-40B4-BE49-F238E27FC236}">
              <a16:creationId xmlns:a16="http://schemas.microsoft.com/office/drawing/2014/main" id="{7B2F1D6A-5FAD-2F26-8E0F-AE169D3B9504}"/>
            </a:ext>
          </a:extLst>
        </p:cNvPr>
        <p:cNvGrpSpPr/>
        <p:nvPr/>
      </p:nvGrpSpPr>
      <p:grpSpPr>
        <a:xfrm>
          <a:off x="0" y="0"/>
          <a:ext cx="0" cy="0"/>
          <a:chOff x="0" y="0"/>
          <a:chExt cx="0" cy="0"/>
        </a:xfrm>
      </p:grpSpPr>
      <p:sp>
        <p:nvSpPr>
          <p:cNvPr id="228" name="Google Shape;228;p26">
            <a:extLst>
              <a:ext uri="{FF2B5EF4-FFF2-40B4-BE49-F238E27FC236}">
                <a16:creationId xmlns:a16="http://schemas.microsoft.com/office/drawing/2014/main" id="{8EB0ADF3-2934-68CA-0FEA-4E2FB9C8D5E3}"/>
              </a:ext>
            </a:extLst>
          </p:cNvPr>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n-US" dirty="0"/>
              <a:t>Latency Analysis</a:t>
            </a:r>
            <a:endParaRPr dirty="0"/>
          </a:p>
        </p:txBody>
      </p:sp>
      <p:sp>
        <p:nvSpPr>
          <p:cNvPr id="230" name="Google Shape;230;p26">
            <a:extLst>
              <a:ext uri="{FF2B5EF4-FFF2-40B4-BE49-F238E27FC236}">
                <a16:creationId xmlns:a16="http://schemas.microsoft.com/office/drawing/2014/main" id="{238CA708-E3F6-0E23-3315-6C6AAF25C3FB}"/>
              </a:ext>
            </a:extLst>
          </p:cNvPr>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aphicFrame>
        <p:nvGraphicFramePr>
          <p:cNvPr id="2" name="Table 1">
            <a:extLst>
              <a:ext uri="{FF2B5EF4-FFF2-40B4-BE49-F238E27FC236}">
                <a16:creationId xmlns:a16="http://schemas.microsoft.com/office/drawing/2014/main" id="{195A9822-ABC6-EA31-CDB8-DB21D3BACC29}"/>
              </a:ext>
            </a:extLst>
          </p:cNvPr>
          <p:cNvGraphicFramePr>
            <a:graphicFrameLocks noGrp="1"/>
          </p:cNvGraphicFramePr>
          <p:nvPr>
            <p:extLst>
              <p:ext uri="{D42A27DB-BD31-4B8C-83A1-F6EECF244321}">
                <p14:modId xmlns:p14="http://schemas.microsoft.com/office/powerpoint/2010/main" val="3405908373"/>
              </p:ext>
            </p:extLst>
          </p:nvPr>
        </p:nvGraphicFramePr>
        <p:xfrm>
          <a:off x="865239" y="2141159"/>
          <a:ext cx="10168127" cy="4168201"/>
        </p:xfrm>
        <a:graphic>
          <a:graphicData uri="http://schemas.openxmlformats.org/drawingml/2006/table">
            <a:tbl>
              <a:tblPr/>
              <a:tblGrid>
                <a:gridCol w="1293686">
                  <a:extLst>
                    <a:ext uri="{9D8B030D-6E8A-4147-A177-3AD203B41FA5}">
                      <a16:colId xmlns:a16="http://schemas.microsoft.com/office/drawing/2014/main" val="3684575401"/>
                    </a:ext>
                  </a:extLst>
                </a:gridCol>
                <a:gridCol w="1499225">
                  <a:extLst>
                    <a:ext uri="{9D8B030D-6E8A-4147-A177-3AD203B41FA5}">
                      <a16:colId xmlns:a16="http://schemas.microsoft.com/office/drawing/2014/main" val="1812157922"/>
                    </a:ext>
                  </a:extLst>
                </a:gridCol>
                <a:gridCol w="955151">
                  <a:extLst>
                    <a:ext uri="{9D8B030D-6E8A-4147-A177-3AD203B41FA5}">
                      <a16:colId xmlns:a16="http://schemas.microsoft.com/office/drawing/2014/main" val="1582362063"/>
                    </a:ext>
                  </a:extLst>
                </a:gridCol>
                <a:gridCol w="1354138">
                  <a:extLst>
                    <a:ext uri="{9D8B030D-6E8A-4147-A177-3AD203B41FA5}">
                      <a16:colId xmlns:a16="http://schemas.microsoft.com/office/drawing/2014/main" val="4184946190"/>
                    </a:ext>
                  </a:extLst>
                </a:gridCol>
                <a:gridCol w="1354138">
                  <a:extLst>
                    <a:ext uri="{9D8B030D-6E8A-4147-A177-3AD203B41FA5}">
                      <a16:colId xmlns:a16="http://schemas.microsoft.com/office/drawing/2014/main" val="126848952"/>
                    </a:ext>
                  </a:extLst>
                </a:gridCol>
                <a:gridCol w="1051875">
                  <a:extLst>
                    <a:ext uri="{9D8B030D-6E8A-4147-A177-3AD203B41FA5}">
                      <a16:colId xmlns:a16="http://schemas.microsoft.com/office/drawing/2014/main" val="2592308994"/>
                    </a:ext>
                  </a:extLst>
                </a:gridCol>
                <a:gridCol w="1329957">
                  <a:extLst>
                    <a:ext uri="{9D8B030D-6E8A-4147-A177-3AD203B41FA5}">
                      <a16:colId xmlns:a16="http://schemas.microsoft.com/office/drawing/2014/main" val="2338632432"/>
                    </a:ext>
                  </a:extLst>
                </a:gridCol>
                <a:gridCol w="1329957">
                  <a:extLst>
                    <a:ext uri="{9D8B030D-6E8A-4147-A177-3AD203B41FA5}">
                      <a16:colId xmlns:a16="http://schemas.microsoft.com/office/drawing/2014/main" val="1850790793"/>
                    </a:ext>
                  </a:extLst>
                </a:gridCol>
              </a:tblGrid>
              <a:tr h="358349">
                <a:tc>
                  <a:txBody>
                    <a:bodyPr/>
                    <a:lstStyle/>
                    <a:p>
                      <a:pPr fontAlgn="t">
                        <a:buNone/>
                      </a:pPr>
                      <a:r>
                        <a:rPr lang="en-IN" dirty="0">
                          <a:effectLst/>
                        </a:rPr>
                        <a:t> </a:t>
                      </a: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fontAlgn="t">
                        <a:buNone/>
                      </a:pPr>
                      <a:r>
                        <a:rPr lang="en-IN">
                          <a:effectLst/>
                        </a:rPr>
                        <a:t> </a:t>
                      </a: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gridSpan="3">
                  <a:txBody>
                    <a:bodyPr/>
                    <a:lstStyle/>
                    <a:p>
                      <a:pPr algn="ctr" rtl="0" fontAlgn="t">
                        <a:buNone/>
                      </a:pPr>
                      <a:r>
                        <a:rPr lang="en-US" sz="1100" b="1" i="0" u="none" strike="noStrike" dirty="0">
                          <a:solidFill>
                            <a:srgbClr val="000000"/>
                          </a:solidFill>
                          <a:effectLst/>
                          <a:latin typeface="Arial" panose="020B0604020202020204" pitchFamily="34" charset="0"/>
                        </a:rPr>
                        <a:t>UDP </a:t>
                      </a:r>
                      <a:r>
                        <a:rPr lang="en-US" sz="1100" b="1" i="0" u="none" strike="noStrike" dirty="0" err="1">
                          <a:solidFill>
                            <a:srgbClr val="000000"/>
                          </a:solidFill>
                          <a:effectLst/>
                          <a:latin typeface="Arial" panose="020B0604020202020204" pitchFamily="34" charset="0"/>
                        </a:rPr>
                        <a:t>behaviour</a:t>
                      </a:r>
                      <a:r>
                        <a:rPr lang="en-US" sz="1100" b="1" i="0" u="none" strike="noStrike" dirty="0">
                          <a:solidFill>
                            <a:srgbClr val="000000"/>
                          </a:solidFill>
                          <a:effectLst/>
                          <a:latin typeface="Arial" panose="020B0604020202020204" pitchFamily="34" charset="0"/>
                        </a:rPr>
                        <a:t> (ordered=false &amp; </a:t>
                      </a:r>
                      <a:r>
                        <a:rPr lang="en-US" sz="1100" b="1" i="0" u="none" strike="noStrike" dirty="0" err="1">
                          <a:solidFill>
                            <a:srgbClr val="000000"/>
                          </a:solidFill>
                          <a:effectLst/>
                          <a:latin typeface="Arial" panose="020B0604020202020204" pitchFamily="34" charset="0"/>
                        </a:rPr>
                        <a:t>maxRetransmits</a:t>
                      </a:r>
                      <a:r>
                        <a:rPr lang="en-US" sz="1100" b="1" i="0" u="none" strike="noStrike" dirty="0">
                          <a:solidFill>
                            <a:srgbClr val="000000"/>
                          </a:solidFill>
                          <a:effectLst/>
                          <a:latin typeface="Arial" panose="020B0604020202020204" pitchFamily="34" charset="0"/>
                        </a:rPr>
                        <a:t>=0)</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gridSpan="3">
                  <a:txBody>
                    <a:bodyPr/>
                    <a:lstStyle/>
                    <a:p>
                      <a:pPr algn="ctr" rtl="0" fontAlgn="t">
                        <a:buNone/>
                      </a:pPr>
                      <a:r>
                        <a:rPr lang="en-IN" sz="1100" b="1" i="0" u="none" strike="noStrike" dirty="0">
                          <a:solidFill>
                            <a:srgbClr val="000000"/>
                          </a:solidFill>
                          <a:effectLst/>
                          <a:latin typeface="Arial" panose="020B0604020202020204" pitchFamily="34" charset="0"/>
                        </a:rPr>
                        <a:t>TCP behaviour(ordered=true &amp; </a:t>
                      </a:r>
                      <a:r>
                        <a:rPr lang="en-IN" sz="1100" b="1" i="0" u="none" strike="noStrike" dirty="0" err="1">
                          <a:solidFill>
                            <a:srgbClr val="000000"/>
                          </a:solidFill>
                          <a:effectLst/>
                          <a:latin typeface="Arial" panose="020B0604020202020204" pitchFamily="34" charset="0"/>
                        </a:rPr>
                        <a:t>maxRetransmits</a:t>
                      </a:r>
                      <a:r>
                        <a:rPr lang="en-IN" sz="1100" b="1" i="0" u="none" strike="noStrike" dirty="0">
                          <a:solidFill>
                            <a:srgbClr val="000000"/>
                          </a:solidFill>
                          <a:effectLst/>
                          <a:latin typeface="Arial" panose="020B0604020202020204" pitchFamily="34" charset="0"/>
                        </a:rPr>
                        <a:t>=Inf)</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895686374"/>
                  </a:ext>
                </a:extLst>
              </a:tr>
              <a:tr h="494864">
                <a:tc>
                  <a:txBody>
                    <a:bodyPr/>
                    <a:lstStyle/>
                    <a:p>
                      <a:pPr fontAlgn="t">
                        <a:buNone/>
                      </a:pPr>
                      <a:r>
                        <a:rPr lang="en-IN">
                          <a:effectLst/>
                        </a:rPr>
                        <a:t> </a:t>
                      </a: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fontAlgn="t">
                        <a:buNone/>
                      </a:pPr>
                      <a:r>
                        <a:rPr lang="en-IN">
                          <a:effectLst/>
                        </a:rPr>
                        <a:t> </a:t>
                      </a: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IN" sz="1100" b="1" i="0" u="none" strike="noStrike">
                          <a:solidFill>
                            <a:srgbClr val="000000"/>
                          </a:solidFill>
                          <a:effectLst/>
                          <a:latin typeface="Arial" panose="020B0604020202020204" pitchFamily="34" charset="0"/>
                        </a:rPr>
                        <a:t>BaseLine</a:t>
                      </a:r>
                      <a:endParaRPr lang="en-IN">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IN" sz="1100" b="1" i="0" u="none" strike="noStrike">
                          <a:solidFill>
                            <a:srgbClr val="000000"/>
                          </a:solidFill>
                          <a:effectLst/>
                          <a:latin typeface="Arial" panose="020B0604020202020204" pitchFamily="34" charset="0"/>
                        </a:rPr>
                        <a:t>Network variant 1</a:t>
                      </a:r>
                      <a:endParaRPr lang="en-IN">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IN" sz="1100" b="1" i="0" u="none" strike="noStrike">
                          <a:solidFill>
                            <a:srgbClr val="000000"/>
                          </a:solidFill>
                          <a:effectLst/>
                          <a:latin typeface="Arial" panose="020B0604020202020204" pitchFamily="34" charset="0"/>
                        </a:rPr>
                        <a:t>Network variant 2</a:t>
                      </a:r>
                      <a:endParaRPr lang="en-IN">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IN" sz="1100" b="1" i="0" u="none" strike="noStrike">
                          <a:solidFill>
                            <a:srgbClr val="000000"/>
                          </a:solidFill>
                          <a:effectLst/>
                          <a:latin typeface="Arial" panose="020B0604020202020204" pitchFamily="34" charset="0"/>
                        </a:rPr>
                        <a:t>BaseLine</a:t>
                      </a:r>
                      <a:endParaRPr lang="en-IN">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IN" sz="1100" b="1" i="0" u="none" strike="noStrike">
                          <a:solidFill>
                            <a:srgbClr val="000000"/>
                          </a:solidFill>
                          <a:effectLst/>
                          <a:latin typeface="Arial" panose="020B0604020202020204" pitchFamily="34" charset="0"/>
                        </a:rPr>
                        <a:t>Network variant 1</a:t>
                      </a:r>
                      <a:endParaRPr lang="en-IN">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IN" sz="1100" b="1" i="0" u="none" strike="noStrike">
                          <a:solidFill>
                            <a:srgbClr val="000000"/>
                          </a:solidFill>
                          <a:effectLst/>
                          <a:latin typeface="Arial" panose="020B0604020202020204" pitchFamily="34" charset="0"/>
                        </a:rPr>
                        <a:t>Network variant 2</a:t>
                      </a:r>
                      <a:endParaRPr lang="en-IN">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5267595"/>
                  </a:ext>
                </a:extLst>
              </a:tr>
              <a:tr h="870276">
                <a:tc rowSpan="7">
                  <a:txBody>
                    <a:bodyPr/>
                    <a:lstStyle/>
                    <a:p>
                      <a:pPr algn="ctr" rtl="0" fontAlgn="t">
                        <a:buNone/>
                      </a:pPr>
                      <a:r>
                        <a:rPr lang="en-IN" sz="1100" b="1" i="0" u="none" strike="noStrike" dirty="0">
                          <a:solidFill>
                            <a:srgbClr val="000000"/>
                          </a:solidFill>
                          <a:effectLst/>
                          <a:latin typeface="Arial" panose="020B0604020202020204" pitchFamily="34" charset="0"/>
                        </a:rPr>
                        <a:t>Latency (</a:t>
                      </a:r>
                      <a:r>
                        <a:rPr lang="en-IN" sz="1100" b="1" i="0" u="none" strike="noStrike" dirty="0" err="1">
                          <a:solidFill>
                            <a:srgbClr val="000000"/>
                          </a:solidFill>
                          <a:effectLst/>
                          <a:latin typeface="Arial" panose="020B0604020202020204" pitchFamily="34" charset="0"/>
                        </a:rPr>
                        <a:t>ms</a:t>
                      </a:r>
                      <a:r>
                        <a:rPr lang="en-IN" sz="1100" b="1" i="0" u="none" strike="noStrike" dirty="0">
                          <a:solidFill>
                            <a:srgbClr val="000000"/>
                          </a:solidFill>
                          <a:effectLst/>
                          <a:latin typeface="Arial" panose="020B0604020202020204" pitchFamily="34" charset="0"/>
                        </a:rPr>
                        <a:t>)</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IN" sz="1100" b="1" i="0" u="none" strike="noStrike" dirty="0">
                          <a:solidFill>
                            <a:srgbClr val="000000"/>
                          </a:solidFill>
                          <a:effectLst/>
                          <a:latin typeface="Arial" panose="020B0604020202020204" pitchFamily="34" charset="0"/>
                        </a:rPr>
                        <a:t>Control Loop Latency (CLL)</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39.85</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40.1</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44.4</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40.13</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44.05</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56.73</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7950362"/>
                  </a:ext>
                </a:extLst>
              </a:tr>
              <a:tr h="494864">
                <a:tc vMerge="1">
                  <a:txBody>
                    <a:bodyPr/>
                    <a:lstStyle/>
                    <a:p>
                      <a:endParaRPr lang="en-IN"/>
                    </a:p>
                  </a:txBody>
                  <a:tcPr/>
                </a:tc>
                <a:tc>
                  <a:txBody>
                    <a:bodyPr/>
                    <a:lstStyle/>
                    <a:p>
                      <a:pPr algn="ctr" rtl="0" fontAlgn="t">
                        <a:buNone/>
                      </a:pPr>
                      <a:r>
                        <a:rPr lang="en-IN" sz="1100" b="1" i="0" u="none" strike="noStrike" dirty="0" err="1">
                          <a:solidFill>
                            <a:srgbClr val="000000"/>
                          </a:solidFill>
                          <a:effectLst/>
                          <a:latin typeface="Arial" panose="020B0604020202020204" pitchFamily="34" charset="0"/>
                        </a:rPr>
                        <a:t>AppBuffer</a:t>
                      </a:r>
                      <a:r>
                        <a:rPr lang="en-IN" sz="1100" b="1" i="0" u="none" strike="noStrike" dirty="0">
                          <a:solidFill>
                            <a:srgbClr val="000000"/>
                          </a:solidFill>
                          <a:effectLst/>
                          <a:latin typeface="Arial" panose="020B0604020202020204" pitchFamily="34" charset="0"/>
                        </a:rPr>
                        <a:t> Delay</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16.77</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17.07</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17.81</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17.08</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18.32</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17.68</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0431342"/>
                  </a:ext>
                </a:extLst>
              </a:tr>
              <a:tr h="307156">
                <a:tc vMerge="1">
                  <a:txBody>
                    <a:bodyPr/>
                    <a:lstStyle/>
                    <a:p>
                      <a:endParaRPr lang="en-IN"/>
                    </a:p>
                  </a:txBody>
                  <a:tcPr/>
                </a:tc>
                <a:tc>
                  <a:txBody>
                    <a:bodyPr/>
                    <a:lstStyle/>
                    <a:p>
                      <a:pPr algn="ctr" rtl="0" fontAlgn="t">
                        <a:buNone/>
                      </a:pPr>
                      <a:r>
                        <a:rPr lang="en-IN" sz="1100" b="1" i="0" u="none" strike="noStrike" dirty="0">
                          <a:solidFill>
                            <a:srgbClr val="000000"/>
                          </a:solidFill>
                          <a:effectLst/>
                          <a:latin typeface="Arial" panose="020B0604020202020204" pitchFamily="34" charset="0"/>
                        </a:rPr>
                        <a:t>Rendering</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33.56</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34.09</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33.69</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33.65</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38.1</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33.78</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0862835"/>
                  </a:ext>
                </a:extLst>
              </a:tr>
              <a:tr h="494864">
                <a:tc vMerge="1">
                  <a:txBody>
                    <a:bodyPr/>
                    <a:lstStyle/>
                    <a:p>
                      <a:endParaRPr lang="en-IN"/>
                    </a:p>
                  </a:txBody>
                  <a:tcPr/>
                </a:tc>
                <a:tc>
                  <a:txBody>
                    <a:bodyPr/>
                    <a:lstStyle/>
                    <a:p>
                      <a:pPr algn="ctr" rtl="0" fontAlgn="t">
                        <a:buNone/>
                      </a:pPr>
                      <a:r>
                        <a:rPr lang="en-IN" sz="1100" b="1" i="0" u="none" strike="noStrike" dirty="0">
                          <a:solidFill>
                            <a:srgbClr val="000000"/>
                          </a:solidFill>
                          <a:effectLst/>
                          <a:latin typeface="Arial" panose="020B0604020202020204" pitchFamily="34" charset="0"/>
                        </a:rPr>
                        <a:t>Processing Delay</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2.09</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2.44</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2.78</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1.84</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3.77</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4.65</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4519803"/>
                  </a:ext>
                </a:extLst>
              </a:tr>
              <a:tr h="494864">
                <a:tc vMerge="1">
                  <a:txBody>
                    <a:bodyPr/>
                    <a:lstStyle/>
                    <a:p>
                      <a:endParaRPr lang="en-IN"/>
                    </a:p>
                  </a:txBody>
                  <a:tcPr/>
                </a:tc>
                <a:tc>
                  <a:txBody>
                    <a:bodyPr/>
                    <a:lstStyle/>
                    <a:p>
                      <a:pPr algn="ctr" rtl="0" fontAlgn="t">
                        <a:buNone/>
                      </a:pPr>
                      <a:r>
                        <a:rPr lang="en-IN" sz="1100" b="1" i="0" u="none" strike="noStrike" dirty="0">
                          <a:solidFill>
                            <a:srgbClr val="000000"/>
                          </a:solidFill>
                          <a:effectLst/>
                          <a:latin typeface="Arial" panose="020B0604020202020204" pitchFamily="34" charset="0"/>
                        </a:rPr>
                        <a:t>Network RTT</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20.99</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20.59</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23.81</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21.21</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21.96</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34.4</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66933249"/>
                  </a:ext>
                </a:extLst>
              </a:tr>
              <a:tr h="307156">
                <a:tc vMerge="1">
                  <a:txBody>
                    <a:bodyPr/>
                    <a:lstStyle/>
                    <a:p>
                      <a:endParaRPr lang="en-IN"/>
                    </a:p>
                  </a:txBody>
                  <a:tcPr/>
                </a:tc>
                <a:tc>
                  <a:txBody>
                    <a:bodyPr/>
                    <a:lstStyle/>
                    <a:p>
                      <a:pPr algn="ctr" rtl="0" fontAlgn="t">
                        <a:buNone/>
                      </a:pPr>
                      <a:r>
                        <a:rPr lang="en-IN" sz="1100" b="1" i="0" u="none" strike="noStrike" dirty="0">
                          <a:solidFill>
                            <a:srgbClr val="000000"/>
                          </a:solidFill>
                          <a:effectLst/>
                          <a:latin typeface="Arial" panose="020B0604020202020204" pitchFamily="34" charset="0"/>
                        </a:rPr>
                        <a:t>MTP</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73.41</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74.19</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78.09</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73.78</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82.15</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90.51</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9697959"/>
                  </a:ext>
                </a:extLst>
              </a:tr>
              <a:tr h="307156">
                <a:tc vMerge="1">
                  <a:txBody>
                    <a:bodyPr/>
                    <a:lstStyle/>
                    <a:p>
                      <a:endParaRPr lang="en-IN"/>
                    </a:p>
                  </a:txBody>
                  <a:tcPr/>
                </a:tc>
                <a:tc>
                  <a:txBody>
                    <a:bodyPr/>
                    <a:lstStyle/>
                    <a:p>
                      <a:pPr algn="ctr" rtl="0" fontAlgn="t">
                        <a:buNone/>
                      </a:pPr>
                      <a:r>
                        <a:rPr lang="en-IN" sz="1100" b="1" i="0" u="none" strike="noStrike">
                          <a:solidFill>
                            <a:srgbClr val="000000"/>
                          </a:solidFill>
                          <a:effectLst/>
                          <a:latin typeface="Arial" panose="020B0604020202020204" pitchFamily="34" charset="0"/>
                        </a:rPr>
                        <a:t>Jitter</a:t>
                      </a:r>
                      <a:endParaRPr lang="en-IN">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15.99</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16.8</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23.86</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15.97</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19.27</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tc>
                  <a:txBody>
                    <a:bodyPr/>
                    <a:lstStyle/>
                    <a:p>
                      <a:pPr algn="ctr" rtl="0" fontAlgn="t">
                        <a:buNone/>
                      </a:pPr>
                      <a:r>
                        <a:rPr lang="en-US" dirty="0">
                          <a:effectLst/>
                        </a:rPr>
                        <a:t>23.90</a:t>
                      </a:r>
                      <a:endParaRPr lang="en-IN" dirty="0">
                        <a:effectLst/>
                      </a:endParaRPr>
                    </a:p>
                  </a:txBody>
                  <a:tcPr marL="53340" marR="53340" marT="53340" marB="53340">
                    <a:lnL w="10157" cap="flat" cmpd="sng" algn="ctr">
                      <a:solidFill>
                        <a:srgbClr val="000000"/>
                      </a:solidFill>
                      <a:prstDash val="solid"/>
                      <a:round/>
                      <a:headEnd type="none" w="med" len="med"/>
                      <a:tailEnd type="none" w="med" len="med"/>
                    </a:lnL>
                    <a:lnR w="10157" cap="flat" cmpd="sng" algn="ctr">
                      <a:solidFill>
                        <a:srgbClr val="000000"/>
                      </a:solidFill>
                      <a:prstDash val="solid"/>
                      <a:round/>
                      <a:headEnd type="none" w="med" len="med"/>
                      <a:tailEnd type="none" w="med" len="med"/>
                    </a:lnR>
                    <a:lnT w="10157" cap="flat" cmpd="sng" algn="ctr">
                      <a:solidFill>
                        <a:srgbClr val="000000"/>
                      </a:solidFill>
                      <a:prstDash val="solid"/>
                      <a:round/>
                      <a:headEnd type="none" w="med" len="med"/>
                      <a:tailEnd type="none" w="med" len="med"/>
                    </a:lnT>
                    <a:lnB w="10157"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5610477"/>
                  </a:ext>
                </a:extLst>
              </a:tr>
            </a:tbl>
          </a:graphicData>
        </a:graphic>
      </p:graphicFrame>
    </p:spTree>
    <p:extLst>
      <p:ext uri="{BB962C8B-B14F-4D97-AF65-F5344CB8AC3E}">
        <p14:creationId xmlns:p14="http://schemas.microsoft.com/office/powerpoint/2010/main" val="887638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7"/>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n-US"/>
              <a:t>Conclusions </a:t>
            </a:r>
            <a:endParaRPr/>
          </a:p>
        </p:txBody>
      </p:sp>
      <p:sp>
        <p:nvSpPr>
          <p:cNvPr id="237" name="Google Shape;237;p27"/>
          <p:cNvSpPr txBox="1">
            <a:spLocks noGrp="1"/>
          </p:cNvSpPr>
          <p:nvPr>
            <p:ph type="body" idx="1"/>
          </p:nvPr>
        </p:nvSpPr>
        <p:spPr>
          <a:xfrm>
            <a:off x="1115568" y="2478024"/>
            <a:ext cx="10168128" cy="3694176"/>
          </a:xfrm>
          <a:prstGeom prst="rect">
            <a:avLst/>
          </a:prstGeom>
          <a:noFill/>
          <a:ln>
            <a:noFill/>
          </a:ln>
        </p:spPr>
        <p:txBody>
          <a:bodyPr spcFirstLastPara="1" wrap="square" lIns="91425" tIns="45700" rIns="91425" bIns="45700" anchor="t" anchorCtr="0">
            <a:normAutofit/>
          </a:bodyPr>
          <a:lstStyle/>
          <a:p>
            <a:pPr marL="457200" lvl="1" indent="0" algn="l" rtl="0">
              <a:lnSpc>
                <a:spcPct val="110000"/>
              </a:lnSpc>
              <a:spcBef>
                <a:spcPts val="500"/>
              </a:spcBef>
              <a:spcAft>
                <a:spcPts val="0"/>
              </a:spcAft>
              <a:buClr>
                <a:schemeClr val="dk1"/>
              </a:buClr>
              <a:buSzPts val="2400"/>
              <a:buNone/>
            </a:pPr>
            <a:r>
              <a:rPr lang="en-US" dirty="0"/>
              <a:t> </a:t>
            </a:r>
            <a:endParaRPr dirty="0"/>
          </a:p>
        </p:txBody>
      </p:sp>
      <p:sp>
        <p:nvSpPr>
          <p:cNvPr id="238" name="Google Shape;238;p27"/>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
        <p:nvSpPr>
          <p:cNvPr id="3" name="TextBox 2">
            <a:extLst>
              <a:ext uri="{FF2B5EF4-FFF2-40B4-BE49-F238E27FC236}">
                <a16:creationId xmlns:a16="http://schemas.microsoft.com/office/drawing/2014/main" id="{4C1C7E9D-6197-D525-FC18-87E151E71CAA}"/>
              </a:ext>
            </a:extLst>
          </p:cNvPr>
          <p:cNvSpPr txBox="1"/>
          <p:nvPr/>
        </p:nvSpPr>
        <p:spPr>
          <a:xfrm>
            <a:off x="908304" y="2150171"/>
            <a:ext cx="10624935" cy="4247317"/>
          </a:xfrm>
          <a:prstGeom prst="rect">
            <a:avLst/>
          </a:prstGeom>
          <a:noFill/>
        </p:spPr>
        <p:txBody>
          <a:bodyPr wrap="square">
            <a:spAutoFit/>
          </a:bodyPr>
          <a:lstStyle/>
          <a:p>
            <a:pPr>
              <a:buNone/>
            </a:pPr>
            <a:r>
              <a:rPr lang="en-US" sz="1800" b="1" dirty="0"/>
              <a:t>The TCP Bottleneck (High Latency &amp; Jitter):</a:t>
            </a:r>
            <a:endParaRPr lang="en-US" sz="1800" dirty="0"/>
          </a:p>
          <a:p>
            <a:pPr marL="285750" lvl="4" indent="-285750">
              <a:buFont typeface="Arial" panose="020B0604020202020204" pitchFamily="34" charset="0"/>
              <a:buChar char="•"/>
            </a:pPr>
            <a:r>
              <a:rPr lang="en-US" sz="1800" dirty="0"/>
              <a:t>Strict reliability (TCP behavior) over congested networks triggers Head-of-Line (</a:t>
            </a:r>
            <a:r>
              <a:rPr lang="en-US" sz="1800" dirty="0" err="1"/>
              <a:t>HoL</a:t>
            </a:r>
            <a:r>
              <a:rPr lang="en-US" sz="1800" dirty="0"/>
              <a:t>) blocking.</a:t>
            </a:r>
          </a:p>
          <a:p>
            <a:pPr marL="285750" lvl="4" indent="-285750">
              <a:buFont typeface="Arial" panose="020B0604020202020204" pitchFamily="34" charset="0"/>
              <a:buChar char="•"/>
            </a:pPr>
            <a:r>
              <a:rPr lang="en-US" sz="1800" i="1" dirty="0"/>
              <a:t>Result:</a:t>
            </a:r>
            <a:r>
              <a:rPr lang="en-US" sz="1800" dirty="0"/>
              <a:t> This mechanism is the primary cause of massive end-to-end latency and severe jitter spikes in the </a:t>
            </a:r>
            <a:r>
              <a:rPr lang="en-US" sz="1800" dirty="0" err="1"/>
              <a:t>results.Retransmitting</a:t>
            </a:r>
            <a:r>
              <a:rPr lang="en-US" sz="1800" dirty="0"/>
              <a:t> outdated telemetry stalls the entire pipeline, making it fundamentally incompatible with fluid visual/haptic feedback.</a:t>
            </a:r>
          </a:p>
          <a:p>
            <a:pPr>
              <a:buNone/>
            </a:pPr>
            <a:r>
              <a:rPr lang="en-US" sz="1800" b="1" dirty="0"/>
              <a:t>The UDP Advantage &amp; Application-Level Cautions:</a:t>
            </a:r>
            <a:endParaRPr lang="en-US" sz="1800" dirty="0"/>
          </a:p>
          <a:p>
            <a:pPr marL="285750" lvl="1" indent="-285750">
              <a:buFont typeface="Arial" panose="020B0604020202020204" pitchFamily="34" charset="0"/>
              <a:buChar char="•"/>
            </a:pPr>
            <a:r>
              <a:rPr lang="en-US" sz="1800" dirty="0"/>
              <a:t>Unordered/Unreliable (UDP behavior) completely eliminates </a:t>
            </a:r>
            <a:r>
              <a:rPr lang="en-US" sz="1800" dirty="0" err="1"/>
              <a:t>HoL</a:t>
            </a:r>
            <a:r>
              <a:rPr lang="en-US" sz="1800" dirty="0"/>
              <a:t> blocking, keeping latency and jitter at baseline minimums.</a:t>
            </a:r>
          </a:p>
          <a:p>
            <a:pPr marL="285750" lvl="1" indent="-285750">
              <a:buFont typeface="Arial" panose="020B0604020202020204" pitchFamily="34" charset="0"/>
              <a:buChar char="•"/>
            </a:pPr>
            <a:r>
              <a:rPr lang="en-US" sz="1800" i="1" dirty="0"/>
              <a:t>The Catch:</a:t>
            </a:r>
            <a:r>
              <a:rPr lang="en-US" sz="1800" dirty="0"/>
              <a:t> Simply using UDP is not enough. The system requires strict </a:t>
            </a:r>
            <a:r>
              <a:rPr lang="en-US" sz="1800" b="1" dirty="0"/>
              <a:t>application-level logic to only consider the </a:t>
            </a:r>
            <a:r>
              <a:rPr lang="en-US" sz="1800" b="1" i="1" dirty="0"/>
              <a:t>latest</a:t>
            </a:r>
            <a:r>
              <a:rPr lang="en-US" sz="1800" b="1" dirty="0"/>
              <a:t> state</a:t>
            </a:r>
            <a:r>
              <a:rPr lang="en-US" sz="1800" dirty="0"/>
              <a:t>. </a:t>
            </a:r>
          </a:p>
          <a:p>
            <a:pPr lvl="1"/>
            <a:r>
              <a:rPr lang="en-US" sz="1800" b="1" dirty="0"/>
              <a:t>Mitigating Positional Drift:</a:t>
            </a:r>
            <a:endParaRPr lang="en-US" sz="1800" dirty="0"/>
          </a:p>
          <a:p>
            <a:pPr marL="285750" lvl="1" indent="-285750">
              <a:buFont typeface="Arial" panose="020B0604020202020204" pitchFamily="34" charset="0"/>
              <a:buChar char="•"/>
            </a:pPr>
            <a:r>
              <a:rPr lang="en-US" sz="1800" dirty="0"/>
              <a:t>For relative control inputs(delta values), packet loss under UDP permanently deletes commands, resulting in physical Positional Drift.</a:t>
            </a:r>
          </a:p>
          <a:p>
            <a:pPr marL="285750" lvl="1" indent="-285750">
              <a:buFont typeface="Arial" panose="020B0604020202020204" pitchFamily="34" charset="0"/>
              <a:buChar char="•"/>
            </a:pPr>
            <a:r>
              <a:rPr lang="en-US" sz="1800" dirty="0"/>
              <a:t>Unless the application is heavily engineered to continuously override deltas with absolute global states, </a:t>
            </a:r>
            <a:r>
              <a:rPr lang="en-US" sz="1800" b="1" dirty="0"/>
              <a:t>Command flows must utilize TCP behavior</a:t>
            </a:r>
            <a:r>
              <a:rPr lang="en-US" sz="1800" dirty="0"/>
              <a:t> to ensure operational safety and zero drift.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8"/>
          <p:cNvSpPr txBox="1">
            <a:spLocks noGrp="1"/>
          </p:cNvSpPr>
          <p:nvPr>
            <p:ph type="title"/>
          </p:nvPr>
        </p:nvSpPr>
        <p:spPr>
          <a:xfrm>
            <a:off x="1115568" y="548640"/>
            <a:ext cx="10168128" cy="11795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Avenir"/>
              <a:buNone/>
            </a:pPr>
            <a:r>
              <a:rPr lang="en-US"/>
              <a:t>References</a:t>
            </a:r>
            <a:endParaRPr/>
          </a:p>
        </p:txBody>
      </p:sp>
      <p:sp>
        <p:nvSpPr>
          <p:cNvPr id="245" name="Google Shape;245;p28"/>
          <p:cNvSpPr txBox="1">
            <a:spLocks noGrp="1"/>
          </p:cNvSpPr>
          <p:nvPr>
            <p:ph type="body" idx="1"/>
          </p:nvPr>
        </p:nvSpPr>
        <p:spPr>
          <a:xfrm>
            <a:off x="1115568" y="2110155"/>
            <a:ext cx="10168128" cy="4611320"/>
          </a:xfrm>
          <a:prstGeom prst="rect">
            <a:avLst/>
          </a:prstGeom>
          <a:noFill/>
          <a:ln>
            <a:noFill/>
          </a:ln>
        </p:spPr>
        <p:txBody>
          <a:bodyPr spcFirstLastPara="1" wrap="square" lIns="91425" tIns="45700" rIns="91425" bIns="45700" anchor="t" anchorCtr="0">
            <a:normAutofit/>
          </a:bodyPr>
          <a:lstStyle/>
          <a:p>
            <a:pPr fontAlgn="base"/>
            <a:r>
              <a:rPr lang="en-IN" dirty="0"/>
              <a:t>Dataset: Utilized a validated 4G/LTE network dataset.</a:t>
            </a:r>
          </a:p>
          <a:p>
            <a:pPr lvl="1" fontAlgn="base"/>
            <a:r>
              <a:rPr lang="en-IN" i="1" dirty="0"/>
              <a:t>Source:</a:t>
            </a:r>
            <a:r>
              <a:rPr lang="en-IN" dirty="0"/>
              <a:t> </a:t>
            </a:r>
            <a:r>
              <a:rPr lang="en-IN" u="sng" dirty="0">
                <a:hlinkClick r:id="rId3"/>
              </a:rPr>
              <a:t>J. van der Hooft et al., Ghent University</a:t>
            </a:r>
            <a:r>
              <a:rPr lang="en-IN" dirty="0"/>
              <a:t> (IEEE 2016)</a:t>
            </a:r>
            <a:endParaRPr dirty="0"/>
          </a:p>
          <a:p>
            <a:pPr marL="228600" lvl="0" indent="-50800" algn="l" rtl="0">
              <a:lnSpc>
                <a:spcPct val="110000"/>
              </a:lnSpc>
              <a:spcBef>
                <a:spcPts val="1000"/>
              </a:spcBef>
              <a:spcAft>
                <a:spcPts val="0"/>
              </a:spcAft>
              <a:buClr>
                <a:schemeClr val="dk1"/>
              </a:buClr>
              <a:buSzPts val="2800"/>
              <a:buNone/>
            </a:pPr>
            <a:endParaRPr dirty="0"/>
          </a:p>
          <a:p>
            <a:pPr marL="228600" lvl="0" indent="-50800" algn="l" rtl="0">
              <a:lnSpc>
                <a:spcPct val="110000"/>
              </a:lnSpc>
              <a:spcBef>
                <a:spcPts val="1000"/>
              </a:spcBef>
              <a:spcAft>
                <a:spcPts val="0"/>
              </a:spcAft>
              <a:buClr>
                <a:schemeClr val="dk1"/>
              </a:buClr>
              <a:buSzPts val="2800"/>
              <a:buNone/>
            </a:pPr>
            <a:endParaRPr dirty="0"/>
          </a:p>
          <a:p>
            <a:pPr marL="0" lvl="0" indent="0" algn="l" rtl="0">
              <a:lnSpc>
                <a:spcPct val="110000"/>
              </a:lnSpc>
              <a:spcBef>
                <a:spcPts val="1000"/>
              </a:spcBef>
              <a:spcAft>
                <a:spcPts val="0"/>
              </a:spcAft>
              <a:buClr>
                <a:schemeClr val="dk1"/>
              </a:buClr>
              <a:buSzPts val="2800"/>
              <a:buNone/>
            </a:pPr>
            <a:endParaRPr dirty="0"/>
          </a:p>
        </p:txBody>
      </p:sp>
      <p:sp>
        <p:nvSpPr>
          <p:cNvPr id="246" name="Google Shape;246;p28"/>
          <p:cNvSpPr txBox="1">
            <a:spLocks noGrp="1"/>
          </p:cNvSpPr>
          <p:nvPr>
            <p:ph type="sldNum" idx="12"/>
          </p:nvPr>
        </p:nvSpPr>
        <p:spPr>
          <a:xfrm>
            <a:off x="8540496"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theme/theme1.xml><?xml version="1.0" encoding="utf-8"?>
<a:theme xmlns:a="http://schemas.openxmlformats.org/drawingml/2006/main" name="AccentBoxVTI">
  <a:themeElements>
    <a:clrScheme name="AccentBoxVTI">
      <a:dk1>
        <a:srgbClr val="000000"/>
      </a:dk1>
      <a:lt1>
        <a:srgbClr val="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290</TotalTime>
  <Words>1611</Words>
  <Application>Microsoft Office PowerPoint</Application>
  <PresentationFormat>Widescreen</PresentationFormat>
  <Paragraphs>264</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Quattrocento Sans</vt:lpstr>
      <vt:lpstr>Arial</vt:lpstr>
      <vt:lpstr>Avenir</vt:lpstr>
      <vt:lpstr>Calibri</vt:lpstr>
      <vt:lpstr>AccentBoxVTI</vt:lpstr>
      <vt:lpstr>Performance evaluation of WebRTC for Bilateral Teleoperation:  A Comparative Analysis of SCTP Stream Configurations.  Capstone Project Presentation </vt:lpstr>
      <vt:lpstr>Problem Statement &amp; Motivation</vt:lpstr>
      <vt:lpstr>Bilateral Teleoperation</vt:lpstr>
      <vt:lpstr>WebRTC Overview </vt:lpstr>
      <vt:lpstr>The WebRTC Data Channel: SCTP &amp; Multiplexing</vt:lpstr>
      <vt:lpstr>System Architecture</vt:lpstr>
      <vt:lpstr>System Architecture</vt:lpstr>
      <vt:lpstr>Implementation Details</vt:lpstr>
      <vt:lpstr>Experimental Setup</vt:lpstr>
      <vt:lpstr>Experiment Configuration &amp; Parameters</vt:lpstr>
      <vt:lpstr>4G Dataset Emulation (Throughput)</vt:lpstr>
      <vt:lpstr>Flow of Experimentation</vt:lpstr>
      <vt:lpstr>Metric</vt:lpstr>
      <vt:lpstr>User QoE Metrics</vt:lpstr>
      <vt:lpstr>End to End Latency Analysis(UDP Behavior)</vt:lpstr>
      <vt:lpstr>End to End Latency Analysis(TCP Behavior)</vt:lpstr>
      <vt:lpstr>State Jitter Analysis (UDP Behavior)</vt:lpstr>
      <vt:lpstr>State Jitter Analysis(TCP Behavior)</vt:lpstr>
      <vt:lpstr>Positional Drift / Desynchronization</vt:lpstr>
      <vt:lpstr>Latency Analysis</vt:lpstr>
      <vt:lpstr>Conclusions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Payasam Rushi</dc:creator>
  <cp:lastModifiedBy>Payasam Rushi</cp:lastModifiedBy>
  <cp:revision>4</cp:revision>
  <dcterms:modified xsi:type="dcterms:W3CDTF">2026-05-24T20:46:05Z</dcterms:modified>
</cp:coreProperties>
</file>